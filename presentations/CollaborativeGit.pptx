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4257" r:id="rId1"/>
  </p:sldMasterIdLst>
  <p:notesMasterIdLst>
    <p:notesMasterId r:id="rId45"/>
  </p:notesMasterIdLst>
  <p:sldIdLst>
    <p:sldId id="256" r:id="rId2"/>
    <p:sldId id="257" r:id="rId3"/>
    <p:sldId id="258" r:id="rId4"/>
    <p:sldId id="260" r:id="rId5"/>
    <p:sldId id="261" r:id="rId6"/>
    <p:sldId id="262" r:id="rId7"/>
    <p:sldId id="263" r:id="rId8"/>
    <p:sldId id="265" r:id="rId9"/>
    <p:sldId id="264" r:id="rId10"/>
    <p:sldId id="268" r:id="rId11"/>
    <p:sldId id="272" r:id="rId12"/>
    <p:sldId id="271" r:id="rId13"/>
    <p:sldId id="269" r:id="rId14"/>
    <p:sldId id="274" r:id="rId15"/>
    <p:sldId id="275" r:id="rId16"/>
    <p:sldId id="276" r:id="rId17"/>
    <p:sldId id="273" r:id="rId18"/>
    <p:sldId id="308" r:id="rId19"/>
    <p:sldId id="266" r:id="rId20"/>
    <p:sldId id="282" r:id="rId21"/>
    <p:sldId id="297" r:id="rId22"/>
    <p:sldId id="298" r:id="rId23"/>
    <p:sldId id="300" r:id="rId24"/>
    <p:sldId id="592" r:id="rId25"/>
    <p:sldId id="305" r:id="rId26"/>
    <p:sldId id="301" r:id="rId27"/>
    <p:sldId id="304" r:id="rId28"/>
    <p:sldId id="599" r:id="rId29"/>
    <p:sldId id="307" r:id="rId30"/>
    <p:sldId id="267" r:id="rId31"/>
    <p:sldId id="591" r:id="rId32"/>
    <p:sldId id="593" r:id="rId33"/>
    <p:sldId id="594" r:id="rId34"/>
    <p:sldId id="595" r:id="rId35"/>
    <p:sldId id="596" r:id="rId36"/>
    <p:sldId id="597" r:id="rId37"/>
    <p:sldId id="598" r:id="rId38"/>
    <p:sldId id="333" r:id="rId39"/>
    <p:sldId id="600" r:id="rId40"/>
    <p:sldId id="284" r:id="rId41"/>
    <p:sldId id="323" r:id="rId42"/>
    <p:sldId id="551" r:id="rId43"/>
    <p:sldId id="553" r:id="rId4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B90E3"/>
    <a:srgbClr val="BC846B"/>
    <a:srgbClr val="A0A07D"/>
    <a:srgbClr val="4D8BB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2684"/>
    <p:restoredTop sz="79770"/>
  </p:normalViewPr>
  <p:slideViewPr>
    <p:cSldViewPr snapToGrid="0">
      <p:cViewPr varScale="1">
        <p:scale>
          <a:sx n="58" d="100"/>
          <a:sy n="58" d="100"/>
        </p:scale>
        <p:origin x="224" y="9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50C180B-5A86-2F48-AFEF-068EE55F03DF}" type="datetimeFigureOut">
              <a:rPr lang="en-US" smtClean="0"/>
              <a:t>7/12/26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29A9A33-2617-9741-9692-B8CF37E91C8E}" type="slidenum">
              <a:rPr lang="en-US" smtClean="0"/>
              <a:t>‹#›</a:t>
            </a:fld>
            <a:endParaRPr lang="en-US"/>
          </a:p>
        </p:txBody>
      </p:sp>
    </p:spTree>
    <p:extLst>
      <p:ext uri="{BB962C8B-B14F-4D97-AF65-F5344CB8AC3E}">
        <p14:creationId xmlns:p14="http://schemas.microsoft.com/office/powerpoint/2010/main" val="15277306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3" Type="http://schemas.openxmlformats.org/officeDocument/2006/relationships/hyperlink" Target="https://trilinos.github.io/" TargetMode="External"/><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of hands, who has used git?</a:t>
            </a:r>
          </a:p>
          <a:p>
            <a:endParaRPr lang="en-US" dirty="0"/>
          </a:p>
          <a:p>
            <a:r>
              <a:rPr lang="en-US" dirty="0"/>
              <a:t>Who has used git to work on the same code with others? How has that been?</a:t>
            </a:r>
          </a:p>
        </p:txBody>
      </p:sp>
      <p:sp>
        <p:nvSpPr>
          <p:cNvPr id="4" name="Slide Number Placeholder 3"/>
          <p:cNvSpPr>
            <a:spLocks noGrp="1"/>
          </p:cNvSpPr>
          <p:nvPr>
            <p:ph type="sldNum" sz="quarter" idx="5"/>
          </p:nvPr>
        </p:nvSpPr>
        <p:spPr/>
        <p:txBody>
          <a:bodyPr/>
          <a:lstStyle/>
          <a:p>
            <a:fld id="{729A9A33-2617-9741-9692-B8CF37E91C8E}" type="slidenum">
              <a:rPr lang="en-US" smtClean="0"/>
              <a:t>1</a:t>
            </a:fld>
            <a:endParaRPr lang="en-US"/>
          </a:p>
        </p:txBody>
      </p:sp>
    </p:spTree>
    <p:extLst>
      <p:ext uri="{BB962C8B-B14F-4D97-AF65-F5344CB8AC3E}">
        <p14:creationId xmlns:p14="http://schemas.microsoft.com/office/powerpoint/2010/main" val="27689618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solidFill>
                  <a:srgbClr val="CCCCCC"/>
                </a:solidFill>
                <a:effectLst/>
                <a:latin typeface="Menlo" panose="020B0609030804020204" pitchFamily="49" charset="0"/>
              </a:rPr>
              <a:t>There are a few challenges that come up when working on shared code. We want to make sure everyone has access to and knows what is the latest version, and we want to make sure everyone has an equal opportunity to contribute. It can also be difficult to keep organized while code is being actively developed and make sure everyone is on the same page about the state of the code.</a:t>
            </a:r>
          </a:p>
          <a:p>
            <a:endParaRPr lang="en-US" dirty="0"/>
          </a:p>
          <a:p>
            <a:endParaRPr lang="en-US" dirty="0"/>
          </a:p>
        </p:txBody>
      </p:sp>
      <p:sp>
        <p:nvSpPr>
          <p:cNvPr id="4" name="Slide Number Placeholder 3"/>
          <p:cNvSpPr>
            <a:spLocks noGrp="1"/>
          </p:cNvSpPr>
          <p:nvPr>
            <p:ph type="sldNum" sz="quarter" idx="5"/>
          </p:nvPr>
        </p:nvSpPr>
        <p:spPr/>
        <p:txBody>
          <a:bodyPr/>
          <a:lstStyle/>
          <a:p>
            <a:fld id="{729A9A33-2617-9741-9692-B8CF37E91C8E}" type="slidenum">
              <a:rPr lang="en-US" smtClean="0"/>
              <a:t>3</a:t>
            </a:fld>
            <a:endParaRPr lang="en-US"/>
          </a:p>
        </p:txBody>
      </p:sp>
    </p:spTree>
    <p:extLst>
      <p:ext uri="{BB962C8B-B14F-4D97-AF65-F5344CB8AC3E}">
        <p14:creationId xmlns:p14="http://schemas.microsoft.com/office/powerpoint/2010/main" val="152094572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solidFill>
                  <a:srgbClr val="CCCCCC"/>
                </a:solidFill>
                <a:effectLst/>
                <a:latin typeface="Menlo" panose="020B0609030804020204" pitchFamily="49" charset="0"/>
              </a:rPr>
              <a:t>There are a few challenges that come up when working on shared code. We want to make sure everyone has access to and knows what is the latest version, and we want to make sure everyone has an equal opportunity to contribute. It can also be difficult to keep organized while code is being actively developed and make sure everyone is on the same page about the state of the code.</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solidFill>
                  <a:srgbClr val="CCCCCC"/>
                </a:solidFill>
                <a:effectLst/>
                <a:latin typeface="Menlo" panose="020B0609030804020204" pitchFamily="49" charset="0"/>
              </a:rPr>
              <a:t>We can use sites like GitHub, GitLab, </a:t>
            </a:r>
            <a:r>
              <a:rPr lang="en-US" b="0" dirty="0" err="1">
                <a:solidFill>
                  <a:srgbClr val="CCCCCC"/>
                </a:solidFill>
                <a:effectLst/>
                <a:latin typeface="Menlo" panose="020B0609030804020204" pitchFamily="49" charset="0"/>
              </a:rPr>
              <a:t>BitBucket</a:t>
            </a:r>
            <a:r>
              <a:rPr lang="en-US" b="0" dirty="0">
                <a:solidFill>
                  <a:srgbClr val="CCCCCC"/>
                </a:solidFill>
                <a:effectLst/>
                <a:latin typeface="Menlo" panose="020B0609030804020204" pitchFamily="49" charset="0"/>
              </a:rPr>
              <a:t>, and similar to share code with others. These sites also enable teams to contribute to software projects that they are working on together by hosting the code in a centralized location that everyone has access to. This allows everyone to view the latest version, and make updates as needed. It also provides a mechanism for outside collaborators to contribute to the project, say for open source software.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dirty="0">
              <a:solidFill>
                <a:srgbClr val="CCCCCC"/>
              </a:solidFill>
              <a:effectLst/>
              <a:latin typeface="Menlo" panose="020B0609030804020204" pitchFamily="49" charset="0"/>
            </a:endParaRPr>
          </a:p>
          <a:p>
            <a:r>
              <a:rPr lang="en-US" b="0" dirty="0">
                <a:solidFill>
                  <a:srgbClr val="CCCCCC"/>
                </a:solidFill>
                <a:effectLst/>
                <a:latin typeface="Menlo" panose="020B0609030804020204" pitchFamily="49" charset="0"/>
              </a:rPr>
              <a:t>In this lesson we will be briefly going over some more advanced git tools that become essential when working collaboratively. These are branches and pull requests. In a collaborative environment, branches allow more than one person to work on the code independently, separate from the centralized main branch. Pull or merge requests provide a transparent mechanism to bring the changes made on a branch into the main branch, and encourage communication amongst the maintainers on whether the changes should be pulled in or if further changes are needed.</a:t>
            </a:r>
          </a:p>
          <a:p>
            <a:br>
              <a:rPr lang="en-US" b="0" dirty="0">
                <a:solidFill>
                  <a:srgbClr val="CCCCCC"/>
                </a:solidFill>
                <a:effectLst/>
                <a:latin typeface="Menlo" panose="020B0609030804020204" pitchFamily="49" charset="0"/>
              </a:rPr>
            </a:br>
            <a:r>
              <a:rPr lang="en-US" b="0" dirty="0">
                <a:solidFill>
                  <a:srgbClr val="CCCCCC"/>
                </a:solidFill>
                <a:effectLst/>
                <a:latin typeface="Menlo" panose="020B0609030804020204" pitchFamily="49" charset="0"/>
              </a:rPr>
              <a:t>While technology helps, it is not the solution on its own. We will also discuss git workflows, which describe the strategy of how branches and pull requests should be used to stay organized and productive. We will show a few common workflows, and give general guidance on how to choose what will work well for your project and team.</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dirty="0">
              <a:solidFill>
                <a:srgbClr val="CCCCCC"/>
              </a:solidFill>
              <a:effectLst/>
              <a:latin typeface="Menlo" panose="020B0609030804020204" pitchFamily="49" charset="0"/>
            </a:endParaRPr>
          </a:p>
          <a:p>
            <a:endParaRPr lang="en-US" dirty="0"/>
          </a:p>
        </p:txBody>
      </p:sp>
      <p:sp>
        <p:nvSpPr>
          <p:cNvPr id="4" name="Slide Number Placeholder 3"/>
          <p:cNvSpPr>
            <a:spLocks noGrp="1"/>
          </p:cNvSpPr>
          <p:nvPr>
            <p:ph type="sldNum" sz="quarter" idx="5"/>
          </p:nvPr>
        </p:nvSpPr>
        <p:spPr/>
        <p:txBody>
          <a:bodyPr/>
          <a:lstStyle/>
          <a:p>
            <a:fld id="{729A9A33-2617-9741-9692-B8CF37E91C8E}" type="slidenum">
              <a:rPr lang="en-US" smtClean="0"/>
              <a:t>4</a:t>
            </a:fld>
            <a:endParaRPr lang="en-US"/>
          </a:p>
        </p:txBody>
      </p:sp>
    </p:spTree>
    <p:extLst>
      <p:ext uri="{BB962C8B-B14F-4D97-AF65-F5344CB8AC3E}">
        <p14:creationId xmlns:p14="http://schemas.microsoft.com/office/powerpoint/2010/main" val="336764687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29A9A33-2617-9741-9692-B8CF37E91C8E}" type="slidenum">
              <a:rPr lang="en-US" smtClean="0"/>
              <a:t>5</a:t>
            </a:fld>
            <a:endParaRPr lang="en-US"/>
          </a:p>
        </p:txBody>
      </p:sp>
    </p:spTree>
    <p:extLst>
      <p:ext uri="{BB962C8B-B14F-4D97-AF65-F5344CB8AC3E}">
        <p14:creationId xmlns:p14="http://schemas.microsoft.com/office/powerpoint/2010/main" val="347362530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29A9A33-2617-9741-9692-B8CF37E91C8E}" type="slidenum">
              <a:rPr lang="en-US" smtClean="0"/>
              <a:t>7</a:t>
            </a:fld>
            <a:endParaRPr lang="en-US"/>
          </a:p>
        </p:txBody>
      </p:sp>
    </p:spTree>
    <p:extLst>
      <p:ext uri="{BB962C8B-B14F-4D97-AF65-F5344CB8AC3E}">
        <p14:creationId xmlns:p14="http://schemas.microsoft.com/office/powerpoint/2010/main" val="131084899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solidFill>
                  <a:srgbClr val="CCCCCC"/>
                </a:solidFill>
                <a:effectLst/>
                <a:latin typeface="Menlo" panose="020B0609030804020204" pitchFamily="49" charset="0"/>
              </a:rPr>
              <a:t>Branches are independent development lines. Working independently, you can likely get away with using git without creating any branches, as in the first diagram in the figure below. However, when you begin to work with others, branches allow team members to work on the code without impacting the work of other developers or users.</a:t>
            </a:r>
            <a:endParaRPr lang="en-US" dirty="0"/>
          </a:p>
          <a:p>
            <a:endParaRPr lang="en-US" dirty="0"/>
          </a:p>
          <a:p>
            <a:r>
              <a:rPr lang="en-US" b="0" dirty="0">
                <a:solidFill>
                  <a:srgbClr val="CCCCCC"/>
                </a:solidFill>
                <a:effectLst/>
                <a:latin typeface="Menlo" panose="020B0609030804020204" pitchFamily="49" charset="0"/>
              </a:rPr>
              <a:t>Branches can have a few different purposes. Branches created to develop a specific feature are referred to as feature branches, and are often short-lived. Branches can also be used for longer-term purposes, such as having separate development and production branches. How you organize and use branches in your project is referred to as a branching strategy, which we will cover more when we talk about git workflows.</a:t>
            </a:r>
          </a:p>
          <a:p>
            <a:br>
              <a:rPr lang="en-US" b="0" dirty="0">
                <a:solidFill>
                  <a:srgbClr val="CCCCCC"/>
                </a:solidFill>
                <a:effectLst/>
                <a:latin typeface="Menlo" panose="020B0609030804020204" pitchFamily="49" charset="0"/>
              </a:rPr>
            </a:br>
            <a:r>
              <a:rPr lang="en-US" b="0" dirty="0">
                <a:solidFill>
                  <a:srgbClr val="CCCCCC"/>
                </a:solidFill>
                <a:effectLst/>
                <a:latin typeface="Menlo" panose="020B0609030804020204" pitchFamily="49" charset="0"/>
              </a:rPr>
              <a:t>Changes made in one branch can be brought into another branch with a merge. For example, when a feature branch is completed it may be merged into the main branch. And, if while you are working on a feature branch the main branch changes, you can merge the changes from the main branch into your feature branch while you are still working.</a:t>
            </a:r>
          </a:p>
          <a:p>
            <a:endParaRPr lang="en-US" dirty="0"/>
          </a:p>
        </p:txBody>
      </p:sp>
      <p:sp>
        <p:nvSpPr>
          <p:cNvPr id="4" name="Slide Number Placeholder 3"/>
          <p:cNvSpPr>
            <a:spLocks noGrp="1"/>
          </p:cNvSpPr>
          <p:nvPr>
            <p:ph type="sldNum" sz="quarter" idx="5"/>
          </p:nvPr>
        </p:nvSpPr>
        <p:spPr/>
        <p:txBody>
          <a:bodyPr/>
          <a:lstStyle/>
          <a:p>
            <a:fld id="{729A9A33-2617-9741-9692-B8CF37E91C8E}" type="slidenum">
              <a:rPr lang="en-US" smtClean="0"/>
              <a:t>9</a:t>
            </a:fld>
            <a:endParaRPr lang="en-US"/>
          </a:p>
        </p:txBody>
      </p:sp>
    </p:spTree>
    <p:extLst>
      <p:ext uri="{BB962C8B-B14F-4D97-AF65-F5344CB8AC3E}">
        <p14:creationId xmlns:p14="http://schemas.microsoft.com/office/powerpoint/2010/main" val="72612559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dirty="0">
                <a:solidFill>
                  <a:srgbClr val="CCCCCC"/>
                </a:solidFill>
                <a:effectLst/>
                <a:latin typeface="Menlo" panose="020B0609030804020204" pitchFamily="49" charset="0"/>
              </a:rPr>
              <a:t>You can create a branch on your local clone of the repository. If didn't just clone the repository it is always good to make sure you have any recent changes to the main branch by checking out the main branch and running "git pull":</a:t>
            </a:r>
          </a:p>
          <a:p>
            <a:br>
              <a:rPr lang="en-US" b="0" dirty="0">
                <a:solidFill>
                  <a:srgbClr val="CCCCCC"/>
                </a:solidFill>
                <a:effectLst/>
                <a:latin typeface="Menlo" panose="020B0609030804020204" pitchFamily="49" charset="0"/>
              </a:rPr>
            </a:br>
            <a:r>
              <a:rPr lang="en-US" b="0" dirty="0">
                <a:solidFill>
                  <a:srgbClr val="CCCCCC"/>
                </a:solidFill>
                <a:effectLst/>
                <a:latin typeface="Menlo" panose="020B0609030804020204" pitchFamily="49" charset="0"/>
              </a:rPr>
              <a:t>```bash</a:t>
            </a:r>
          </a:p>
          <a:p>
            <a:r>
              <a:rPr lang="en-US" b="0" dirty="0">
                <a:solidFill>
                  <a:srgbClr val="DCDCAA"/>
                </a:solidFill>
                <a:effectLst/>
                <a:latin typeface="Menlo" panose="020B0609030804020204" pitchFamily="49" charset="0"/>
              </a:rPr>
              <a:t>git</a:t>
            </a:r>
            <a:r>
              <a:rPr lang="en-US" b="0" dirty="0">
                <a:solidFill>
                  <a:srgbClr val="D4D4D4"/>
                </a:solidFill>
                <a:effectLst/>
                <a:latin typeface="Menlo" panose="020B0609030804020204" pitchFamily="49" charset="0"/>
              </a:rPr>
              <a:t> </a:t>
            </a:r>
            <a:r>
              <a:rPr lang="en-US" b="0" dirty="0">
                <a:solidFill>
                  <a:srgbClr val="CE9178"/>
                </a:solidFill>
                <a:effectLst/>
                <a:latin typeface="Menlo" panose="020B0609030804020204" pitchFamily="49" charset="0"/>
              </a:rPr>
              <a:t>checkout</a:t>
            </a:r>
            <a:r>
              <a:rPr lang="en-US" b="0" dirty="0">
                <a:solidFill>
                  <a:srgbClr val="D4D4D4"/>
                </a:solidFill>
                <a:effectLst/>
                <a:latin typeface="Menlo" panose="020B0609030804020204" pitchFamily="49" charset="0"/>
              </a:rPr>
              <a:t> </a:t>
            </a:r>
            <a:r>
              <a:rPr lang="en-US" b="0" dirty="0">
                <a:solidFill>
                  <a:srgbClr val="CE9178"/>
                </a:solidFill>
                <a:effectLst/>
                <a:latin typeface="Menlo" panose="020B0609030804020204" pitchFamily="49" charset="0"/>
              </a:rPr>
              <a:t>main</a:t>
            </a:r>
            <a:endParaRPr lang="en-US" b="0" dirty="0">
              <a:solidFill>
                <a:srgbClr val="CCCCCC"/>
              </a:solidFill>
              <a:effectLst/>
              <a:latin typeface="Menlo" panose="020B0609030804020204" pitchFamily="49" charset="0"/>
            </a:endParaRPr>
          </a:p>
          <a:p>
            <a:r>
              <a:rPr lang="en-US" b="0" dirty="0">
                <a:solidFill>
                  <a:srgbClr val="DCDCAA"/>
                </a:solidFill>
                <a:effectLst/>
                <a:latin typeface="Menlo" panose="020B0609030804020204" pitchFamily="49" charset="0"/>
              </a:rPr>
              <a:t>git</a:t>
            </a:r>
            <a:r>
              <a:rPr lang="en-US" b="0" dirty="0">
                <a:solidFill>
                  <a:srgbClr val="D4D4D4"/>
                </a:solidFill>
                <a:effectLst/>
                <a:latin typeface="Menlo" panose="020B0609030804020204" pitchFamily="49" charset="0"/>
              </a:rPr>
              <a:t> </a:t>
            </a:r>
            <a:r>
              <a:rPr lang="en-US" b="0" dirty="0">
                <a:solidFill>
                  <a:srgbClr val="CE9178"/>
                </a:solidFill>
                <a:effectLst/>
                <a:latin typeface="Menlo" panose="020B0609030804020204" pitchFamily="49" charset="0"/>
              </a:rPr>
              <a:t>pull</a:t>
            </a:r>
            <a:endParaRPr lang="en-US" b="0" dirty="0">
              <a:solidFill>
                <a:srgbClr val="CCCCCC"/>
              </a:solidFill>
              <a:effectLst/>
              <a:latin typeface="Menlo" panose="020B0609030804020204" pitchFamily="49" charset="0"/>
            </a:endParaRPr>
          </a:p>
          <a:p>
            <a:r>
              <a:rPr lang="en-US" b="0" dirty="0">
                <a:solidFill>
                  <a:srgbClr val="CCCCCC"/>
                </a:solidFill>
                <a:effectLst/>
                <a:latin typeface="Menlo" panose="020B0609030804020204" pitchFamily="49" charset="0"/>
              </a:rPr>
              <a:t>```</a:t>
            </a:r>
          </a:p>
          <a:p>
            <a:br>
              <a:rPr lang="en-US" b="0" dirty="0">
                <a:solidFill>
                  <a:srgbClr val="CCCCCC"/>
                </a:solidFill>
                <a:effectLst/>
                <a:latin typeface="Menlo" panose="020B0609030804020204" pitchFamily="49" charset="0"/>
              </a:rPr>
            </a:br>
            <a:r>
              <a:rPr lang="en-US" b="0" dirty="0">
                <a:solidFill>
                  <a:srgbClr val="CCCCCC"/>
                </a:solidFill>
                <a:effectLst/>
                <a:latin typeface="Menlo" panose="020B0609030804020204" pitchFamily="49" charset="0"/>
              </a:rPr>
              <a:t>Then, to create a branch we can run:</a:t>
            </a:r>
          </a:p>
          <a:p>
            <a:br>
              <a:rPr lang="en-US" b="0" dirty="0">
                <a:solidFill>
                  <a:srgbClr val="CCCCCC"/>
                </a:solidFill>
                <a:effectLst/>
                <a:latin typeface="Menlo" panose="020B0609030804020204" pitchFamily="49" charset="0"/>
              </a:rPr>
            </a:br>
            <a:r>
              <a:rPr lang="en-US" b="0" dirty="0">
                <a:solidFill>
                  <a:srgbClr val="CCCCCC"/>
                </a:solidFill>
                <a:effectLst/>
                <a:latin typeface="Menlo" panose="020B0609030804020204" pitchFamily="49" charset="0"/>
              </a:rPr>
              <a:t>```bash</a:t>
            </a:r>
          </a:p>
          <a:p>
            <a:r>
              <a:rPr lang="en-US" b="0" dirty="0">
                <a:solidFill>
                  <a:srgbClr val="DCDCAA"/>
                </a:solidFill>
                <a:effectLst/>
                <a:latin typeface="Menlo" panose="020B0609030804020204" pitchFamily="49" charset="0"/>
              </a:rPr>
              <a:t>git</a:t>
            </a:r>
            <a:r>
              <a:rPr lang="en-US" b="0" dirty="0">
                <a:solidFill>
                  <a:srgbClr val="D4D4D4"/>
                </a:solidFill>
                <a:effectLst/>
                <a:latin typeface="Menlo" panose="020B0609030804020204" pitchFamily="49" charset="0"/>
              </a:rPr>
              <a:t> </a:t>
            </a:r>
            <a:r>
              <a:rPr lang="en-US" b="0" dirty="0">
                <a:solidFill>
                  <a:srgbClr val="CE9178"/>
                </a:solidFill>
                <a:effectLst/>
                <a:latin typeface="Menlo" panose="020B0609030804020204" pitchFamily="49" charset="0"/>
              </a:rPr>
              <a:t>checkout</a:t>
            </a:r>
            <a:r>
              <a:rPr lang="en-US" b="0" dirty="0">
                <a:solidFill>
                  <a:srgbClr val="D4D4D4"/>
                </a:solidFill>
                <a:effectLst/>
                <a:latin typeface="Menlo" panose="020B0609030804020204" pitchFamily="49" charset="0"/>
              </a:rPr>
              <a:t> </a:t>
            </a:r>
            <a:r>
              <a:rPr lang="en-US" b="0" dirty="0">
                <a:solidFill>
                  <a:srgbClr val="569CD6"/>
                </a:solidFill>
                <a:effectLst/>
                <a:latin typeface="Menlo" panose="020B0609030804020204" pitchFamily="49" charset="0"/>
              </a:rPr>
              <a:t>-b</a:t>
            </a:r>
            <a:r>
              <a:rPr lang="en-US" b="0" dirty="0">
                <a:solidFill>
                  <a:srgbClr val="D4D4D4"/>
                </a:solidFill>
                <a:effectLst/>
                <a:latin typeface="Menlo" panose="020B0609030804020204" pitchFamily="49" charset="0"/>
              </a:rPr>
              <a:t> </a:t>
            </a:r>
            <a:r>
              <a:rPr lang="en-US" b="0" dirty="0" err="1">
                <a:solidFill>
                  <a:srgbClr val="CE9178"/>
                </a:solidFill>
                <a:effectLst/>
                <a:latin typeface="Menlo" panose="020B0609030804020204" pitchFamily="49" charset="0"/>
              </a:rPr>
              <a:t>my_new_branch</a:t>
            </a:r>
            <a:endParaRPr lang="en-US" b="0" dirty="0">
              <a:solidFill>
                <a:srgbClr val="CCCCCC"/>
              </a:solidFill>
              <a:effectLst/>
              <a:latin typeface="Menlo" panose="020B0609030804020204" pitchFamily="49" charset="0"/>
            </a:endParaRPr>
          </a:p>
          <a:p>
            <a:r>
              <a:rPr lang="en-US" b="0" dirty="0">
                <a:solidFill>
                  <a:srgbClr val="CCCCCC"/>
                </a:solidFill>
                <a:effectLst/>
                <a:latin typeface="Menlo" panose="020B0609030804020204" pitchFamily="49" charset="0"/>
              </a:rPr>
              <a:t>```</a:t>
            </a:r>
          </a:p>
          <a:p>
            <a:br>
              <a:rPr lang="en-US" b="0" dirty="0">
                <a:solidFill>
                  <a:srgbClr val="CCCCCC"/>
                </a:solidFill>
                <a:effectLst/>
                <a:latin typeface="Menlo" panose="020B0609030804020204" pitchFamily="49" charset="0"/>
              </a:rPr>
            </a:br>
            <a:r>
              <a:rPr lang="en-US" b="0" dirty="0">
                <a:solidFill>
                  <a:srgbClr val="CCCCCC"/>
                </a:solidFill>
                <a:effectLst/>
                <a:latin typeface="Menlo" panose="020B0609030804020204" pitchFamily="49" charset="0"/>
              </a:rPr>
              <a:t>This will create the branch </a:t>
            </a:r>
            <a:r>
              <a:rPr lang="en-US" b="0" dirty="0">
                <a:solidFill>
                  <a:srgbClr val="CE9178"/>
                </a:solidFill>
                <a:effectLst/>
                <a:latin typeface="Menlo" panose="020B0609030804020204" pitchFamily="49" charset="0"/>
              </a:rPr>
              <a:t>`</a:t>
            </a:r>
            <a:r>
              <a:rPr lang="en-US" b="0" dirty="0" err="1">
                <a:solidFill>
                  <a:srgbClr val="CE9178"/>
                </a:solidFill>
                <a:effectLst/>
                <a:latin typeface="Menlo" panose="020B0609030804020204" pitchFamily="49" charset="0"/>
              </a:rPr>
              <a:t>my_new_branch</a:t>
            </a:r>
            <a:r>
              <a:rPr lang="en-US" b="0" dirty="0">
                <a:solidFill>
                  <a:srgbClr val="CE9178"/>
                </a:solidFill>
                <a:effectLst/>
                <a:latin typeface="Menlo" panose="020B0609030804020204" pitchFamily="49" charset="0"/>
              </a:rPr>
              <a:t>`</a:t>
            </a:r>
            <a:r>
              <a:rPr lang="en-US" b="0" dirty="0">
                <a:solidFill>
                  <a:srgbClr val="CCCCCC"/>
                </a:solidFill>
                <a:effectLst/>
                <a:latin typeface="Menlo" panose="020B0609030804020204" pitchFamily="49" charset="0"/>
              </a:rPr>
              <a:t> and move you to the new branch. If you run </a:t>
            </a:r>
            <a:r>
              <a:rPr lang="en-US" b="0" dirty="0">
                <a:solidFill>
                  <a:srgbClr val="CE9178"/>
                </a:solidFill>
                <a:effectLst/>
                <a:latin typeface="Menlo" panose="020B0609030804020204" pitchFamily="49" charset="0"/>
              </a:rPr>
              <a:t>`git status`</a:t>
            </a:r>
            <a:r>
              <a:rPr lang="en-US" b="0" dirty="0">
                <a:solidFill>
                  <a:srgbClr val="CCCCCC"/>
                </a:solidFill>
                <a:effectLst/>
                <a:latin typeface="Menlo" panose="020B0609030804020204" pitchFamily="49" charset="0"/>
              </a:rPr>
              <a:t> at this point it will display </a:t>
            </a:r>
            <a:r>
              <a:rPr lang="en-US" b="0" dirty="0">
                <a:solidFill>
                  <a:srgbClr val="CE9178"/>
                </a:solidFill>
                <a:effectLst/>
                <a:latin typeface="Menlo" panose="020B0609030804020204" pitchFamily="49" charset="0"/>
              </a:rPr>
              <a:t>`On branch </a:t>
            </a:r>
            <a:r>
              <a:rPr lang="en-US" b="0" dirty="0" err="1">
                <a:solidFill>
                  <a:srgbClr val="CE9178"/>
                </a:solidFill>
                <a:effectLst/>
                <a:latin typeface="Menlo" panose="020B0609030804020204" pitchFamily="49" charset="0"/>
              </a:rPr>
              <a:t>my_new_branch</a:t>
            </a:r>
            <a:r>
              <a:rPr lang="en-US" b="0" dirty="0">
                <a:solidFill>
                  <a:srgbClr val="CE9178"/>
                </a:solidFill>
                <a:effectLst/>
                <a:latin typeface="Menlo" panose="020B0609030804020204" pitchFamily="49" charset="0"/>
              </a:rPr>
              <a:t>`</a:t>
            </a:r>
            <a:r>
              <a:rPr lang="en-US" b="0" dirty="0">
                <a:solidFill>
                  <a:srgbClr val="CCCCCC"/>
                </a:solidFill>
                <a:effectLst/>
                <a:latin typeface="Menlo" panose="020B0609030804020204" pitchFamily="49" charset="0"/>
              </a:rPr>
              <a:t>. Making and committing any changes will only update </a:t>
            </a:r>
            <a:r>
              <a:rPr lang="en-US" b="0" dirty="0">
                <a:solidFill>
                  <a:srgbClr val="CE9178"/>
                </a:solidFill>
                <a:effectLst/>
                <a:latin typeface="Menlo" panose="020B0609030804020204" pitchFamily="49" charset="0"/>
              </a:rPr>
              <a:t>`</a:t>
            </a:r>
            <a:r>
              <a:rPr lang="en-US" b="0" dirty="0" err="1">
                <a:solidFill>
                  <a:srgbClr val="CE9178"/>
                </a:solidFill>
                <a:effectLst/>
                <a:latin typeface="Menlo" panose="020B0609030804020204" pitchFamily="49" charset="0"/>
              </a:rPr>
              <a:t>my_new_branch</a:t>
            </a:r>
            <a:r>
              <a:rPr lang="en-US" b="0" dirty="0">
                <a:solidFill>
                  <a:srgbClr val="CE9178"/>
                </a:solidFill>
                <a:effectLst/>
                <a:latin typeface="Menlo" panose="020B0609030804020204" pitchFamily="49" charset="0"/>
              </a:rPr>
              <a:t>`</a:t>
            </a:r>
            <a:r>
              <a:rPr lang="en-US" b="0" dirty="0">
                <a:solidFill>
                  <a:srgbClr val="CCCCCC"/>
                </a:solidFill>
                <a:effectLst/>
                <a:latin typeface="Menlo" panose="020B0609030804020204" pitchFamily="49" charset="0"/>
              </a:rPr>
              <a:t>.</a:t>
            </a:r>
          </a:p>
          <a:p>
            <a:endParaRPr lang="en-US" dirty="0"/>
          </a:p>
          <a:p>
            <a:r>
              <a:rPr lang="en-US" b="0" dirty="0">
                <a:solidFill>
                  <a:srgbClr val="CCCCCC"/>
                </a:solidFill>
                <a:effectLst/>
                <a:latin typeface="Menlo" panose="020B0609030804020204" pitchFamily="49" charset="0"/>
              </a:rPr>
              <a:t>The first time you push your branch to the remote repository, you will need to publish the branch by running run:</a:t>
            </a:r>
          </a:p>
          <a:p>
            <a:br>
              <a:rPr lang="en-US" b="0" dirty="0">
                <a:solidFill>
                  <a:srgbClr val="CCCCCC"/>
                </a:solidFill>
                <a:effectLst/>
                <a:latin typeface="Menlo" panose="020B0609030804020204" pitchFamily="49" charset="0"/>
              </a:rPr>
            </a:br>
            <a:r>
              <a:rPr lang="en-US" b="0" dirty="0">
                <a:solidFill>
                  <a:srgbClr val="CCCCCC"/>
                </a:solidFill>
                <a:effectLst/>
                <a:latin typeface="Menlo" panose="020B0609030804020204" pitchFamily="49" charset="0"/>
              </a:rPr>
              <a:t>```bash</a:t>
            </a:r>
          </a:p>
          <a:p>
            <a:r>
              <a:rPr lang="en-US" b="0" dirty="0">
                <a:solidFill>
                  <a:srgbClr val="DCDCAA"/>
                </a:solidFill>
                <a:effectLst/>
                <a:latin typeface="Menlo" panose="020B0609030804020204" pitchFamily="49" charset="0"/>
              </a:rPr>
              <a:t>git</a:t>
            </a:r>
            <a:r>
              <a:rPr lang="en-US" b="0" dirty="0">
                <a:solidFill>
                  <a:srgbClr val="D4D4D4"/>
                </a:solidFill>
                <a:effectLst/>
                <a:latin typeface="Menlo" panose="020B0609030804020204" pitchFamily="49" charset="0"/>
              </a:rPr>
              <a:t> </a:t>
            </a:r>
            <a:r>
              <a:rPr lang="en-US" b="0" dirty="0">
                <a:solidFill>
                  <a:srgbClr val="CE9178"/>
                </a:solidFill>
                <a:effectLst/>
                <a:latin typeface="Menlo" panose="020B0609030804020204" pitchFamily="49" charset="0"/>
              </a:rPr>
              <a:t>push</a:t>
            </a:r>
            <a:r>
              <a:rPr lang="en-US" b="0" dirty="0">
                <a:solidFill>
                  <a:srgbClr val="D4D4D4"/>
                </a:solidFill>
                <a:effectLst/>
                <a:latin typeface="Menlo" panose="020B0609030804020204" pitchFamily="49" charset="0"/>
              </a:rPr>
              <a:t> </a:t>
            </a:r>
            <a:r>
              <a:rPr lang="en-US" b="0" dirty="0">
                <a:solidFill>
                  <a:srgbClr val="569CD6"/>
                </a:solidFill>
                <a:effectLst/>
                <a:latin typeface="Menlo" panose="020B0609030804020204" pitchFamily="49" charset="0"/>
              </a:rPr>
              <a:t>--set-upstream</a:t>
            </a:r>
            <a:r>
              <a:rPr lang="en-US" b="0" dirty="0">
                <a:solidFill>
                  <a:srgbClr val="D4D4D4"/>
                </a:solidFill>
                <a:effectLst/>
                <a:latin typeface="Menlo" panose="020B0609030804020204" pitchFamily="49" charset="0"/>
              </a:rPr>
              <a:t> </a:t>
            </a:r>
            <a:r>
              <a:rPr lang="en-US" b="0" dirty="0">
                <a:solidFill>
                  <a:srgbClr val="CE9178"/>
                </a:solidFill>
                <a:effectLst/>
                <a:latin typeface="Menlo" panose="020B0609030804020204" pitchFamily="49" charset="0"/>
              </a:rPr>
              <a:t>origin</a:t>
            </a:r>
            <a:r>
              <a:rPr lang="en-US" b="0" dirty="0">
                <a:solidFill>
                  <a:srgbClr val="D4D4D4"/>
                </a:solidFill>
                <a:effectLst/>
                <a:latin typeface="Menlo" panose="020B0609030804020204" pitchFamily="49" charset="0"/>
              </a:rPr>
              <a:t> </a:t>
            </a:r>
            <a:r>
              <a:rPr lang="en-US" b="0" dirty="0" err="1">
                <a:solidFill>
                  <a:srgbClr val="CE9178"/>
                </a:solidFill>
                <a:effectLst/>
                <a:latin typeface="Menlo" panose="020B0609030804020204" pitchFamily="49" charset="0"/>
              </a:rPr>
              <a:t>my_new_branch</a:t>
            </a:r>
            <a:endParaRPr lang="en-US" b="0" dirty="0">
              <a:solidFill>
                <a:srgbClr val="CCCCCC"/>
              </a:solidFill>
              <a:effectLst/>
              <a:latin typeface="Menlo" panose="020B0609030804020204" pitchFamily="49" charset="0"/>
            </a:endParaRPr>
          </a:p>
          <a:p>
            <a:r>
              <a:rPr lang="en-US" b="0" dirty="0">
                <a:solidFill>
                  <a:srgbClr val="CCCCCC"/>
                </a:solidFill>
                <a:effectLst/>
                <a:latin typeface="Menlo" panose="020B0609030804020204" pitchFamily="49" charset="0"/>
              </a:rPr>
              <a:t>```</a:t>
            </a:r>
          </a:p>
          <a:p>
            <a:br>
              <a:rPr lang="en-US" b="0" dirty="0">
                <a:solidFill>
                  <a:srgbClr val="CCCCCC"/>
                </a:solidFill>
                <a:effectLst/>
                <a:latin typeface="Menlo" panose="020B0609030804020204" pitchFamily="49" charset="0"/>
              </a:rPr>
            </a:br>
            <a:r>
              <a:rPr lang="en-US" b="0" dirty="0">
                <a:solidFill>
                  <a:srgbClr val="CCCCCC"/>
                </a:solidFill>
                <a:effectLst/>
                <a:latin typeface="Menlo" panose="020B0609030804020204" pitchFamily="49" charset="0"/>
              </a:rPr>
              <a:t>After this any commits can be pushed with a simple </a:t>
            </a:r>
            <a:r>
              <a:rPr lang="en-US" b="0" dirty="0">
                <a:solidFill>
                  <a:srgbClr val="CE9178"/>
                </a:solidFill>
                <a:effectLst/>
                <a:latin typeface="Menlo" panose="020B0609030804020204" pitchFamily="49" charset="0"/>
              </a:rPr>
              <a:t>`git push`</a:t>
            </a:r>
            <a:r>
              <a:rPr lang="en-US" b="0" dirty="0">
                <a:solidFill>
                  <a:srgbClr val="CCCCCC"/>
                </a:solidFill>
                <a:effectLst/>
                <a:latin typeface="Menlo" panose="020B0609030804020204" pitchFamily="49" charset="0"/>
              </a:rPr>
              <a:t>.</a:t>
            </a:r>
          </a:p>
          <a:p>
            <a:endParaRPr lang="en-US" dirty="0"/>
          </a:p>
        </p:txBody>
      </p:sp>
      <p:sp>
        <p:nvSpPr>
          <p:cNvPr id="4" name="Slide Number Placeholder 3"/>
          <p:cNvSpPr>
            <a:spLocks noGrp="1"/>
          </p:cNvSpPr>
          <p:nvPr>
            <p:ph type="sldNum" sz="quarter" idx="5"/>
          </p:nvPr>
        </p:nvSpPr>
        <p:spPr/>
        <p:txBody>
          <a:bodyPr/>
          <a:lstStyle/>
          <a:p>
            <a:fld id="{729A9A33-2617-9741-9692-B8CF37E91C8E}" type="slidenum">
              <a:rPr lang="en-US" smtClean="0"/>
              <a:t>10</a:t>
            </a:fld>
            <a:endParaRPr lang="en-US"/>
          </a:p>
        </p:txBody>
      </p:sp>
    </p:spTree>
    <p:extLst>
      <p:ext uri="{BB962C8B-B14F-4D97-AF65-F5344CB8AC3E}">
        <p14:creationId xmlns:p14="http://schemas.microsoft.com/office/powerpoint/2010/main" val="304866535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dirty="0">
                <a:solidFill>
                  <a:srgbClr val="CCCCCC"/>
                </a:solidFill>
                <a:effectLst/>
                <a:latin typeface="Menlo" panose="020B0609030804020204" pitchFamily="49" charset="0"/>
              </a:rPr>
              <a:t>Creating commits on a branch. From left to right: a repository with two commits on the main branch and one on a feature branch, followed by an arrow with the text "git commit (x2)", followed by the same repository with to additional commits on the feature branch. A smiley face is used on each diagram to show where you are in the repository, each on the last commit on the feature branch.</a:t>
            </a:r>
          </a:p>
          <a:p>
            <a:endParaRPr lang="en-US" b="0" dirty="0">
              <a:solidFill>
                <a:srgbClr val="CCCCCC"/>
              </a:solidFill>
              <a:effectLst/>
              <a:latin typeface="Menlo" panose="020B0609030804020204" pitchFamily="49" charset="0"/>
            </a:endParaRPr>
          </a:p>
          <a:p>
            <a:r>
              <a:rPr lang="en-US" b="0" dirty="0">
                <a:solidFill>
                  <a:srgbClr val="CCCCCC"/>
                </a:solidFill>
                <a:effectLst/>
                <a:latin typeface="Menlo" panose="020B0609030804020204" pitchFamily="49" charset="0"/>
              </a:rPr>
              <a:t>You can create a branch on your local clone of the repository. If didn't just clone the repository it is always good to make sure you have any recent changes to the main branch by checking out the main branch and running "git pull":</a:t>
            </a:r>
          </a:p>
          <a:p>
            <a:br>
              <a:rPr lang="en-US" b="0" dirty="0">
                <a:solidFill>
                  <a:srgbClr val="CCCCCC"/>
                </a:solidFill>
                <a:effectLst/>
                <a:latin typeface="Menlo" panose="020B0609030804020204" pitchFamily="49" charset="0"/>
              </a:rPr>
            </a:br>
            <a:r>
              <a:rPr lang="en-US" b="0" dirty="0">
                <a:solidFill>
                  <a:srgbClr val="CCCCCC"/>
                </a:solidFill>
                <a:effectLst/>
                <a:latin typeface="Menlo" panose="020B0609030804020204" pitchFamily="49" charset="0"/>
              </a:rPr>
              <a:t>```bash</a:t>
            </a:r>
          </a:p>
          <a:p>
            <a:r>
              <a:rPr lang="en-US" b="0" dirty="0">
                <a:solidFill>
                  <a:srgbClr val="DCDCAA"/>
                </a:solidFill>
                <a:effectLst/>
                <a:latin typeface="Menlo" panose="020B0609030804020204" pitchFamily="49" charset="0"/>
              </a:rPr>
              <a:t>git</a:t>
            </a:r>
            <a:r>
              <a:rPr lang="en-US" b="0" dirty="0">
                <a:solidFill>
                  <a:srgbClr val="D4D4D4"/>
                </a:solidFill>
                <a:effectLst/>
                <a:latin typeface="Menlo" panose="020B0609030804020204" pitchFamily="49" charset="0"/>
              </a:rPr>
              <a:t> </a:t>
            </a:r>
            <a:r>
              <a:rPr lang="en-US" b="0" dirty="0">
                <a:solidFill>
                  <a:srgbClr val="CE9178"/>
                </a:solidFill>
                <a:effectLst/>
                <a:latin typeface="Menlo" panose="020B0609030804020204" pitchFamily="49" charset="0"/>
              </a:rPr>
              <a:t>checkout</a:t>
            </a:r>
            <a:r>
              <a:rPr lang="en-US" b="0" dirty="0">
                <a:solidFill>
                  <a:srgbClr val="D4D4D4"/>
                </a:solidFill>
                <a:effectLst/>
                <a:latin typeface="Menlo" panose="020B0609030804020204" pitchFamily="49" charset="0"/>
              </a:rPr>
              <a:t> </a:t>
            </a:r>
            <a:r>
              <a:rPr lang="en-US" b="0" dirty="0">
                <a:solidFill>
                  <a:srgbClr val="CE9178"/>
                </a:solidFill>
                <a:effectLst/>
                <a:latin typeface="Menlo" panose="020B0609030804020204" pitchFamily="49" charset="0"/>
              </a:rPr>
              <a:t>main</a:t>
            </a:r>
            <a:endParaRPr lang="en-US" b="0" dirty="0">
              <a:solidFill>
                <a:srgbClr val="CCCCCC"/>
              </a:solidFill>
              <a:effectLst/>
              <a:latin typeface="Menlo" panose="020B0609030804020204" pitchFamily="49" charset="0"/>
            </a:endParaRPr>
          </a:p>
          <a:p>
            <a:r>
              <a:rPr lang="en-US" b="0" dirty="0">
                <a:solidFill>
                  <a:srgbClr val="DCDCAA"/>
                </a:solidFill>
                <a:effectLst/>
                <a:latin typeface="Menlo" panose="020B0609030804020204" pitchFamily="49" charset="0"/>
              </a:rPr>
              <a:t>git</a:t>
            </a:r>
            <a:r>
              <a:rPr lang="en-US" b="0" dirty="0">
                <a:solidFill>
                  <a:srgbClr val="D4D4D4"/>
                </a:solidFill>
                <a:effectLst/>
                <a:latin typeface="Menlo" panose="020B0609030804020204" pitchFamily="49" charset="0"/>
              </a:rPr>
              <a:t> </a:t>
            </a:r>
            <a:r>
              <a:rPr lang="en-US" b="0" dirty="0">
                <a:solidFill>
                  <a:srgbClr val="CE9178"/>
                </a:solidFill>
                <a:effectLst/>
                <a:latin typeface="Menlo" panose="020B0609030804020204" pitchFamily="49" charset="0"/>
              </a:rPr>
              <a:t>pull</a:t>
            </a:r>
            <a:endParaRPr lang="en-US" b="0" dirty="0">
              <a:solidFill>
                <a:srgbClr val="CCCCCC"/>
              </a:solidFill>
              <a:effectLst/>
              <a:latin typeface="Menlo" panose="020B0609030804020204" pitchFamily="49" charset="0"/>
            </a:endParaRPr>
          </a:p>
          <a:p>
            <a:r>
              <a:rPr lang="en-US" b="0" dirty="0">
                <a:solidFill>
                  <a:srgbClr val="CCCCCC"/>
                </a:solidFill>
                <a:effectLst/>
                <a:latin typeface="Menlo" panose="020B0609030804020204" pitchFamily="49" charset="0"/>
              </a:rPr>
              <a:t>```</a:t>
            </a:r>
          </a:p>
          <a:p>
            <a:br>
              <a:rPr lang="en-US" b="0" dirty="0">
                <a:solidFill>
                  <a:srgbClr val="CCCCCC"/>
                </a:solidFill>
                <a:effectLst/>
                <a:latin typeface="Menlo" panose="020B0609030804020204" pitchFamily="49" charset="0"/>
              </a:rPr>
            </a:br>
            <a:r>
              <a:rPr lang="en-US" b="0" dirty="0">
                <a:solidFill>
                  <a:srgbClr val="CCCCCC"/>
                </a:solidFill>
                <a:effectLst/>
                <a:latin typeface="Menlo" panose="020B0609030804020204" pitchFamily="49" charset="0"/>
              </a:rPr>
              <a:t>Then, to create a branch we can run:</a:t>
            </a:r>
          </a:p>
          <a:p>
            <a:br>
              <a:rPr lang="en-US" b="0" dirty="0">
                <a:solidFill>
                  <a:srgbClr val="CCCCCC"/>
                </a:solidFill>
                <a:effectLst/>
                <a:latin typeface="Menlo" panose="020B0609030804020204" pitchFamily="49" charset="0"/>
              </a:rPr>
            </a:br>
            <a:r>
              <a:rPr lang="en-US" b="0" dirty="0">
                <a:solidFill>
                  <a:srgbClr val="CCCCCC"/>
                </a:solidFill>
                <a:effectLst/>
                <a:latin typeface="Menlo" panose="020B0609030804020204" pitchFamily="49" charset="0"/>
              </a:rPr>
              <a:t>```bash</a:t>
            </a:r>
          </a:p>
          <a:p>
            <a:r>
              <a:rPr lang="en-US" b="0" dirty="0">
                <a:solidFill>
                  <a:srgbClr val="DCDCAA"/>
                </a:solidFill>
                <a:effectLst/>
                <a:latin typeface="Menlo" panose="020B0609030804020204" pitchFamily="49" charset="0"/>
              </a:rPr>
              <a:t>git</a:t>
            </a:r>
            <a:r>
              <a:rPr lang="en-US" b="0" dirty="0">
                <a:solidFill>
                  <a:srgbClr val="D4D4D4"/>
                </a:solidFill>
                <a:effectLst/>
                <a:latin typeface="Menlo" panose="020B0609030804020204" pitchFamily="49" charset="0"/>
              </a:rPr>
              <a:t> </a:t>
            </a:r>
            <a:r>
              <a:rPr lang="en-US" b="0" dirty="0">
                <a:solidFill>
                  <a:srgbClr val="CE9178"/>
                </a:solidFill>
                <a:effectLst/>
                <a:latin typeface="Menlo" panose="020B0609030804020204" pitchFamily="49" charset="0"/>
              </a:rPr>
              <a:t>checkout</a:t>
            </a:r>
            <a:r>
              <a:rPr lang="en-US" b="0" dirty="0">
                <a:solidFill>
                  <a:srgbClr val="D4D4D4"/>
                </a:solidFill>
                <a:effectLst/>
                <a:latin typeface="Menlo" panose="020B0609030804020204" pitchFamily="49" charset="0"/>
              </a:rPr>
              <a:t> </a:t>
            </a:r>
            <a:r>
              <a:rPr lang="en-US" b="0" dirty="0">
                <a:solidFill>
                  <a:srgbClr val="569CD6"/>
                </a:solidFill>
                <a:effectLst/>
                <a:latin typeface="Menlo" panose="020B0609030804020204" pitchFamily="49" charset="0"/>
              </a:rPr>
              <a:t>-b</a:t>
            </a:r>
            <a:r>
              <a:rPr lang="en-US" b="0" dirty="0">
                <a:solidFill>
                  <a:srgbClr val="D4D4D4"/>
                </a:solidFill>
                <a:effectLst/>
                <a:latin typeface="Menlo" panose="020B0609030804020204" pitchFamily="49" charset="0"/>
              </a:rPr>
              <a:t> </a:t>
            </a:r>
            <a:r>
              <a:rPr lang="en-US" b="0" dirty="0" err="1">
                <a:solidFill>
                  <a:srgbClr val="CE9178"/>
                </a:solidFill>
                <a:effectLst/>
                <a:latin typeface="Menlo" panose="020B0609030804020204" pitchFamily="49" charset="0"/>
              </a:rPr>
              <a:t>my_new_branch</a:t>
            </a:r>
            <a:endParaRPr lang="en-US" b="0" dirty="0">
              <a:solidFill>
                <a:srgbClr val="CCCCCC"/>
              </a:solidFill>
              <a:effectLst/>
              <a:latin typeface="Menlo" panose="020B0609030804020204" pitchFamily="49" charset="0"/>
            </a:endParaRPr>
          </a:p>
          <a:p>
            <a:r>
              <a:rPr lang="en-US" b="0" dirty="0">
                <a:solidFill>
                  <a:srgbClr val="CCCCCC"/>
                </a:solidFill>
                <a:effectLst/>
                <a:latin typeface="Menlo" panose="020B0609030804020204" pitchFamily="49" charset="0"/>
              </a:rPr>
              <a:t>```</a:t>
            </a:r>
          </a:p>
          <a:p>
            <a:br>
              <a:rPr lang="en-US" b="0" dirty="0">
                <a:solidFill>
                  <a:srgbClr val="CCCCCC"/>
                </a:solidFill>
                <a:effectLst/>
                <a:latin typeface="Menlo" panose="020B0609030804020204" pitchFamily="49" charset="0"/>
              </a:rPr>
            </a:br>
            <a:r>
              <a:rPr lang="en-US" b="0" dirty="0">
                <a:solidFill>
                  <a:srgbClr val="CCCCCC"/>
                </a:solidFill>
                <a:effectLst/>
                <a:latin typeface="Menlo" panose="020B0609030804020204" pitchFamily="49" charset="0"/>
              </a:rPr>
              <a:t>This will create the branch </a:t>
            </a:r>
            <a:r>
              <a:rPr lang="en-US" b="0" dirty="0">
                <a:solidFill>
                  <a:srgbClr val="CE9178"/>
                </a:solidFill>
                <a:effectLst/>
                <a:latin typeface="Menlo" panose="020B0609030804020204" pitchFamily="49" charset="0"/>
              </a:rPr>
              <a:t>`</a:t>
            </a:r>
            <a:r>
              <a:rPr lang="en-US" b="0" dirty="0" err="1">
                <a:solidFill>
                  <a:srgbClr val="CE9178"/>
                </a:solidFill>
                <a:effectLst/>
                <a:latin typeface="Menlo" panose="020B0609030804020204" pitchFamily="49" charset="0"/>
              </a:rPr>
              <a:t>my_new_branch</a:t>
            </a:r>
            <a:r>
              <a:rPr lang="en-US" b="0" dirty="0">
                <a:solidFill>
                  <a:srgbClr val="CE9178"/>
                </a:solidFill>
                <a:effectLst/>
                <a:latin typeface="Menlo" panose="020B0609030804020204" pitchFamily="49" charset="0"/>
              </a:rPr>
              <a:t>`</a:t>
            </a:r>
            <a:r>
              <a:rPr lang="en-US" b="0" dirty="0">
                <a:solidFill>
                  <a:srgbClr val="CCCCCC"/>
                </a:solidFill>
                <a:effectLst/>
                <a:latin typeface="Menlo" panose="020B0609030804020204" pitchFamily="49" charset="0"/>
              </a:rPr>
              <a:t> and move you to the new branch. If you run </a:t>
            </a:r>
            <a:r>
              <a:rPr lang="en-US" b="0" dirty="0">
                <a:solidFill>
                  <a:srgbClr val="CE9178"/>
                </a:solidFill>
                <a:effectLst/>
                <a:latin typeface="Menlo" panose="020B0609030804020204" pitchFamily="49" charset="0"/>
              </a:rPr>
              <a:t>`git status`</a:t>
            </a:r>
            <a:r>
              <a:rPr lang="en-US" b="0" dirty="0">
                <a:solidFill>
                  <a:srgbClr val="CCCCCC"/>
                </a:solidFill>
                <a:effectLst/>
                <a:latin typeface="Menlo" panose="020B0609030804020204" pitchFamily="49" charset="0"/>
              </a:rPr>
              <a:t> at this point it will display </a:t>
            </a:r>
            <a:r>
              <a:rPr lang="en-US" b="0" dirty="0">
                <a:solidFill>
                  <a:srgbClr val="CE9178"/>
                </a:solidFill>
                <a:effectLst/>
                <a:latin typeface="Menlo" panose="020B0609030804020204" pitchFamily="49" charset="0"/>
              </a:rPr>
              <a:t>`On branch </a:t>
            </a:r>
            <a:r>
              <a:rPr lang="en-US" b="0" dirty="0" err="1">
                <a:solidFill>
                  <a:srgbClr val="CE9178"/>
                </a:solidFill>
                <a:effectLst/>
                <a:latin typeface="Menlo" panose="020B0609030804020204" pitchFamily="49" charset="0"/>
              </a:rPr>
              <a:t>my_new_branch</a:t>
            </a:r>
            <a:r>
              <a:rPr lang="en-US" b="0" dirty="0">
                <a:solidFill>
                  <a:srgbClr val="CE9178"/>
                </a:solidFill>
                <a:effectLst/>
                <a:latin typeface="Menlo" panose="020B0609030804020204" pitchFamily="49" charset="0"/>
              </a:rPr>
              <a:t>`</a:t>
            </a:r>
            <a:r>
              <a:rPr lang="en-US" b="0" dirty="0">
                <a:solidFill>
                  <a:srgbClr val="CCCCCC"/>
                </a:solidFill>
                <a:effectLst/>
                <a:latin typeface="Menlo" panose="020B0609030804020204" pitchFamily="49" charset="0"/>
              </a:rPr>
              <a:t>. Making and committing any changes will only update </a:t>
            </a:r>
            <a:r>
              <a:rPr lang="en-US" b="0" dirty="0">
                <a:solidFill>
                  <a:srgbClr val="CE9178"/>
                </a:solidFill>
                <a:effectLst/>
                <a:latin typeface="Menlo" panose="020B0609030804020204" pitchFamily="49" charset="0"/>
              </a:rPr>
              <a:t>`</a:t>
            </a:r>
            <a:r>
              <a:rPr lang="en-US" b="0" dirty="0" err="1">
                <a:solidFill>
                  <a:srgbClr val="CE9178"/>
                </a:solidFill>
                <a:effectLst/>
                <a:latin typeface="Menlo" panose="020B0609030804020204" pitchFamily="49" charset="0"/>
              </a:rPr>
              <a:t>my_new_branch</a:t>
            </a:r>
            <a:r>
              <a:rPr lang="en-US" b="0" dirty="0">
                <a:solidFill>
                  <a:srgbClr val="CE9178"/>
                </a:solidFill>
                <a:effectLst/>
                <a:latin typeface="Menlo" panose="020B0609030804020204" pitchFamily="49" charset="0"/>
              </a:rPr>
              <a:t>`</a:t>
            </a:r>
            <a:r>
              <a:rPr lang="en-US" b="0" dirty="0">
                <a:solidFill>
                  <a:srgbClr val="CCCCCC"/>
                </a:solidFill>
                <a:effectLst/>
                <a:latin typeface="Menlo" panose="020B0609030804020204" pitchFamily="49" charset="0"/>
              </a:rPr>
              <a:t>.</a:t>
            </a:r>
          </a:p>
          <a:p>
            <a:endParaRPr lang="en-US" dirty="0"/>
          </a:p>
          <a:p>
            <a:r>
              <a:rPr lang="en-US" b="0" dirty="0">
                <a:solidFill>
                  <a:srgbClr val="CCCCCC"/>
                </a:solidFill>
                <a:effectLst/>
                <a:latin typeface="Menlo" panose="020B0609030804020204" pitchFamily="49" charset="0"/>
              </a:rPr>
              <a:t>The first time you push your branch to the remote repository, you will need to publish the branch by running run:</a:t>
            </a:r>
          </a:p>
          <a:p>
            <a:br>
              <a:rPr lang="en-US" b="0" dirty="0">
                <a:solidFill>
                  <a:srgbClr val="CCCCCC"/>
                </a:solidFill>
                <a:effectLst/>
                <a:latin typeface="Menlo" panose="020B0609030804020204" pitchFamily="49" charset="0"/>
              </a:rPr>
            </a:br>
            <a:r>
              <a:rPr lang="en-US" b="0" dirty="0">
                <a:solidFill>
                  <a:srgbClr val="CCCCCC"/>
                </a:solidFill>
                <a:effectLst/>
                <a:latin typeface="Menlo" panose="020B0609030804020204" pitchFamily="49" charset="0"/>
              </a:rPr>
              <a:t>```bash</a:t>
            </a:r>
          </a:p>
          <a:p>
            <a:r>
              <a:rPr lang="en-US" b="0" dirty="0">
                <a:solidFill>
                  <a:srgbClr val="DCDCAA"/>
                </a:solidFill>
                <a:effectLst/>
                <a:latin typeface="Menlo" panose="020B0609030804020204" pitchFamily="49" charset="0"/>
              </a:rPr>
              <a:t>git</a:t>
            </a:r>
            <a:r>
              <a:rPr lang="en-US" b="0" dirty="0">
                <a:solidFill>
                  <a:srgbClr val="D4D4D4"/>
                </a:solidFill>
                <a:effectLst/>
                <a:latin typeface="Menlo" panose="020B0609030804020204" pitchFamily="49" charset="0"/>
              </a:rPr>
              <a:t> </a:t>
            </a:r>
            <a:r>
              <a:rPr lang="en-US" b="0" dirty="0">
                <a:solidFill>
                  <a:srgbClr val="CE9178"/>
                </a:solidFill>
                <a:effectLst/>
                <a:latin typeface="Menlo" panose="020B0609030804020204" pitchFamily="49" charset="0"/>
              </a:rPr>
              <a:t>push</a:t>
            </a:r>
            <a:r>
              <a:rPr lang="en-US" b="0" dirty="0">
                <a:solidFill>
                  <a:srgbClr val="D4D4D4"/>
                </a:solidFill>
                <a:effectLst/>
                <a:latin typeface="Menlo" panose="020B0609030804020204" pitchFamily="49" charset="0"/>
              </a:rPr>
              <a:t> </a:t>
            </a:r>
            <a:r>
              <a:rPr lang="en-US" b="0" dirty="0">
                <a:solidFill>
                  <a:srgbClr val="569CD6"/>
                </a:solidFill>
                <a:effectLst/>
                <a:latin typeface="Menlo" panose="020B0609030804020204" pitchFamily="49" charset="0"/>
              </a:rPr>
              <a:t>--set-upstream</a:t>
            </a:r>
            <a:r>
              <a:rPr lang="en-US" b="0" dirty="0">
                <a:solidFill>
                  <a:srgbClr val="D4D4D4"/>
                </a:solidFill>
                <a:effectLst/>
                <a:latin typeface="Menlo" panose="020B0609030804020204" pitchFamily="49" charset="0"/>
              </a:rPr>
              <a:t> </a:t>
            </a:r>
            <a:r>
              <a:rPr lang="en-US" b="0" dirty="0">
                <a:solidFill>
                  <a:srgbClr val="CE9178"/>
                </a:solidFill>
                <a:effectLst/>
                <a:latin typeface="Menlo" panose="020B0609030804020204" pitchFamily="49" charset="0"/>
              </a:rPr>
              <a:t>origin</a:t>
            </a:r>
            <a:r>
              <a:rPr lang="en-US" b="0" dirty="0">
                <a:solidFill>
                  <a:srgbClr val="D4D4D4"/>
                </a:solidFill>
                <a:effectLst/>
                <a:latin typeface="Menlo" panose="020B0609030804020204" pitchFamily="49" charset="0"/>
              </a:rPr>
              <a:t> </a:t>
            </a:r>
            <a:r>
              <a:rPr lang="en-US" b="0" dirty="0" err="1">
                <a:solidFill>
                  <a:srgbClr val="CE9178"/>
                </a:solidFill>
                <a:effectLst/>
                <a:latin typeface="Menlo" panose="020B0609030804020204" pitchFamily="49" charset="0"/>
              </a:rPr>
              <a:t>my_new_branch</a:t>
            </a:r>
            <a:endParaRPr lang="en-US" b="0" dirty="0">
              <a:solidFill>
                <a:srgbClr val="CCCCCC"/>
              </a:solidFill>
              <a:effectLst/>
              <a:latin typeface="Menlo" panose="020B0609030804020204" pitchFamily="49" charset="0"/>
            </a:endParaRPr>
          </a:p>
          <a:p>
            <a:r>
              <a:rPr lang="en-US" b="0" dirty="0">
                <a:solidFill>
                  <a:srgbClr val="CCCCCC"/>
                </a:solidFill>
                <a:effectLst/>
                <a:latin typeface="Menlo" panose="020B0609030804020204" pitchFamily="49" charset="0"/>
              </a:rPr>
              <a:t>```</a:t>
            </a:r>
          </a:p>
          <a:p>
            <a:br>
              <a:rPr lang="en-US" b="0" dirty="0">
                <a:solidFill>
                  <a:srgbClr val="CCCCCC"/>
                </a:solidFill>
                <a:effectLst/>
                <a:latin typeface="Menlo" panose="020B0609030804020204" pitchFamily="49" charset="0"/>
              </a:rPr>
            </a:br>
            <a:r>
              <a:rPr lang="en-US" b="0" dirty="0">
                <a:solidFill>
                  <a:srgbClr val="CCCCCC"/>
                </a:solidFill>
                <a:effectLst/>
                <a:latin typeface="Menlo" panose="020B0609030804020204" pitchFamily="49" charset="0"/>
              </a:rPr>
              <a:t>After this any commits can be pushed with a simple </a:t>
            </a:r>
            <a:r>
              <a:rPr lang="en-US" b="0" dirty="0">
                <a:solidFill>
                  <a:srgbClr val="CE9178"/>
                </a:solidFill>
                <a:effectLst/>
                <a:latin typeface="Menlo" panose="020B0609030804020204" pitchFamily="49" charset="0"/>
              </a:rPr>
              <a:t>`git push`</a:t>
            </a:r>
            <a:r>
              <a:rPr lang="en-US" b="0" dirty="0">
                <a:solidFill>
                  <a:srgbClr val="CCCCCC"/>
                </a:solidFill>
                <a:effectLst/>
                <a:latin typeface="Menlo" panose="020B0609030804020204" pitchFamily="49" charset="0"/>
              </a:rPr>
              <a:t>.</a:t>
            </a:r>
          </a:p>
          <a:p>
            <a:endParaRPr lang="en-US" dirty="0"/>
          </a:p>
        </p:txBody>
      </p:sp>
      <p:sp>
        <p:nvSpPr>
          <p:cNvPr id="4" name="Slide Number Placeholder 3"/>
          <p:cNvSpPr>
            <a:spLocks noGrp="1"/>
          </p:cNvSpPr>
          <p:nvPr>
            <p:ph type="sldNum" sz="quarter" idx="5"/>
          </p:nvPr>
        </p:nvSpPr>
        <p:spPr/>
        <p:txBody>
          <a:bodyPr/>
          <a:lstStyle/>
          <a:p>
            <a:fld id="{729A9A33-2617-9741-9692-B8CF37E91C8E}" type="slidenum">
              <a:rPr lang="en-US" smtClean="0"/>
              <a:t>11</a:t>
            </a:fld>
            <a:endParaRPr lang="en-US"/>
          </a:p>
        </p:txBody>
      </p:sp>
    </p:spTree>
    <p:extLst>
      <p:ext uri="{BB962C8B-B14F-4D97-AF65-F5344CB8AC3E}">
        <p14:creationId xmlns:p14="http://schemas.microsoft.com/office/powerpoint/2010/main" val="340662490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dirty="0">
                <a:solidFill>
                  <a:srgbClr val="CCCCCC"/>
                </a:solidFill>
                <a:effectLst/>
                <a:latin typeface="Menlo" panose="020B0609030804020204" pitchFamily="49" charset="0"/>
              </a:rPr>
              <a:t>You can create a branch on your local clone of the repository. If didn't just clone the repository it is always good to make sure you have any recent changes to the main branch by checking out the main branch and running "git pull":</a:t>
            </a:r>
          </a:p>
          <a:p>
            <a:br>
              <a:rPr lang="en-US" b="0" dirty="0">
                <a:solidFill>
                  <a:srgbClr val="CCCCCC"/>
                </a:solidFill>
                <a:effectLst/>
                <a:latin typeface="Menlo" panose="020B0609030804020204" pitchFamily="49" charset="0"/>
              </a:rPr>
            </a:br>
            <a:r>
              <a:rPr lang="en-US" b="0" dirty="0">
                <a:solidFill>
                  <a:srgbClr val="CCCCCC"/>
                </a:solidFill>
                <a:effectLst/>
                <a:latin typeface="Menlo" panose="020B0609030804020204" pitchFamily="49" charset="0"/>
              </a:rPr>
              <a:t>```bash</a:t>
            </a:r>
          </a:p>
          <a:p>
            <a:r>
              <a:rPr lang="en-US" b="0" dirty="0">
                <a:solidFill>
                  <a:srgbClr val="DCDCAA"/>
                </a:solidFill>
                <a:effectLst/>
                <a:latin typeface="Menlo" panose="020B0609030804020204" pitchFamily="49" charset="0"/>
              </a:rPr>
              <a:t>git</a:t>
            </a:r>
            <a:r>
              <a:rPr lang="en-US" b="0" dirty="0">
                <a:solidFill>
                  <a:srgbClr val="D4D4D4"/>
                </a:solidFill>
                <a:effectLst/>
                <a:latin typeface="Menlo" panose="020B0609030804020204" pitchFamily="49" charset="0"/>
              </a:rPr>
              <a:t> </a:t>
            </a:r>
            <a:r>
              <a:rPr lang="en-US" b="0" dirty="0">
                <a:solidFill>
                  <a:srgbClr val="CE9178"/>
                </a:solidFill>
                <a:effectLst/>
                <a:latin typeface="Menlo" panose="020B0609030804020204" pitchFamily="49" charset="0"/>
              </a:rPr>
              <a:t>checkout</a:t>
            </a:r>
            <a:r>
              <a:rPr lang="en-US" b="0" dirty="0">
                <a:solidFill>
                  <a:srgbClr val="D4D4D4"/>
                </a:solidFill>
                <a:effectLst/>
                <a:latin typeface="Menlo" panose="020B0609030804020204" pitchFamily="49" charset="0"/>
              </a:rPr>
              <a:t> </a:t>
            </a:r>
            <a:r>
              <a:rPr lang="en-US" b="0" dirty="0">
                <a:solidFill>
                  <a:srgbClr val="CE9178"/>
                </a:solidFill>
                <a:effectLst/>
                <a:latin typeface="Menlo" panose="020B0609030804020204" pitchFamily="49" charset="0"/>
              </a:rPr>
              <a:t>main</a:t>
            </a:r>
            <a:endParaRPr lang="en-US" b="0" dirty="0">
              <a:solidFill>
                <a:srgbClr val="CCCCCC"/>
              </a:solidFill>
              <a:effectLst/>
              <a:latin typeface="Menlo" panose="020B0609030804020204" pitchFamily="49" charset="0"/>
            </a:endParaRPr>
          </a:p>
          <a:p>
            <a:r>
              <a:rPr lang="en-US" b="0" dirty="0">
                <a:solidFill>
                  <a:srgbClr val="DCDCAA"/>
                </a:solidFill>
                <a:effectLst/>
                <a:latin typeface="Menlo" panose="020B0609030804020204" pitchFamily="49" charset="0"/>
              </a:rPr>
              <a:t>git</a:t>
            </a:r>
            <a:r>
              <a:rPr lang="en-US" b="0" dirty="0">
                <a:solidFill>
                  <a:srgbClr val="D4D4D4"/>
                </a:solidFill>
                <a:effectLst/>
                <a:latin typeface="Menlo" panose="020B0609030804020204" pitchFamily="49" charset="0"/>
              </a:rPr>
              <a:t> </a:t>
            </a:r>
            <a:r>
              <a:rPr lang="en-US" b="0" dirty="0">
                <a:solidFill>
                  <a:srgbClr val="CE9178"/>
                </a:solidFill>
                <a:effectLst/>
                <a:latin typeface="Menlo" panose="020B0609030804020204" pitchFamily="49" charset="0"/>
              </a:rPr>
              <a:t>pull</a:t>
            </a:r>
            <a:endParaRPr lang="en-US" b="0" dirty="0">
              <a:solidFill>
                <a:srgbClr val="CCCCCC"/>
              </a:solidFill>
              <a:effectLst/>
              <a:latin typeface="Menlo" panose="020B0609030804020204" pitchFamily="49" charset="0"/>
            </a:endParaRPr>
          </a:p>
          <a:p>
            <a:r>
              <a:rPr lang="en-US" b="0" dirty="0">
                <a:solidFill>
                  <a:srgbClr val="CCCCCC"/>
                </a:solidFill>
                <a:effectLst/>
                <a:latin typeface="Menlo" panose="020B0609030804020204" pitchFamily="49" charset="0"/>
              </a:rPr>
              <a:t>```</a:t>
            </a:r>
          </a:p>
          <a:p>
            <a:br>
              <a:rPr lang="en-US" b="0" dirty="0">
                <a:solidFill>
                  <a:srgbClr val="CCCCCC"/>
                </a:solidFill>
                <a:effectLst/>
                <a:latin typeface="Menlo" panose="020B0609030804020204" pitchFamily="49" charset="0"/>
              </a:rPr>
            </a:br>
            <a:r>
              <a:rPr lang="en-US" b="0" dirty="0">
                <a:solidFill>
                  <a:srgbClr val="CCCCCC"/>
                </a:solidFill>
                <a:effectLst/>
                <a:latin typeface="Menlo" panose="020B0609030804020204" pitchFamily="49" charset="0"/>
              </a:rPr>
              <a:t>Then, to create a branch we can run:</a:t>
            </a:r>
          </a:p>
          <a:p>
            <a:br>
              <a:rPr lang="en-US" b="0" dirty="0">
                <a:solidFill>
                  <a:srgbClr val="CCCCCC"/>
                </a:solidFill>
                <a:effectLst/>
                <a:latin typeface="Menlo" panose="020B0609030804020204" pitchFamily="49" charset="0"/>
              </a:rPr>
            </a:br>
            <a:r>
              <a:rPr lang="en-US" b="0" dirty="0">
                <a:solidFill>
                  <a:srgbClr val="CCCCCC"/>
                </a:solidFill>
                <a:effectLst/>
                <a:latin typeface="Menlo" panose="020B0609030804020204" pitchFamily="49" charset="0"/>
              </a:rPr>
              <a:t>```bash</a:t>
            </a:r>
          </a:p>
          <a:p>
            <a:r>
              <a:rPr lang="en-US" b="0" dirty="0">
                <a:solidFill>
                  <a:srgbClr val="DCDCAA"/>
                </a:solidFill>
                <a:effectLst/>
                <a:latin typeface="Menlo" panose="020B0609030804020204" pitchFamily="49" charset="0"/>
              </a:rPr>
              <a:t>git</a:t>
            </a:r>
            <a:r>
              <a:rPr lang="en-US" b="0" dirty="0">
                <a:solidFill>
                  <a:srgbClr val="D4D4D4"/>
                </a:solidFill>
                <a:effectLst/>
                <a:latin typeface="Menlo" panose="020B0609030804020204" pitchFamily="49" charset="0"/>
              </a:rPr>
              <a:t> </a:t>
            </a:r>
            <a:r>
              <a:rPr lang="en-US" b="0" dirty="0">
                <a:solidFill>
                  <a:srgbClr val="CE9178"/>
                </a:solidFill>
                <a:effectLst/>
                <a:latin typeface="Menlo" panose="020B0609030804020204" pitchFamily="49" charset="0"/>
              </a:rPr>
              <a:t>checkout</a:t>
            </a:r>
            <a:r>
              <a:rPr lang="en-US" b="0" dirty="0">
                <a:solidFill>
                  <a:srgbClr val="D4D4D4"/>
                </a:solidFill>
                <a:effectLst/>
                <a:latin typeface="Menlo" panose="020B0609030804020204" pitchFamily="49" charset="0"/>
              </a:rPr>
              <a:t> </a:t>
            </a:r>
            <a:r>
              <a:rPr lang="en-US" b="0" dirty="0">
                <a:solidFill>
                  <a:srgbClr val="569CD6"/>
                </a:solidFill>
                <a:effectLst/>
                <a:latin typeface="Menlo" panose="020B0609030804020204" pitchFamily="49" charset="0"/>
              </a:rPr>
              <a:t>-b</a:t>
            </a:r>
            <a:r>
              <a:rPr lang="en-US" b="0" dirty="0">
                <a:solidFill>
                  <a:srgbClr val="D4D4D4"/>
                </a:solidFill>
                <a:effectLst/>
                <a:latin typeface="Menlo" panose="020B0609030804020204" pitchFamily="49" charset="0"/>
              </a:rPr>
              <a:t> </a:t>
            </a:r>
            <a:r>
              <a:rPr lang="en-US" b="0" dirty="0" err="1">
                <a:solidFill>
                  <a:srgbClr val="CE9178"/>
                </a:solidFill>
                <a:effectLst/>
                <a:latin typeface="Menlo" panose="020B0609030804020204" pitchFamily="49" charset="0"/>
              </a:rPr>
              <a:t>my_new_branch</a:t>
            </a:r>
            <a:endParaRPr lang="en-US" b="0" dirty="0">
              <a:solidFill>
                <a:srgbClr val="CCCCCC"/>
              </a:solidFill>
              <a:effectLst/>
              <a:latin typeface="Menlo" panose="020B0609030804020204" pitchFamily="49" charset="0"/>
            </a:endParaRPr>
          </a:p>
          <a:p>
            <a:r>
              <a:rPr lang="en-US" b="0" dirty="0">
                <a:solidFill>
                  <a:srgbClr val="CCCCCC"/>
                </a:solidFill>
                <a:effectLst/>
                <a:latin typeface="Menlo" panose="020B0609030804020204" pitchFamily="49" charset="0"/>
              </a:rPr>
              <a:t>```</a:t>
            </a:r>
          </a:p>
          <a:p>
            <a:br>
              <a:rPr lang="en-US" b="0" dirty="0">
                <a:solidFill>
                  <a:srgbClr val="CCCCCC"/>
                </a:solidFill>
                <a:effectLst/>
                <a:latin typeface="Menlo" panose="020B0609030804020204" pitchFamily="49" charset="0"/>
              </a:rPr>
            </a:br>
            <a:r>
              <a:rPr lang="en-US" b="0" dirty="0">
                <a:solidFill>
                  <a:srgbClr val="CCCCCC"/>
                </a:solidFill>
                <a:effectLst/>
                <a:latin typeface="Menlo" panose="020B0609030804020204" pitchFamily="49" charset="0"/>
              </a:rPr>
              <a:t>This will create the branch </a:t>
            </a:r>
            <a:r>
              <a:rPr lang="en-US" b="0" dirty="0">
                <a:solidFill>
                  <a:srgbClr val="CE9178"/>
                </a:solidFill>
                <a:effectLst/>
                <a:latin typeface="Menlo" panose="020B0609030804020204" pitchFamily="49" charset="0"/>
              </a:rPr>
              <a:t>`</a:t>
            </a:r>
            <a:r>
              <a:rPr lang="en-US" b="0" dirty="0" err="1">
                <a:solidFill>
                  <a:srgbClr val="CE9178"/>
                </a:solidFill>
                <a:effectLst/>
                <a:latin typeface="Menlo" panose="020B0609030804020204" pitchFamily="49" charset="0"/>
              </a:rPr>
              <a:t>my_new_branch</a:t>
            </a:r>
            <a:r>
              <a:rPr lang="en-US" b="0" dirty="0">
                <a:solidFill>
                  <a:srgbClr val="CE9178"/>
                </a:solidFill>
                <a:effectLst/>
                <a:latin typeface="Menlo" panose="020B0609030804020204" pitchFamily="49" charset="0"/>
              </a:rPr>
              <a:t>`</a:t>
            </a:r>
            <a:r>
              <a:rPr lang="en-US" b="0" dirty="0">
                <a:solidFill>
                  <a:srgbClr val="CCCCCC"/>
                </a:solidFill>
                <a:effectLst/>
                <a:latin typeface="Menlo" panose="020B0609030804020204" pitchFamily="49" charset="0"/>
              </a:rPr>
              <a:t> and move you to the new branch. If you run </a:t>
            </a:r>
            <a:r>
              <a:rPr lang="en-US" b="0" dirty="0">
                <a:solidFill>
                  <a:srgbClr val="CE9178"/>
                </a:solidFill>
                <a:effectLst/>
                <a:latin typeface="Menlo" panose="020B0609030804020204" pitchFamily="49" charset="0"/>
              </a:rPr>
              <a:t>`git status`</a:t>
            </a:r>
            <a:r>
              <a:rPr lang="en-US" b="0" dirty="0">
                <a:solidFill>
                  <a:srgbClr val="CCCCCC"/>
                </a:solidFill>
                <a:effectLst/>
                <a:latin typeface="Menlo" panose="020B0609030804020204" pitchFamily="49" charset="0"/>
              </a:rPr>
              <a:t> at this point it will display </a:t>
            </a:r>
            <a:r>
              <a:rPr lang="en-US" b="0" dirty="0">
                <a:solidFill>
                  <a:srgbClr val="CE9178"/>
                </a:solidFill>
                <a:effectLst/>
                <a:latin typeface="Menlo" panose="020B0609030804020204" pitchFamily="49" charset="0"/>
              </a:rPr>
              <a:t>`On branch </a:t>
            </a:r>
            <a:r>
              <a:rPr lang="en-US" b="0" dirty="0" err="1">
                <a:solidFill>
                  <a:srgbClr val="CE9178"/>
                </a:solidFill>
                <a:effectLst/>
                <a:latin typeface="Menlo" panose="020B0609030804020204" pitchFamily="49" charset="0"/>
              </a:rPr>
              <a:t>my_new_branch</a:t>
            </a:r>
            <a:r>
              <a:rPr lang="en-US" b="0" dirty="0">
                <a:solidFill>
                  <a:srgbClr val="CE9178"/>
                </a:solidFill>
                <a:effectLst/>
                <a:latin typeface="Menlo" panose="020B0609030804020204" pitchFamily="49" charset="0"/>
              </a:rPr>
              <a:t>`</a:t>
            </a:r>
            <a:r>
              <a:rPr lang="en-US" b="0" dirty="0">
                <a:solidFill>
                  <a:srgbClr val="CCCCCC"/>
                </a:solidFill>
                <a:effectLst/>
                <a:latin typeface="Menlo" panose="020B0609030804020204" pitchFamily="49" charset="0"/>
              </a:rPr>
              <a:t>. Making and committing any changes will only update </a:t>
            </a:r>
            <a:r>
              <a:rPr lang="en-US" b="0" dirty="0">
                <a:solidFill>
                  <a:srgbClr val="CE9178"/>
                </a:solidFill>
                <a:effectLst/>
                <a:latin typeface="Menlo" panose="020B0609030804020204" pitchFamily="49" charset="0"/>
              </a:rPr>
              <a:t>`</a:t>
            </a:r>
            <a:r>
              <a:rPr lang="en-US" b="0" dirty="0" err="1">
                <a:solidFill>
                  <a:srgbClr val="CE9178"/>
                </a:solidFill>
                <a:effectLst/>
                <a:latin typeface="Menlo" panose="020B0609030804020204" pitchFamily="49" charset="0"/>
              </a:rPr>
              <a:t>my_new_branch</a:t>
            </a:r>
            <a:r>
              <a:rPr lang="en-US" b="0" dirty="0">
                <a:solidFill>
                  <a:srgbClr val="CE9178"/>
                </a:solidFill>
                <a:effectLst/>
                <a:latin typeface="Menlo" panose="020B0609030804020204" pitchFamily="49" charset="0"/>
              </a:rPr>
              <a:t>`</a:t>
            </a:r>
            <a:r>
              <a:rPr lang="en-US" b="0" dirty="0">
                <a:solidFill>
                  <a:srgbClr val="CCCCCC"/>
                </a:solidFill>
                <a:effectLst/>
                <a:latin typeface="Menlo" panose="020B0609030804020204" pitchFamily="49" charset="0"/>
              </a:rPr>
              <a:t>.</a:t>
            </a:r>
          </a:p>
          <a:p>
            <a:endParaRPr lang="en-US" dirty="0"/>
          </a:p>
          <a:p>
            <a:r>
              <a:rPr lang="en-US" b="0" dirty="0">
                <a:solidFill>
                  <a:srgbClr val="CCCCCC"/>
                </a:solidFill>
                <a:effectLst/>
                <a:latin typeface="Menlo" panose="020B0609030804020204" pitchFamily="49" charset="0"/>
              </a:rPr>
              <a:t>The first time you push your branch to the remote repository, you will need to publish the branch by running run:</a:t>
            </a:r>
          </a:p>
          <a:p>
            <a:br>
              <a:rPr lang="en-US" b="0" dirty="0">
                <a:solidFill>
                  <a:srgbClr val="CCCCCC"/>
                </a:solidFill>
                <a:effectLst/>
                <a:latin typeface="Menlo" panose="020B0609030804020204" pitchFamily="49" charset="0"/>
              </a:rPr>
            </a:br>
            <a:r>
              <a:rPr lang="en-US" b="0" dirty="0">
                <a:solidFill>
                  <a:srgbClr val="CCCCCC"/>
                </a:solidFill>
                <a:effectLst/>
                <a:latin typeface="Menlo" panose="020B0609030804020204" pitchFamily="49" charset="0"/>
              </a:rPr>
              <a:t>```bash</a:t>
            </a:r>
          </a:p>
          <a:p>
            <a:r>
              <a:rPr lang="en-US" b="0" dirty="0">
                <a:solidFill>
                  <a:srgbClr val="DCDCAA"/>
                </a:solidFill>
                <a:effectLst/>
                <a:latin typeface="Menlo" panose="020B0609030804020204" pitchFamily="49" charset="0"/>
              </a:rPr>
              <a:t>git</a:t>
            </a:r>
            <a:r>
              <a:rPr lang="en-US" b="0" dirty="0">
                <a:solidFill>
                  <a:srgbClr val="D4D4D4"/>
                </a:solidFill>
                <a:effectLst/>
                <a:latin typeface="Menlo" panose="020B0609030804020204" pitchFamily="49" charset="0"/>
              </a:rPr>
              <a:t> </a:t>
            </a:r>
            <a:r>
              <a:rPr lang="en-US" b="0" dirty="0">
                <a:solidFill>
                  <a:srgbClr val="CE9178"/>
                </a:solidFill>
                <a:effectLst/>
                <a:latin typeface="Menlo" panose="020B0609030804020204" pitchFamily="49" charset="0"/>
              </a:rPr>
              <a:t>push</a:t>
            </a:r>
            <a:r>
              <a:rPr lang="en-US" b="0" dirty="0">
                <a:solidFill>
                  <a:srgbClr val="D4D4D4"/>
                </a:solidFill>
                <a:effectLst/>
                <a:latin typeface="Menlo" panose="020B0609030804020204" pitchFamily="49" charset="0"/>
              </a:rPr>
              <a:t> </a:t>
            </a:r>
            <a:r>
              <a:rPr lang="en-US" b="0" dirty="0">
                <a:solidFill>
                  <a:srgbClr val="569CD6"/>
                </a:solidFill>
                <a:effectLst/>
                <a:latin typeface="Menlo" panose="020B0609030804020204" pitchFamily="49" charset="0"/>
              </a:rPr>
              <a:t>--set-upstream</a:t>
            </a:r>
            <a:r>
              <a:rPr lang="en-US" b="0" dirty="0">
                <a:solidFill>
                  <a:srgbClr val="D4D4D4"/>
                </a:solidFill>
                <a:effectLst/>
                <a:latin typeface="Menlo" panose="020B0609030804020204" pitchFamily="49" charset="0"/>
              </a:rPr>
              <a:t> </a:t>
            </a:r>
            <a:r>
              <a:rPr lang="en-US" b="0" dirty="0">
                <a:solidFill>
                  <a:srgbClr val="CE9178"/>
                </a:solidFill>
                <a:effectLst/>
                <a:latin typeface="Menlo" panose="020B0609030804020204" pitchFamily="49" charset="0"/>
              </a:rPr>
              <a:t>origin</a:t>
            </a:r>
            <a:r>
              <a:rPr lang="en-US" b="0" dirty="0">
                <a:solidFill>
                  <a:srgbClr val="D4D4D4"/>
                </a:solidFill>
                <a:effectLst/>
                <a:latin typeface="Menlo" panose="020B0609030804020204" pitchFamily="49" charset="0"/>
              </a:rPr>
              <a:t> </a:t>
            </a:r>
            <a:r>
              <a:rPr lang="en-US" b="0" dirty="0" err="1">
                <a:solidFill>
                  <a:srgbClr val="CE9178"/>
                </a:solidFill>
                <a:effectLst/>
                <a:latin typeface="Menlo" panose="020B0609030804020204" pitchFamily="49" charset="0"/>
              </a:rPr>
              <a:t>my_new_branch</a:t>
            </a:r>
            <a:endParaRPr lang="en-US" b="0" dirty="0">
              <a:solidFill>
                <a:srgbClr val="CCCCCC"/>
              </a:solidFill>
              <a:effectLst/>
              <a:latin typeface="Menlo" panose="020B0609030804020204" pitchFamily="49" charset="0"/>
            </a:endParaRPr>
          </a:p>
          <a:p>
            <a:r>
              <a:rPr lang="en-US" b="0" dirty="0">
                <a:solidFill>
                  <a:srgbClr val="CCCCCC"/>
                </a:solidFill>
                <a:effectLst/>
                <a:latin typeface="Menlo" panose="020B0609030804020204" pitchFamily="49" charset="0"/>
              </a:rPr>
              <a:t>```</a:t>
            </a:r>
          </a:p>
          <a:p>
            <a:br>
              <a:rPr lang="en-US" b="0" dirty="0">
                <a:solidFill>
                  <a:srgbClr val="CCCCCC"/>
                </a:solidFill>
                <a:effectLst/>
                <a:latin typeface="Menlo" panose="020B0609030804020204" pitchFamily="49" charset="0"/>
              </a:rPr>
            </a:br>
            <a:r>
              <a:rPr lang="en-US" b="0" dirty="0">
                <a:solidFill>
                  <a:srgbClr val="CCCCCC"/>
                </a:solidFill>
                <a:effectLst/>
                <a:latin typeface="Menlo" panose="020B0609030804020204" pitchFamily="49" charset="0"/>
              </a:rPr>
              <a:t>After this any commits can be pushed with a simple </a:t>
            </a:r>
            <a:r>
              <a:rPr lang="en-US" b="0" dirty="0">
                <a:solidFill>
                  <a:srgbClr val="CE9178"/>
                </a:solidFill>
                <a:effectLst/>
                <a:latin typeface="Menlo" panose="020B0609030804020204" pitchFamily="49" charset="0"/>
              </a:rPr>
              <a:t>`git push`</a:t>
            </a:r>
            <a:r>
              <a:rPr lang="en-US" b="0" dirty="0">
                <a:solidFill>
                  <a:srgbClr val="CCCCCC"/>
                </a:solidFill>
                <a:effectLst/>
                <a:latin typeface="Menlo" panose="020B0609030804020204" pitchFamily="49" charset="0"/>
              </a:rPr>
              <a:t>.</a:t>
            </a:r>
          </a:p>
          <a:p>
            <a:endParaRPr lang="en-US" dirty="0"/>
          </a:p>
        </p:txBody>
      </p:sp>
      <p:sp>
        <p:nvSpPr>
          <p:cNvPr id="4" name="Slide Number Placeholder 3"/>
          <p:cNvSpPr>
            <a:spLocks noGrp="1"/>
          </p:cNvSpPr>
          <p:nvPr>
            <p:ph type="sldNum" sz="quarter" idx="5"/>
          </p:nvPr>
        </p:nvSpPr>
        <p:spPr/>
        <p:txBody>
          <a:bodyPr/>
          <a:lstStyle/>
          <a:p>
            <a:fld id="{729A9A33-2617-9741-9692-B8CF37E91C8E}" type="slidenum">
              <a:rPr lang="en-US" smtClean="0"/>
              <a:t>12</a:t>
            </a:fld>
            <a:endParaRPr lang="en-US"/>
          </a:p>
        </p:txBody>
      </p:sp>
    </p:spTree>
    <p:extLst>
      <p:ext uri="{BB962C8B-B14F-4D97-AF65-F5344CB8AC3E}">
        <p14:creationId xmlns:p14="http://schemas.microsoft.com/office/powerpoint/2010/main" val="233989153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0" dirty="0">
              <a:solidFill>
                <a:srgbClr val="CCCCCC"/>
              </a:solidFill>
              <a:effectLst/>
              <a:latin typeface="Menlo" panose="020B0609030804020204" pitchFamily="49" charset="0"/>
            </a:endParaRPr>
          </a:p>
          <a:p>
            <a:r>
              <a:rPr lang="en-US" b="0" dirty="0">
                <a:solidFill>
                  <a:srgbClr val="CCCCCC"/>
                </a:solidFill>
                <a:effectLst/>
                <a:latin typeface="Menlo" panose="020B0609030804020204" pitchFamily="49" charset="0"/>
              </a:rPr>
              <a:t>If you need to switch to another existing branch you can use the </a:t>
            </a:r>
            <a:r>
              <a:rPr lang="en-US" b="0" dirty="0">
                <a:solidFill>
                  <a:srgbClr val="CE9178"/>
                </a:solidFill>
                <a:effectLst/>
                <a:latin typeface="Menlo" panose="020B0609030804020204" pitchFamily="49" charset="0"/>
              </a:rPr>
              <a:t>`git checkout`</a:t>
            </a:r>
            <a:r>
              <a:rPr lang="en-US" b="0" dirty="0">
                <a:solidFill>
                  <a:srgbClr val="CCCCCC"/>
                </a:solidFill>
                <a:effectLst/>
                <a:latin typeface="Menlo" panose="020B0609030804020204" pitchFamily="49" charset="0"/>
              </a:rPr>
              <a:t> command. For example, to switch back to the main branch you can run:</a:t>
            </a:r>
          </a:p>
          <a:p>
            <a:br>
              <a:rPr lang="en-US" b="0" dirty="0">
                <a:solidFill>
                  <a:srgbClr val="CCCCCC"/>
                </a:solidFill>
                <a:effectLst/>
                <a:latin typeface="Menlo" panose="020B0609030804020204" pitchFamily="49" charset="0"/>
              </a:rPr>
            </a:br>
            <a:r>
              <a:rPr lang="en-US" b="0" dirty="0">
                <a:solidFill>
                  <a:srgbClr val="CCCCCC"/>
                </a:solidFill>
                <a:effectLst/>
                <a:latin typeface="Menlo" panose="020B0609030804020204" pitchFamily="49" charset="0"/>
              </a:rPr>
              <a:t>```bash</a:t>
            </a:r>
          </a:p>
          <a:p>
            <a:r>
              <a:rPr lang="en-US" b="0" dirty="0">
                <a:solidFill>
                  <a:srgbClr val="DCDCAA"/>
                </a:solidFill>
                <a:effectLst/>
                <a:latin typeface="Menlo" panose="020B0609030804020204" pitchFamily="49" charset="0"/>
              </a:rPr>
              <a:t>git</a:t>
            </a:r>
            <a:r>
              <a:rPr lang="en-US" b="0" dirty="0">
                <a:solidFill>
                  <a:srgbClr val="D4D4D4"/>
                </a:solidFill>
                <a:effectLst/>
                <a:latin typeface="Menlo" panose="020B0609030804020204" pitchFamily="49" charset="0"/>
              </a:rPr>
              <a:t> </a:t>
            </a:r>
            <a:r>
              <a:rPr lang="en-US" b="0" dirty="0">
                <a:solidFill>
                  <a:srgbClr val="CE9178"/>
                </a:solidFill>
                <a:effectLst/>
                <a:latin typeface="Menlo" panose="020B0609030804020204" pitchFamily="49" charset="0"/>
              </a:rPr>
              <a:t>checkout</a:t>
            </a:r>
            <a:r>
              <a:rPr lang="en-US" b="0" dirty="0">
                <a:solidFill>
                  <a:srgbClr val="D4D4D4"/>
                </a:solidFill>
                <a:effectLst/>
                <a:latin typeface="Menlo" panose="020B0609030804020204" pitchFamily="49" charset="0"/>
              </a:rPr>
              <a:t> </a:t>
            </a:r>
            <a:r>
              <a:rPr lang="en-US" b="0" dirty="0">
                <a:solidFill>
                  <a:srgbClr val="CE9178"/>
                </a:solidFill>
                <a:effectLst/>
                <a:latin typeface="Menlo" panose="020B0609030804020204" pitchFamily="49" charset="0"/>
              </a:rPr>
              <a:t>main</a:t>
            </a:r>
            <a:endParaRPr lang="en-US" b="0" dirty="0">
              <a:solidFill>
                <a:srgbClr val="CCCCCC"/>
              </a:solidFill>
              <a:effectLst/>
              <a:latin typeface="Menlo" panose="020B0609030804020204" pitchFamily="49" charset="0"/>
            </a:endParaRPr>
          </a:p>
          <a:p>
            <a:r>
              <a:rPr lang="en-US" b="0" dirty="0">
                <a:solidFill>
                  <a:srgbClr val="CCCCCC"/>
                </a:solidFill>
                <a:effectLst/>
                <a:latin typeface="Menlo" panose="020B0609030804020204" pitchFamily="49" charset="0"/>
              </a:rPr>
              <a:t>```</a:t>
            </a:r>
          </a:p>
          <a:p>
            <a:br>
              <a:rPr lang="en-US" b="0" dirty="0">
                <a:solidFill>
                  <a:srgbClr val="CCCCCC"/>
                </a:solidFill>
                <a:effectLst/>
                <a:latin typeface="Menlo" panose="020B0609030804020204" pitchFamily="49" charset="0"/>
              </a:rPr>
            </a:br>
            <a:r>
              <a:rPr lang="en-US" b="0" dirty="0">
                <a:solidFill>
                  <a:srgbClr val="CCCCCC"/>
                </a:solidFill>
                <a:effectLst/>
                <a:latin typeface="Menlo" panose="020B0609030804020204" pitchFamily="49" charset="0"/>
              </a:rPr>
              <a:t>Remember, if you aren't sure which branch you are on you can run </a:t>
            </a:r>
            <a:r>
              <a:rPr lang="en-US" b="0" dirty="0">
                <a:solidFill>
                  <a:srgbClr val="CE9178"/>
                </a:solidFill>
                <a:effectLst/>
                <a:latin typeface="Menlo" panose="020B0609030804020204" pitchFamily="49" charset="0"/>
              </a:rPr>
              <a:t>`git status`</a:t>
            </a:r>
            <a:r>
              <a:rPr lang="en-US" b="0" dirty="0">
                <a:solidFill>
                  <a:srgbClr val="CCCCCC"/>
                </a:solidFill>
                <a:effectLst/>
                <a:latin typeface="Menlo" panose="020B0609030804020204" pitchFamily="49" charset="0"/>
              </a:rPr>
              <a:t>. It is good practice before you start making changes to any of your files to check that you are on the right branch with </a:t>
            </a:r>
            <a:r>
              <a:rPr lang="en-US" b="0" dirty="0">
                <a:solidFill>
                  <a:srgbClr val="CE9178"/>
                </a:solidFill>
                <a:effectLst/>
                <a:latin typeface="Menlo" panose="020B0609030804020204" pitchFamily="49" charset="0"/>
              </a:rPr>
              <a:t>`git status`</a:t>
            </a:r>
            <a:r>
              <a:rPr lang="en-US" b="0" dirty="0">
                <a:solidFill>
                  <a:srgbClr val="CCCCCC"/>
                </a:solidFill>
                <a:effectLst/>
                <a:latin typeface="Menlo" panose="020B0609030804020204" pitchFamily="49" charset="0"/>
              </a:rPr>
              <a:t>, particularly if you haven't touched the code recently.</a:t>
            </a:r>
          </a:p>
          <a:p>
            <a:endParaRPr lang="en-US" dirty="0"/>
          </a:p>
        </p:txBody>
      </p:sp>
      <p:sp>
        <p:nvSpPr>
          <p:cNvPr id="4" name="Slide Number Placeholder 3"/>
          <p:cNvSpPr>
            <a:spLocks noGrp="1"/>
          </p:cNvSpPr>
          <p:nvPr>
            <p:ph type="sldNum" sz="quarter" idx="5"/>
          </p:nvPr>
        </p:nvSpPr>
        <p:spPr/>
        <p:txBody>
          <a:bodyPr/>
          <a:lstStyle/>
          <a:p>
            <a:fld id="{729A9A33-2617-9741-9692-B8CF37E91C8E}" type="slidenum">
              <a:rPr lang="en-US" smtClean="0"/>
              <a:t>13</a:t>
            </a:fld>
            <a:endParaRPr lang="en-US"/>
          </a:p>
        </p:txBody>
      </p:sp>
    </p:spTree>
    <p:extLst>
      <p:ext uri="{BB962C8B-B14F-4D97-AF65-F5344CB8AC3E}">
        <p14:creationId xmlns:p14="http://schemas.microsoft.com/office/powerpoint/2010/main" val="300987480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dirty="0">
                <a:solidFill>
                  <a:srgbClr val="CCCCCC"/>
                </a:solidFill>
                <a:effectLst/>
                <a:latin typeface="Menlo" panose="020B0609030804020204" pitchFamily="49" charset="0"/>
              </a:rPr>
              <a:t>Bring the changes from one branch into another branch by merging them. When you merge branches, changes from the specified branch are merged into the branch that you currently have checked out. For example,</a:t>
            </a:r>
          </a:p>
          <a:p>
            <a:br>
              <a:rPr lang="en-US" b="0" dirty="0">
                <a:solidFill>
                  <a:srgbClr val="CCCCCC"/>
                </a:solidFill>
                <a:effectLst/>
                <a:latin typeface="Menlo" panose="020B0609030804020204" pitchFamily="49" charset="0"/>
              </a:rPr>
            </a:br>
            <a:r>
              <a:rPr lang="en-US" b="0" dirty="0">
                <a:solidFill>
                  <a:srgbClr val="CCCCCC"/>
                </a:solidFill>
                <a:effectLst/>
                <a:latin typeface="Menlo" panose="020B0609030804020204" pitchFamily="49" charset="0"/>
              </a:rPr>
              <a:t>```bash</a:t>
            </a:r>
          </a:p>
          <a:p>
            <a:r>
              <a:rPr lang="en-US" b="0" dirty="0">
                <a:solidFill>
                  <a:srgbClr val="DCDCAA"/>
                </a:solidFill>
                <a:effectLst/>
                <a:latin typeface="Menlo" panose="020B0609030804020204" pitchFamily="49" charset="0"/>
              </a:rPr>
              <a:t>git</a:t>
            </a:r>
            <a:r>
              <a:rPr lang="en-US" b="0" dirty="0">
                <a:solidFill>
                  <a:srgbClr val="D4D4D4"/>
                </a:solidFill>
                <a:effectLst/>
                <a:latin typeface="Menlo" panose="020B0609030804020204" pitchFamily="49" charset="0"/>
              </a:rPr>
              <a:t> </a:t>
            </a:r>
            <a:r>
              <a:rPr lang="en-US" b="0" dirty="0">
                <a:solidFill>
                  <a:srgbClr val="CE9178"/>
                </a:solidFill>
                <a:effectLst/>
                <a:latin typeface="Menlo" panose="020B0609030804020204" pitchFamily="49" charset="0"/>
              </a:rPr>
              <a:t>checkout</a:t>
            </a:r>
            <a:r>
              <a:rPr lang="en-US" b="0" dirty="0">
                <a:solidFill>
                  <a:srgbClr val="D4D4D4"/>
                </a:solidFill>
                <a:effectLst/>
                <a:latin typeface="Menlo" panose="020B0609030804020204" pitchFamily="49" charset="0"/>
              </a:rPr>
              <a:t> </a:t>
            </a:r>
            <a:r>
              <a:rPr lang="en-US" b="0" dirty="0" err="1">
                <a:solidFill>
                  <a:srgbClr val="CE9178"/>
                </a:solidFill>
                <a:effectLst/>
                <a:latin typeface="Menlo" panose="020B0609030804020204" pitchFamily="49" charset="0"/>
              </a:rPr>
              <a:t>my_new_branch</a:t>
            </a:r>
            <a:endParaRPr lang="en-US" b="0" dirty="0">
              <a:solidFill>
                <a:srgbClr val="CCCCCC"/>
              </a:solidFill>
              <a:effectLst/>
              <a:latin typeface="Menlo" panose="020B0609030804020204" pitchFamily="49" charset="0"/>
            </a:endParaRPr>
          </a:p>
          <a:p>
            <a:r>
              <a:rPr lang="en-US" b="0" dirty="0">
                <a:solidFill>
                  <a:srgbClr val="DCDCAA"/>
                </a:solidFill>
                <a:effectLst/>
                <a:latin typeface="Menlo" panose="020B0609030804020204" pitchFamily="49" charset="0"/>
              </a:rPr>
              <a:t>git</a:t>
            </a:r>
            <a:r>
              <a:rPr lang="en-US" b="0" dirty="0">
                <a:solidFill>
                  <a:srgbClr val="D4D4D4"/>
                </a:solidFill>
                <a:effectLst/>
                <a:latin typeface="Menlo" panose="020B0609030804020204" pitchFamily="49" charset="0"/>
              </a:rPr>
              <a:t> </a:t>
            </a:r>
            <a:r>
              <a:rPr lang="en-US" b="0" dirty="0">
                <a:solidFill>
                  <a:srgbClr val="CE9178"/>
                </a:solidFill>
                <a:effectLst/>
                <a:latin typeface="Menlo" panose="020B0609030804020204" pitchFamily="49" charset="0"/>
              </a:rPr>
              <a:t>merge</a:t>
            </a:r>
            <a:r>
              <a:rPr lang="en-US" b="0" dirty="0">
                <a:solidFill>
                  <a:srgbClr val="D4D4D4"/>
                </a:solidFill>
                <a:effectLst/>
                <a:latin typeface="Menlo" panose="020B0609030804020204" pitchFamily="49" charset="0"/>
              </a:rPr>
              <a:t> </a:t>
            </a:r>
            <a:r>
              <a:rPr lang="en-US" b="0" dirty="0">
                <a:solidFill>
                  <a:srgbClr val="CE9178"/>
                </a:solidFill>
                <a:effectLst/>
                <a:latin typeface="Menlo" panose="020B0609030804020204" pitchFamily="49" charset="0"/>
              </a:rPr>
              <a:t>main</a:t>
            </a:r>
            <a:endParaRPr lang="en-US" b="0" dirty="0">
              <a:solidFill>
                <a:srgbClr val="CCCCCC"/>
              </a:solidFill>
              <a:effectLst/>
              <a:latin typeface="Menlo" panose="020B0609030804020204" pitchFamily="49" charset="0"/>
            </a:endParaRPr>
          </a:p>
          <a:p>
            <a:r>
              <a:rPr lang="en-US" b="0" dirty="0">
                <a:solidFill>
                  <a:srgbClr val="CCCCCC"/>
                </a:solidFill>
                <a:effectLst/>
                <a:latin typeface="Menlo" panose="020B0609030804020204" pitchFamily="49" charset="0"/>
              </a:rPr>
              <a:t>```</a:t>
            </a:r>
          </a:p>
          <a:p>
            <a:br>
              <a:rPr lang="en-US" b="0" dirty="0">
                <a:solidFill>
                  <a:srgbClr val="CCCCCC"/>
                </a:solidFill>
                <a:effectLst/>
                <a:latin typeface="Menlo" panose="020B0609030804020204" pitchFamily="49" charset="0"/>
              </a:rPr>
            </a:br>
            <a:r>
              <a:rPr lang="en-US" b="0" dirty="0">
                <a:solidFill>
                  <a:srgbClr val="CCCCCC"/>
                </a:solidFill>
                <a:effectLst/>
                <a:latin typeface="Menlo" panose="020B0609030804020204" pitchFamily="49" charset="0"/>
              </a:rPr>
              <a:t>will merge any changes introduced to </a:t>
            </a:r>
            <a:r>
              <a:rPr lang="en-US" b="0" dirty="0">
                <a:solidFill>
                  <a:srgbClr val="CE9178"/>
                </a:solidFill>
                <a:effectLst/>
                <a:latin typeface="Menlo" panose="020B0609030804020204" pitchFamily="49" charset="0"/>
              </a:rPr>
              <a:t>`main`</a:t>
            </a:r>
            <a:r>
              <a:rPr lang="en-US" b="0" dirty="0">
                <a:solidFill>
                  <a:srgbClr val="CCCCCC"/>
                </a:solidFill>
                <a:effectLst/>
                <a:latin typeface="Menlo" panose="020B0609030804020204" pitchFamily="49" charset="0"/>
              </a:rPr>
              <a:t> into the </a:t>
            </a:r>
            <a:r>
              <a:rPr lang="en-US" b="0" dirty="0">
                <a:solidFill>
                  <a:srgbClr val="CE9178"/>
                </a:solidFill>
                <a:effectLst/>
                <a:latin typeface="Menlo" panose="020B0609030804020204" pitchFamily="49" charset="0"/>
              </a:rPr>
              <a:t>`</a:t>
            </a:r>
            <a:r>
              <a:rPr lang="en-US" b="0" dirty="0" err="1">
                <a:solidFill>
                  <a:srgbClr val="CE9178"/>
                </a:solidFill>
                <a:effectLst/>
                <a:latin typeface="Menlo" panose="020B0609030804020204" pitchFamily="49" charset="0"/>
              </a:rPr>
              <a:t>my_new_branch</a:t>
            </a:r>
            <a:r>
              <a:rPr lang="en-US" b="0" dirty="0">
                <a:solidFill>
                  <a:srgbClr val="CE9178"/>
                </a:solidFill>
                <a:effectLst/>
                <a:latin typeface="Menlo" panose="020B0609030804020204" pitchFamily="49" charset="0"/>
              </a:rPr>
              <a:t>`</a:t>
            </a:r>
            <a:r>
              <a:rPr lang="en-US" b="0" dirty="0">
                <a:solidFill>
                  <a:srgbClr val="CCCCCC"/>
                </a:solidFill>
                <a:effectLst/>
                <a:latin typeface="Menlo" panose="020B0609030804020204" pitchFamily="49" charset="0"/>
              </a:rPr>
              <a:t>. Merging in this direction is especially useful when you've been working on </a:t>
            </a:r>
            <a:r>
              <a:rPr lang="en-US" b="0" dirty="0">
                <a:solidFill>
                  <a:srgbClr val="CE9178"/>
                </a:solidFill>
                <a:effectLst/>
                <a:latin typeface="Menlo" panose="020B0609030804020204" pitchFamily="49" charset="0"/>
              </a:rPr>
              <a:t>`</a:t>
            </a:r>
            <a:r>
              <a:rPr lang="en-US" b="0" dirty="0" err="1">
                <a:solidFill>
                  <a:srgbClr val="CE9178"/>
                </a:solidFill>
                <a:effectLst/>
                <a:latin typeface="Menlo" panose="020B0609030804020204" pitchFamily="49" charset="0"/>
              </a:rPr>
              <a:t>my_new_branch</a:t>
            </a:r>
            <a:r>
              <a:rPr lang="en-US" b="0" dirty="0">
                <a:solidFill>
                  <a:srgbClr val="CE9178"/>
                </a:solidFill>
                <a:effectLst/>
                <a:latin typeface="Menlo" panose="020B0609030804020204" pitchFamily="49" charset="0"/>
              </a:rPr>
              <a:t>`</a:t>
            </a:r>
            <a:r>
              <a:rPr lang="en-US" b="0" dirty="0">
                <a:solidFill>
                  <a:srgbClr val="CCCCCC"/>
                </a:solidFill>
                <a:effectLst/>
                <a:latin typeface="Menlo" panose="020B0609030804020204" pitchFamily="49" charset="0"/>
              </a:rPr>
              <a:t> for a while and </a:t>
            </a:r>
            <a:r>
              <a:rPr lang="en-US" b="0" dirty="0">
                <a:solidFill>
                  <a:srgbClr val="CE9178"/>
                </a:solidFill>
                <a:effectLst/>
                <a:latin typeface="Menlo" panose="020B0609030804020204" pitchFamily="49" charset="0"/>
              </a:rPr>
              <a:t>`main`</a:t>
            </a:r>
            <a:r>
              <a:rPr lang="en-US" b="0" dirty="0">
                <a:solidFill>
                  <a:srgbClr val="CCCCCC"/>
                </a:solidFill>
                <a:effectLst/>
                <a:latin typeface="Menlo" panose="020B0609030804020204" pitchFamily="49" charset="0"/>
              </a:rPr>
              <a:t> has changed in the meantime.</a:t>
            </a:r>
          </a:p>
          <a:p>
            <a:endParaRPr lang="en-US" dirty="0"/>
          </a:p>
          <a:p>
            <a:br>
              <a:rPr lang="en-US" b="0" dirty="0">
                <a:solidFill>
                  <a:srgbClr val="CCCCCC"/>
                </a:solidFill>
                <a:effectLst/>
                <a:latin typeface="Menlo" panose="020B0609030804020204" pitchFamily="49" charset="0"/>
              </a:rPr>
            </a:br>
            <a:r>
              <a:rPr lang="en-US" b="0" dirty="0">
                <a:solidFill>
                  <a:srgbClr val="CCCCCC"/>
                </a:solidFill>
                <a:effectLst/>
                <a:latin typeface="Menlo" panose="020B0609030804020204" pitchFamily="49" charset="0"/>
              </a:rPr>
              <a:t>When development is complete on </a:t>
            </a:r>
            <a:r>
              <a:rPr lang="en-US" b="0" dirty="0">
                <a:solidFill>
                  <a:srgbClr val="CE9178"/>
                </a:solidFill>
                <a:effectLst/>
                <a:latin typeface="Menlo" panose="020B0609030804020204" pitchFamily="49" charset="0"/>
              </a:rPr>
              <a:t>`</a:t>
            </a:r>
            <a:r>
              <a:rPr lang="en-US" b="0" dirty="0" err="1">
                <a:solidFill>
                  <a:srgbClr val="CE9178"/>
                </a:solidFill>
                <a:effectLst/>
                <a:latin typeface="Menlo" panose="020B0609030804020204" pitchFamily="49" charset="0"/>
              </a:rPr>
              <a:t>my_new_branch</a:t>
            </a:r>
            <a:r>
              <a:rPr lang="en-US" b="0" dirty="0">
                <a:solidFill>
                  <a:srgbClr val="CE9178"/>
                </a:solidFill>
                <a:effectLst/>
                <a:latin typeface="Menlo" panose="020B0609030804020204" pitchFamily="49" charset="0"/>
              </a:rPr>
              <a:t>`</a:t>
            </a:r>
            <a:r>
              <a:rPr lang="en-US" b="0" dirty="0">
                <a:solidFill>
                  <a:srgbClr val="CCCCCC"/>
                </a:solidFill>
                <a:effectLst/>
                <a:latin typeface="Menlo" panose="020B0609030804020204" pitchFamily="49" charset="0"/>
              </a:rPr>
              <a:t>, it would be merged into </a:t>
            </a:r>
            <a:r>
              <a:rPr lang="en-US" b="0" dirty="0">
                <a:solidFill>
                  <a:srgbClr val="CE9178"/>
                </a:solidFill>
                <a:effectLst/>
                <a:latin typeface="Menlo" panose="020B0609030804020204" pitchFamily="49" charset="0"/>
              </a:rPr>
              <a:t>`main`</a:t>
            </a:r>
            <a:r>
              <a:rPr lang="en-US" b="0" dirty="0">
                <a:solidFill>
                  <a:srgbClr val="CCCCCC"/>
                </a:solidFill>
                <a:effectLst/>
                <a:latin typeface="Menlo" panose="020B0609030804020204" pitchFamily="49" charset="0"/>
              </a:rPr>
              <a:t>:</a:t>
            </a:r>
          </a:p>
          <a:p>
            <a:br>
              <a:rPr lang="en-US" b="0" dirty="0">
                <a:solidFill>
                  <a:srgbClr val="CCCCCC"/>
                </a:solidFill>
                <a:effectLst/>
                <a:latin typeface="Menlo" panose="020B0609030804020204" pitchFamily="49" charset="0"/>
              </a:rPr>
            </a:br>
            <a:r>
              <a:rPr lang="en-US" b="0" dirty="0">
                <a:solidFill>
                  <a:srgbClr val="CCCCCC"/>
                </a:solidFill>
                <a:effectLst/>
                <a:latin typeface="Menlo" panose="020B0609030804020204" pitchFamily="49" charset="0"/>
              </a:rPr>
              <a:t>```bash</a:t>
            </a:r>
          </a:p>
          <a:p>
            <a:r>
              <a:rPr lang="en-US" b="0" dirty="0">
                <a:solidFill>
                  <a:srgbClr val="DCDCAA"/>
                </a:solidFill>
                <a:effectLst/>
                <a:latin typeface="Menlo" panose="020B0609030804020204" pitchFamily="49" charset="0"/>
              </a:rPr>
              <a:t>git</a:t>
            </a:r>
            <a:r>
              <a:rPr lang="en-US" b="0" dirty="0">
                <a:solidFill>
                  <a:srgbClr val="D4D4D4"/>
                </a:solidFill>
                <a:effectLst/>
                <a:latin typeface="Menlo" panose="020B0609030804020204" pitchFamily="49" charset="0"/>
              </a:rPr>
              <a:t> </a:t>
            </a:r>
            <a:r>
              <a:rPr lang="en-US" b="0" dirty="0">
                <a:solidFill>
                  <a:srgbClr val="CE9178"/>
                </a:solidFill>
                <a:effectLst/>
                <a:latin typeface="Menlo" panose="020B0609030804020204" pitchFamily="49" charset="0"/>
              </a:rPr>
              <a:t>checkout</a:t>
            </a:r>
            <a:r>
              <a:rPr lang="en-US" b="0" dirty="0">
                <a:solidFill>
                  <a:srgbClr val="D4D4D4"/>
                </a:solidFill>
                <a:effectLst/>
                <a:latin typeface="Menlo" panose="020B0609030804020204" pitchFamily="49" charset="0"/>
              </a:rPr>
              <a:t> </a:t>
            </a:r>
            <a:r>
              <a:rPr lang="en-US" b="0" dirty="0">
                <a:solidFill>
                  <a:srgbClr val="CE9178"/>
                </a:solidFill>
                <a:effectLst/>
                <a:latin typeface="Menlo" panose="020B0609030804020204" pitchFamily="49" charset="0"/>
              </a:rPr>
              <a:t>main</a:t>
            </a:r>
            <a:endParaRPr lang="en-US" b="0" dirty="0">
              <a:solidFill>
                <a:srgbClr val="CCCCCC"/>
              </a:solidFill>
              <a:effectLst/>
              <a:latin typeface="Menlo" panose="020B0609030804020204" pitchFamily="49" charset="0"/>
            </a:endParaRPr>
          </a:p>
          <a:p>
            <a:r>
              <a:rPr lang="en-US" b="0" dirty="0">
                <a:solidFill>
                  <a:srgbClr val="DCDCAA"/>
                </a:solidFill>
                <a:effectLst/>
                <a:latin typeface="Menlo" panose="020B0609030804020204" pitchFamily="49" charset="0"/>
              </a:rPr>
              <a:t>git</a:t>
            </a:r>
            <a:r>
              <a:rPr lang="en-US" b="0" dirty="0">
                <a:solidFill>
                  <a:srgbClr val="D4D4D4"/>
                </a:solidFill>
                <a:effectLst/>
                <a:latin typeface="Menlo" panose="020B0609030804020204" pitchFamily="49" charset="0"/>
              </a:rPr>
              <a:t> </a:t>
            </a:r>
            <a:r>
              <a:rPr lang="en-US" b="0" dirty="0">
                <a:solidFill>
                  <a:srgbClr val="CE9178"/>
                </a:solidFill>
                <a:effectLst/>
                <a:latin typeface="Menlo" panose="020B0609030804020204" pitchFamily="49" charset="0"/>
              </a:rPr>
              <a:t>merge</a:t>
            </a:r>
            <a:r>
              <a:rPr lang="en-US" b="0" dirty="0">
                <a:solidFill>
                  <a:srgbClr val="D4D4D4"/>
                </a:solidFill>
                <a:effectLst/>
                <a:latin typeface="Menlo" panose="020B0609030804020204" pitchFamily="49" charset="0"/>
              </a:rPr>
              <a:t> </a:t>
            </a:r>
            <a:r>
              <a:rPr lang="en-US" b="0" dirty="0" err="1">
                <a:solidFill>
                  <a:srgbClr val="CE9178"/>
                </a:solidFill>
                <a:effectLst/>
                <a:latin typeface="Menlo" panose="020B0609030804020204" pitchFamily="49" charset="0"/>
              </a:rPr>
              <a:t>my_new_branch</a:t>
            </a:r>
            <a:endParaRPr lang="en-US" b="0" dirty="0">
              <a:solidFill>
                <a:srgbClr val="CCCCCC"/>
              </a:solidFill>
              <a:effectLst/>
              <a:latin typeface="Menlo" panose="020B0609030804020204" pitchFamily="49" charset="0"/>
            </a:endParaRPr>
          </a:p>
          <a:p>
            <a:r>
              <a:rPr lang="en-US" b="0" dirty="0">
                <a:solidFill>
                  <a:srgbClr val="CCCCCC"/>
                </a:solidFill>
                <a:effectLst/>
                <a:latin typeface="Menlo" panose="020B0609030804020204" pitchFamily="49" charset="0"/>
              </a:rPr>
              <a: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solidFill>
                  <a:srgbClr val="CCCCCC"/>
                </a:solidFill>
                <a:effectLst/>
                <a:latin typeface="Menlo" panose="020B0609030804020204" pitchFamily="49" charset="0"/>
              </a:rPr>
              <a:t>Git will do its best to complete the merge automatically. For example, if none of the changes have happened in the same lines of code, things will usually merge cleanly. If the merge can't complete automatically, this is called a merge conflict. Any conflicts in the files must be resolved before the merge can be completed.</a:t>
            </a:r>
          </a:p>
          <a:p>
            <a:endParaRPr lang="en-US" dirty="0"/>
          </a:p>
        </p:txBody>
      </p:sp>
      <p:sp>
        <p:nvSpPr>
          <p:cNvPr id="4" name="Slide Number Placeholder 3"/>
          <p:cNvSpPr>
            <a:spLocks noGrp="1"/>
          </p:cNvSpPr>
          <p:nvPr>
            <p:ph type="sldNum" sz="quarter" idx="5"/>
          </p:nvPr>
        </p:nvSpPr>
        <p:spPr/>
        <p:txBody>
          <a:bodyPr/>
          <a:lstStyle/>
          <a:p>
            <a:fld id="{729A9A33-2617-9741-9692-B8CF37E91C8E}" type="slidenum">
              <a:rPr lang="en-US" smtClean="0"/>
              <a:t>14</a:t>
            </a:fld>
            <a:endParaRPr lang="en-US"/>
          </a:p>
        </p:txBody>
      </p:sp>
    </p:spTree>
    <p:extLst>
      <p:ext uri="{BB962C8B-B14F-4D97-AF65-F5344CB8AC3E}">
        <p14:creationId xmlns:p14="http://schemas.microsoft.com/office/powerpoint/2010/main" val="220237825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dirty="0">
                <a:solidFill>
                  <a:srgbClr val="CCCCCC"/>
                </a:solidFill>
                <a:effectLst/>
                <a:latin typeface="Menlo" panose="020B0609030804020204" pitchFamily="49" charset="0"/>
              </a:rPr>
              <a:t>Bring the changes from one branch into another branch by merging them. When you merge branches, changes from the specified branch are merged into the branch that you currently have checked out. For example,</a:t>
            </a:r>
          </a:p>
          <a:p>
            <a:br>
              <a:rPr lang="en-US" b="0" dirty="0">
                <a:solidFill>
                  <a:srgbClr val="CCCCCC"/>
                </a:solidFill>
                <a:effectLst/>
                <a:latin typeface="Menlo" panose="020B0609030804020204" pitchFamily="49" charset="0"/>
              </a:rPr>
            </a:br>
            <a:r>
              <a:rPr lang="en-US" b="0" dirty="0">
                <a:solidFill>
                  <a:srgbClr val="CCCCCC"/>
                </a:solidFill>
                <a:effectLst/>
                <a:latin typeface="Menlo" panose="020B0609030804020204" pitchFamily="49" charset="0"/>
              </a:rPr>
              <a:t>```bash</a:t>
            </a:r>
          </a:p>
          <a:p>
            <a:r>
              <a:rPr lang="en-US" b="0" dirty="0">
                <a:solidFill>
                  <a:srgbClr val="DCDCAA"/>
                </a:solidFill>
                <a:effectLst/>
                <a:latin typeface="Menlo" panose="020B0609030804020204" pitchFamily="49" charset="0"/>
              </a:rPr>
              <a:t>git</a:t>
            </a:r>
            <a:r>
              <a:rPr lang="en-US" b="0" dirty="0">
                <a:solidFill>
                  <a:srgbClr val="D4D4D4"/>
                </a:solidFill>
                <a:effectLst/>
                <a:latin typeface="Menlo" panose="020B0609030804020204" pitchFamily="49" charset="0"/>
              </a:rPr>
              <a:t> </a:t>
            </a:r>
            <a:r>
              <a:rPr lang="en-US" b="0" dirty="0">
                <a:solidFill>
                  <a:srgbClr val="CE9178"/>
                </a:solidFill>
                <a:effectLst/>
                <a:latin typeface="Menlo" panose="020B0609030804020204" pitchFamily="49" charset="0"/>
              </a:rPr>
              <a:t>checkout</a:t>
            </a:r>
            <a:r>
              <a:rPr lang="en-US" b="0" dirty="0">
                <a:solidFill>
                  <a:srgbClr val="D4D4D4"/>
                </a:solidFill>
                <a:effectLst/>
                <a:latin typeface="Menlo" panose="020B0609030804020204" pitchFamily="49" charset="0"/>
              </a:rPr>
              <a:t> </a:t>
            </a:r>
            <a:r>
              <a:rPr lang="en-US" b="0" dirty="0" err="1">
                <a:solidFill>
                  <a:srgbClr val="CE9178"/>
                </a:solidFill>
                <a:effectLst/>
                <a:latin typeface="Menlo" panose="020B0609030804020204" pitchFamily="49" charset="0"/>
              </a:rPr>
              <a:t>my_new_branch</a:t>
            </a:r>
            <a:endParaRPr lang="en-US" b="0" dirty="0">
              <a:solidFill>
                <a:srgbClr val="CCCCCC"/>
              </a:solidFill>
              <a:effectLst/>
              <a:latin typeface="Menlo" panose="020B0609030804020204" pitchFamily="49" charset="0"/>
            </a:endParaRPr>
          </a:p>
          <a:p>
            <a:r>
              <a:rPr lang="en-US" b="0" dirty="0">
                <a:solidFill>
                  <a:srgbClr val="DCDCAA"/>
                </a:solidFill>
                <a:effectLst/>
                <a:latin typeface="Menlo" panose="020B0609030804020204" pitchFamily="49" charset="0"/>
              </a:rPr>
              <a:t>git</a:t>
            </a:r>
            <a:r>
              <a:rPr lang="en-US" b="0" dirty="0">
                <a:solidFill>
                  <a:srgbClr val="D4D4D4"/>
                </a:solidFill>
                <a:effectLst/>
                <a:latin typeface="Menlo" panose="020B0609030804020204" pitchFamily="49" charset="0"/>
              </a:rPr>
              <a:t> </a:t>
            </a:r>
            <a:r>
              <a:rPr lang="en-US" b="0" dirty="0">
                <a:solidFill>
                  <a:srgbClr val="CE9178"/>
                </a:solidFill>
                <a:effectLst/>
                <a:latin typeface="Menlo" panose="020B0609030804020204" pitchFamily="49" charset="0"/>
              </a:rPr>
              <a:t>merge</a:t>
            </a:r>
            <a:r>
              <a:rPr lang="en-US" b="0" dirty="0">
                <a:solidFill>
                  <a:srgbClr val="D4D4D4"/>
                </a:solidFill>
                <a:effectLst/>
                <a:latin typeface="Menlo" panose="020B0609030804020204" pitchFamily="49" charset="0"/>
              </a:rPr>
              <a:t> </a:t>
            </a:r>
            <a:r>
              <a:rPr lang="en-US" b="0" dirty="0">
                <a:solidFill>
                  <a:srgbClr val="CE9178"/>
                </a:solidFill>
                <a:effectLst/>
                <a:latin typeface="Menlo" panose="020B0609030804020204" pitchFamily="49" charset="0"/>
              </a:rPr>
              <a:t>main</a:t>
            </a:r>
            <a:endParaRPr lang="en-US" b="0" dirty="0">
              <a:solidFill>
                <a:srgbClr val="CCCCCC"/>
              </a:solidFill>
              <a:effectLst/>
              <a:latin typeface="Menlo" panose="020B0609030804020204" pitchFamily="49" charset="0"/>
            </a:endParaRPr>
          </a:p>
          <a:p>
            <a:r>
              <a:rPr lang="en-US" b="0" dirty="0">
                <a:solidFill>
                  <a:srgbClr val="CCCCCC"/>
                </a:solidFill>
                <a:effectLst/>
                <a:latin typeface="Menlo" panose="020B0609030804020204" pitchFamily="49" charset="0"/>
              </a:rPr>
              <a:t>```</a:t>
            </a:r>
          </a:p>
          <a:p>
            <a:br>
              <a:rPr lang="en-US" b="0" dirty="0">
                <a:solidFill>
                  <a:srgbClr val="CCCCCC"/>
                </a:solidFill>
                <a:effectLst/>
                <a:latin typeface="Menlo" panose="020B0609030804020204" pitchFamily="49" charset="0"/>
              </a:rPr>
            </a:br>
            <a:r>
              <a:rPr lang="en-US" b="0" dirty="0">
                <a:solidFill>
                  <a:srgbClr val="CCCCCC"/>
                </a:solidFill>
                <a:effectLst/>
                <a:latin typeface="Menlo" panose="020B0609030804020204" pitchFamily="49" charset="0"/>
              </a:rPr>
              <a:t>will merge any changes introduced to </a:t>
            </a:r>
            <a:r>
              <a:rPr lang="en-US" b="0" dirty="0">
                <a:solidFill>
                  <a:srgbClr val="CE9178"/>
                </a:solidFill>
                <a:effectLst/>
                <a:latin typeface="Menlo" panose="020B0609030804020204" pitchFamily="49" charset="0"/>
              </a:rPr>
              <a:t>`main`</a:t>
            </a:r>
            <a:r>
              <a:rPr lang="en-US" b="0" dirty="0">
                <a:solidFill>
                  <a:srgbClr val="CCCCCC"/>
                </a:solidFill>
                <a:effectLst/>
                <a:latin typeface="Menlo" panose="020B0609030804020204" pitchFamily="49" charset="0"/>
              </a:rPr>
              <a:t> into the </a:t>
            </a:r>
            <a:r>
              <a:rPr lang="en-US" b="0" dirty="0">
                <a:solidFill>
                  <a:srgbClr val="CE9178"/>
                </a:solidFill>
                <a:effectLst/>
                <a:latin typeface="Menlo" panose="020B0609030804020204" pitchFamily="49" charset="0"/>
              </a:rPr>
              <a:t>`</a:t>
            </a:r>
            <a:r>
              <a:rPr lang="en-US" b="0" dirty="0" err="1">
                <a:solidFill>
                  <a:srgbClr val="CE9178"/>
                </a:solidFill>
                <a:effectLst/>
                <a:latin typeface="Menlo" panose="020B0609030804020204" pitchFamily="49" charset="0"/>
              </a:rPr>
              <a:t>my_new_branch</a:t>
            </a:r>
            <a:r>
              <a:rPr lang="en-US" b="0" dirty="0">
                <a:solidFill>
                  <a:srgbClr val="CE9178"/>
                </a:solidFill>
                <a:effectLst/>
                <a:latin typeface="Menlo" panose="020B0609030804020204" pitchFamily="49" charset="0"/>
              </a:rPr>
              <a:t>`</a:t>
            </a:r>
            <a:r>
              <a:rPr lang="en-US" b="0" dirty="0">
                <a:solidFill>
                  <a:srgbClr val="CCCCCC"/>
                </a:solidFill>
                <a:effectLst/>
                <a:latin typeface="Menlo" panose="020B0609030804020204" pitchFamily="49" charset="0"/>
              </a:rPr>
              <a:t>. Merging in this direction is especially useful when you've been working on </a:t>
            </a:r>
            <a:r>
              <a:rPr lang="en-US" b="0" dirty="0">
                <a:solidFill>
                  <a:srgbClr val="CE9178"/>
                </a:solidFill>
                <a:effectLst/>
                <a:latin typeface="Menlo" panose="020B0609030804020204" pitchFamily="49" charset="0"/>
              </a:rPr>
              <a:t>`</a:t>
            </a:r>
            <a:r>
              <a:rPr lang="en-US" b="0" dirty="0" err="1">
                <a:solidFill>
                  <a:srgbClr val="CE9178"/>
                </a:solidFill>
                <a:effectLst/>
                <a:latin typeface="Menlo" panose="020B0609030804020204" pitchFamily="49" charset="0"/>
              </a:rPr>
              <a:t>my_new_branch</a:t>
            </a:r>
            <a:r>
              <a:rPr lang="en-US" b="0" dirty="0">
                <a:solidFill>
                  <a:srgbClr val="CE9178"/>
                </a:solidFill>
                <a:effectLst/>
                <a:latin typeface="Menlo" panose="020B0609030804020204" pitchFamily="49" charset="0"/>
              </a:rPr>
              <a:t>`</a:t>
            </a:r>
            <a:r>
              <a:rPr lang="en-US" b="0" dirty="0">
                <a:solidFill>
                  <a:srgbClr val="CCCCCC"/>
                </a:solidFill>
                <a:effectLst/>
                <a:latin typeface="Menlo" panose="020B0609030804020204" pitchFamily="49" charset="0"/>
              </a:rPr>
              <a:t> for a while and </a:t>
            </a:r>
            <a:r>
              <a:rPr lang="en-US" b="0" dirty="0">
                <a:solidFill>
                  <a:srgbClr val="CE9178"/>
                </a:solidFill>
                <a:effectLst/>
                <a:latin typeface="Menlo" panose="020B0609030804020204" pitchFamily="49" charset="0"/>
              </a:rPr>
              <a:t>`main`</a:t>
            </a:r>
            <a:r>
              <a:rPr lang="en-US" b="0" dirty="0">
                <a:solidFill>
                  <a:srgbClr val="CCCCCC"/>
                </a:solidFill>
                <a:effectLst/>
                <a:latin typeface="Menlo" panose="020B0609030804020204" pitchFamily="49" charset="0"/>
              </a:rPr>
              <a:t> has changed in the meantime.</a:t>
            </a:r>
          </a:p>
          <a:p>
            <a:endParaRPr lang="en-US" dirty="0"/>
          </a:p>
          <a:p>
            <a:br>
              <a:rPr lang="en-US" b="0" dirty="0">
                <a:solidFill>
                  <a:srgbClr val="CCCCCC"/>
                </a:solidFill>
                <a:effectLst/>
                <a:latin typeface="Menlo" panose="020B0609030804020204" pitchFamily="49" charset="0"/>
              </a:rPr>
            </a:br>
            <a:r>
              <a:rPr lang="en-US" b="0" dirty="0">
                <a:solidFill>
                  <a:srgbClr val="CCCCCC"/>
                </a:solidFill>
                <a:effectLst/>
                <a:latin typeface="Menlo" panose="020B0609030804020204" pitchFamily="49" charset="0"/>
              </a:rPr>
              <a:t>When development is complete on </a:t>
            </a:r>
            <a:r>
              <a:rPr lang="en-US" b="0" dirty="0">
                <a:solidFill>
                  <a:srgbClr val="CE9178"/>
                </a:solidFill>
                <a:effectLst/>
                <a:latin typeface="Menlo" panose="020B0609030804020204" pitchFamily="49" charset="0"/>
              </a:rPr>
              <a:t>`</a:t>
            </a:r>
            <a:r>
              <a:rPr lang="en-US" b="0" dirty="0" err="1">
                <a:solidFill>
                  <a:srgbClr val="CE9178"/>
                </a:solidFill>
                <a:effectLst/>
                <a:latin typeface="Menlo" panose="020B0609030804020204" pitchFamily="49" charset="0"/>
              </a:rPr>
              <a:t>my_new_branch</a:t>
            </a:r>
            <a:r>
              <a:rPr lang="en-US" b="0" dirty="0">
                <a:solidFill>
                  <a:srgbClr val="CE9178"/>
                </a:solidFill>
                <a:effectLst/>
                <a:latin typeface="Menlo" panose="020B0609030804020204" pitchFamily="49" charset="0"/>
              </a:rPr>
              <a:t>`</a:t>
            </a:r>
            <a:r>
              <a:rPr lang="en-US" b="0" dirty="0">
                <a:solidFill>
                  <a:srgbClr val="CCCCCC"/>
                </a:solidFill>
                <a:effectLst/>
                <a:latin typeface="Menlo" panose="020B0609030804020204" pitchFamily="49" charset="0"/>
              </a:rPr>
              <a:t>, it would be merged into </a:t>
            </a:r>
            <a:r>
              <a:rPr lang="en-US" b="0" dirty="0">
                <a:solidFill>
                  <a:srgbClr val="CE9178"/>
                </a:solidFill>
                <a:effectLst/>
                <a:latin typeface="Menlo" panose="020B0609030804020204" pitchFamily="49" charset="0"/>
              </a:rPr>
              <a:t>`main`</a:t>
            </a:r>
            <a:r>
              <a:rPr lang="en-US" b="0" dirty="0">
                <a:solidFill>
                  <a:srgbClr val="CCCCCC"/>
                </a:solidFill>
                <a:effectLst/>
                <a:latin typeface="Menlo" panose="020B0609030804020204" pitchFamily="49" charset="0"/>
              </a:rPr>
              <a:t>:</a:t>
            </a:r>
          </a:p>
          <a:p>
            <a:br>
              <a:rPr lang="en-US" b="0" dirty="0">
                <a:solidFill>
                  <a:srgbClr val="CCCCCC"/>
                </a:solidFill>
                <a:effectLst/>
                <a:latin typeface="Menlo" panose="020B0609030804020204" pitchFamily="49" charset="0"/>
              </a:rPr>
            </a:br>
            <a:r>
              <a:rPr lang="en-US" b="0" dirty="0">
                <a:solidFill>
                  <a:srgbClr val="CCCCCC"/>
                </a:solidFill>
                <a:effectLst/>
                <a:latin typeface="Menlo" panose="020B0609030804020204" pitchFamily="49" charset="0"/>
              </a:rPr>
              <a:t>```bash</a:t>
            </a:r>
          </a:p>
          <a:p>
            <a:r>
              <a:rPr lang="en-US" b="0" dirty="0">
                <a:solidFill>
                  <a:srgbClr val="DCDCAA"/>
                </a:solidFill>
                <a:effectLst/>
                <a:latin typeface="Menlo" panose="020B0609030804020204" pitchFamily="49" charset="0"/>
              </a:rPr>
              <a:t>git</a:t>
            </a:r>
            <a:r>
              <a:rPr lang="en-US" b="0" dirty="0">
                <a:solidFill>
                  <a:srgbClr val="D4D4D4"/>
                </a:solidFill>
                <a:effectLst/>
                <a:latin typeface="Menlo" panose="020B0609030804020204" pitchFamily="49" charset="0"/>
              </a:rPr>
              <a:t> </a:t>
            </a:r>
            <a:r>
              <a:rPr lang="en-US" b="0" dirty="0">
                <a:solidFill>
                  <a:srgbClr val="CE9178"/>
                </a:solidFill>
                <a:effectLst/>
                <a:latin typeface="Menlo" panose="020B0609030804020204" pitchFamily="49" charset="0"/>
              </a:rPr>
              <a:t>checkout</a:t>
            </a:r>
            <a:r>
              <a:rPr lang="en-US" b="0" dirty="0">
                <a:solidFill>
                  <a:srgbClr val="D4D4D4"/>
                </a:solidFill>
                <a:effectLst/>
                <a:latin typeface="Menlo" panose="020B0609030804020204" pitchFamily="49" charset="0"/>
              </a:rPr>
              <a:t> </a:t>
            </a:r>
            <a:r>
              <a:rPr lang="en-US" b="0" dirty="0">
                <a:solidFill>
                  <a:srgbClr val="CE9178"/>
                </a:solidFill>
                <a:effectLst/>
                <a:latin typeface="Menlo" panose="020B0609030804020204" pitchFamily="49" charset="0"/>
              </a:rPr>
              <a:t>main</a:t>
            </a:r>
            <a:endParaRPr lang="en-US" b="0" dirty="0">
              <a:solidFill>
                <a:srgbClr val="CCCCCC"/>
              </a:solidFill>
              <a:effectLst/>
              <a:latin typeface="Menlo" panose="020B0609030804020204" pitchFamily="49" charset="0"/>
            </a:endParaRPr>
          </a:p>
          <a:p>
            <a:r>
              <a:rPr lang="en-US" b="0" dirty="0">
                <a:solidFill>
                  <a:srgbClr val="DCDCAA"/>
                </a:solidFill>
                <a:effectLst/>
                <a:latin typeface="Menlo" panose="020B0609030804020204" pitchFamily="49" charset="0"/>
              </a:rPr>
              <a:t>git</a:t>
            </a:r>
            <a:r>
              <a:rPr lang="en-US" b="0" dirty="0">
                <a:solidFill>
                  <a:srgbClr val="D4D4D4"/>
                </a:solidFill>
                <a:effectLst/>
                <a:latin typeface="Menlo" panose="020B0609030804020204" pitchFamily="49" charset="0"/>
              </a:rPr>
              <a:t> </a:t>
            </a:r>
            <a:r>
              <a:rPr lang="en-US" b="0" dirty="0">
                <a:solidFill>
                  <a:srgbClr val="CE9178"/>
                </a:solidFill>
                <a:effectLst/>
                <a:latin typeface="Menlo" panose="020B0609030804020204" pitchFamily="49" charset="0"/>
              </a:rPr>
              <a:t>merge</a:t>
            </a:r>
            <a:r>
              <a:rPr lang="en-US" b="0" dirty="0">
                <a:solidFill>
                  <a:srgbClr val="D4D4D4"/>
                </a:solidFill>
                <a:effectLst/>
                <a:latin typeface="Menlo" panose="020B0609030804020204" pitchFamily="49" charset="0"/>
              </a:rPr>
              <a:t> </a:t>
            </a:r>
            <a:r>
              <a:rPr lang="en-US" b="0" dirty="0" err="1">
                <a:solidFill>
                  <a:srgbClr val="CE9178"/>
                </a:solidFill>
                <a:effectLst/>
                <a:latin typeface="Menlo" panose="020B0609030804020204" pitchFamily="49" charset="0"/>
              </a:rPr>
              <a:t>my_new_branch</a:t>
            </a:r>
            <a:endParaRPr lang="en-US" b="0" dirty="0">
              <a:solidFill>
                <a:srgbClr val="CCCCCC"/>
              </a:solidFill>
              <a:effectLst/>
              <a:latin typeface="Menlo" panose="020B0609030804020204" pitchFamily="49" charset="0"/>
            </a:endParaRPr>
          </a:p>
          <a:p>
            <a:r>
              <a:rPr lang="en-US" b="0" dirty="0">
                <a:solidFill>
                  <a:srgbClr val="CCCCCC"/>
                </a:solidFill>
                <a:effectLst/>
                <a:latin typeface="Menlo" panose="020B0609030804020204" pitchFamily="49" charset="0"/>
              </a:rPr>
              <a: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solidFill>
                  <a:srgbClr val="CCCCCC"/>
                </a:solidFill>
                <a:effectLst/>
                <a:latin typeface="Menlo" panose="020B0609030804020204" pitchFamily="49" charset="0"/>
              </a:rPr>
              <a:t>Git will do its best to complete the merge automatically. For example, if none of the changes have happened in the same lines of code, things will usually merge cleanly. If the merge can't complete automatically, this is called a merge conflict. Any conflicts in the files must be resolved before the merge can be completed.</a:t>
            </a:r>
          </a:p>
          <a:p>
            <a:endParaRPr lang="en-US" dirty="0"/>
          </a:p>
        </p:txBody>
      </p:sp>
      <p:sp>
        <p:nvSpPr>
          <p:cNvPr id="4" name="Slide Number Placeholder 3"/>
          <p:cNvSpPr>
            <a:spLocks noGrp="1"/>
          </p:cNvSpPr>
          <p:nvPr>
            <p:ph type="sldNum" sz="quarter" idx="5"/>
          </p:nvPr>
        </p:nvSpPr>
        <p:spPr/>
        <p:txBody>
          <a:bodyPr/>
          <a:lstStyle/>
          <a:p>
            <a:fld id="{729A9A33-2617-9741-9692-B8CF37E91C8E}" type="slidenum">
              <a:rPr lang="en-US" smtClean="0"/>
              <a:t>15</a:t>
            </a:fld>
            <a:endParaRPr lang="en-US"/>
          </a:p>
        </p:txBody>
      </p:sp>
    </p:spTree>
    <p:extLst>
      <p:ext uri="{BB962C8B-B14F-4D97-AF65-F5344CB8AC3E}">
        <p14:creationId xmlns:p14="http://schemas.microsoft.com/office/powerpoint/2010/main" val="348617533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solidFill>
                  <a:srgbClr val="CCCCCC"/>
                </a:solidFill>
                <a:effectLst/>
                <a:latin typeface="Menlo" panose="020B0609030804020204" pitchFamily="49" charset="0"/>
              </a:rPr>
              <a:t>Git will do its best to complete the merge automatically. For example, if none of the changes have happened in the same lines of code, things will usually merge cleanly. If the merge can't complete automatically, this is called a merge conflict. Any conflicts in the files must be resolved before the merge can be completed.</a:t>
            </a:r>
          </a:p>
          <a:p>
            <a:endParaRPr lang="en-US" dirty="0"/>
          </a:p>
          <a:p>
            <a:r>
              <a:rPr lang="en-US" dirty="0"/>
              <a:t>Don’t be afraid of merge conflicts! These are a good thing. They are saying now is a good time to step back and make sure the changes you’ve made are what you intended. They are saying what you are merging may have unintended consequences. The can sometimes be a challenge to resolve, but the potential errors they are signaling may be more challenging to identify </a:t>
            </a:r>
            <a:r>
              <a:rPr lang="en-US"/>
              <a:t>and resolve.</a:t>
            </a:r>
            <a:endParaRPr lang="en-US" dirty="0"/>
          </a:p>
        </p:txBody>
      </p:sp>
      <p:sp>
        <p:nvSpPr>
          <p:cNvPr id="4" name="Slide Number Placeholder 3"/>
          <p:cNvSpPr>
            <a:spLocks noGrp="1"/>
          </p:cNvSpPr>
          <p:nvPr>
            <p:ph type="sldNum" sz="quarter" idx="5"/>
          </p:nvPr>
        </p:nvSpPr>
        <p:spPr/>
        <p:txBody>
          <a:bodyPr/>
          <a:lstStyle/>
          <a:p>
            <a:fld id="{729A9A33-2617-9741-9692-B8CF37E91C8E}" type="slidenum">
              <a:rPr lang="en-US" smtClean="0"/>
              <a:t>16</a:t>
            </a:fld>
            <a:endParaRPr lang="en-US"/>
          </a:p>
        </p:txBody>
      </p:sp>
    </p:spTree>
    <p:extLst>
      <p:ext uri="{BB962C8B-B14F-4D97-AF65-F5344CB8AC3E}">
        <p14:creationId xmlns:p14="http://schemas.microsoft.com/office/powerpoint/2010/main" val="424838608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dirty="0">
                <a:solidFill>
                  <a:srgbClr val="CCCCCC"/>
                </a:solidFill>
                <a:effectLst/>
                <a:latin typeface="Menlo" panose="020B0609030804020204" pitchFamily="49" charset="0"/>
              </a:rPr>
              <a:t>There is another way to introduce changes from one branch to another: rebasing. A rebase rewrites history. For example, if there are new commits on the main branch while you are working on a feature branch, you could merge those commits into your feature branch, as we describe above. This creates a new commit with two parent commits: one in your feature branch, one in the main branch. Alternatively, you can rebase your feature branch onto the new end of the main branch with </a:t>
            </a:r>
            <a:r>
              <a:rPr lang="en-US" b="0" dirty="0">
                <a:solidFill>
                  <a:srgbClr val="CE9178"/>
                </a:solidFill>
                <a:effectLst/>
                <a:latin typeface="Menlo" panose="020B0609030804020204" pitchFamily="49" charset="0"/>
              </a:rPr>
              <a:t>`git rebase main`</a:t>
            </a:r>
            <a:r>
              <a:rPr lang="en-US" b="0" dirty="0">
                <a:solidFill>
                  <a:srgbClr val="CCCCCC"/>
                </a:solidFill>
                <a:effectLst/>
                <a:latin typeface="Menlo" panose="020B0609030804020204" pitchFamily="49" charset="0"/>
              </a:rPr>
              <a:t>. Rebasing "replays" your feature branch commits onto the new commits of the main branch, as if you started your branch there.</a:t>
            </a:r>
          </a:p>
          <a:p>
            <a:br>
              <a:rPr lang="en-US" b="0" dirty="0">
                <a:solidFill>
                  <a:srgbClr val="CCCCCC"/>
                </a:solidFill>
                <a:effectLst/>
                <a:latin typeface="Menlo" panose="020B0609030804020204" pitchFamily="49" charset="0"/>
              </a:rPr>
            </a:br>
            <a:br>
              <a:rPr lang="en-US" b="0" dirty="0">
                <a:solidFill>
                  <a:srgbClr val="CCCCCC"/>
                </a:solidFill>
                <a:effectLst/>
                <a:latin typeface="Menlo" panose="020B0609030804020204" pitchFamily="49" charset="0"/>
              </a:rPr>
            </a:br>
            <a:r>
              <a:rPr lang="en-US" b="0" dirty="0">
                <a:solidFill>
                  <a:srgbClr val="CCCCCC"/>
                </a:solidFill>
                <a:effectLst/>
                <a:latin typeface="Menlo" panose="020B0609030804020204" pitchFamily="49" charset="0"/>
              </a:rPr>
              <a:t>Rebasing creates a cleaner history, without the extra merge commit. However, rebases never be done on public branches that others might be using or even looking at. It will result in your repository and everyone else's having different history, which can be confusing and difficult to fix. If no one else is looking at your branch, especially if you haven't published it yet, rebasing is safe.</a:t>
            </a:r>
          </a:p>
        </p:txBody>
      </p:sp>
      <p:sp>
        <p:nvSpPr>
          <p:cNvPr id="4" name="Slide Number Placeholder 3"/>
          <p:cNvSpPr>
            <a:spLocks noGrp="1"/>
          </p:cNvSpPr>
          <p:nvPr>
            <p:ph type="sldNum" sz="quarter" idx="5"/>
          </p:nvPr>
        </p:nvSpPr>
        <p:spPr/>
        <p:txBody>
          <a:bodyPr/>
          <a:lstStyle/>
          <a:p>
            <a:fld id="{729A9A33-2617-9741-9692-B8CF37E91C8E}" type="slidenum">
              <a:rPr lang="en-US" smtClean="0"/>
              <a:t>17</a:t>
            </a:fld>
            <a:endParaRPr lang="en-US"/>
          </a:p>
        </p:txBody>
      </p:sp>
    </p:spTree>
    <p:extLst>
      <p:ext uri="{BB962C8B-B14F-4D97-AF65-F5344CB8AC3E}">
        <p14:creationId xmlns:p14="http://schemas.microsoft.com/office/powerpoint/2010/main" val="250199681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29A9A33-2617-9741-9692-B8CF37E91C8E}" type="slidenum">
              <a:rPr lang="en-US" smtClean="0"/>
              <a:t>18</a:t>
            </a:fld>
            <a:endParaRPr lang="en-US"/>
          </a:p>
        </p:txBody>
      </p:sp>
    </p:spTree>
    <p:extLst>
      <p:ext uri="{BB962C8B-B14F-4D97-AF65-F5344CB8AC3E}">
        <p14:creationId xmlns:p14="http://schemas.microsoft.com/office/powerpoint/2010/main" val="8095137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br>
              <a:rPr lang="en-US" b="0" dirty="0">
                <a:solidFill>
                  <a:srgbClr val="CCCCCC"/>
                </a:solidFill>
                <a:effectLst/>
                <a:latin typeface="Menlo" panose="020B0609030804020204" pitchFamily="49" charset="0"/>
              </a:rPr>
            </a:br>
            <a:r>
              <a:rPr lang="en-US" b="0" dirty="0">
                <a:solidFill>
                  <a:srgbClr val="CCCCCC"/>
                </a:solidFill>
                <a:effectLst/>
                <a:latin typeface="Menlo" panose="020B0609030804020204" pitchFamily="49" charset="0"/>
              </a:rPr>
              <a:t>A Pull Request is a GitHub a process to request that a branch be merged into another branch. It's called a "Pull Request" because you are requesting that the change introduced be pulled into the other branch. In GitLab it is called a "Merge Request". Pull requests provide a process and an opportunity for code review before merging branches you don't own or manage by yourself, such as the main branch. They can also be a mechanism for proposing and discussing changes, and requesting additional changes be made before the branch is merged.</a:t>
            </a:r>
          </a:p>
          <a:p>
            <a:endParaRPr lang="en-US" dirty="0"/>
          </a:p>
        </p:txBody>
      </p:sp>
      <p:sp>
        <p:nvSpPr>
          <p:cNvPr id="4" name="Slide Number Placeholder 3"/>
          <p:cNvSpPr>
            <a:spLocks noGrp="1"/>
          </p:cNvSpPr>
          <p:nvPr>
            <p:ph type="sldNum" sz="quarter" idx="5"/>
          </p:nvPr>
        </p:nvSpPr>
        <p:spPr/>
        <p:txBody>
          <a:bodyPr/>
          <a:lstStyle/>
          <a:p>
            <a:fld id="{729A9A33-2617-9741-9692-B8CF37E91C8E}" type="slidenum">
              <a:rPr lang="en-US" smtClean="0"/>
              <a:t>20</a:t>
            </a:fld>
            <a:endParaRPr lang="en-US"/>
          </a:p>
        </p:txBody>
      </p:sp>
    </p:spTree>
    <p:extLst>
      <p:ext uri="{BB962C8B-B14F-4D97-AF65-F5344CB8AC3E}">
        <p14:creationId xmlns:p14="http://schemas.microsoft.com/office/powerpoint/2010/main" val="27786730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dirty="0">
                <a:solidFill>
                  <a:srgbClr val="CCCCCC"/>
                </a:solidFill>
                <a:effectLst/>
                <a:latin typeface="Menlo" panose="020B0609030804020204" pitchFamily="49" charset="0"/>
              </a:rPr>
              <a:t>First, make sure you don't have any commits you haven't pushed to GitHub. Go to your local repository and run </a:t>
            </a:r>
            <a:r>
              <a:rPr lang="en-US" b="0" dirty="0">
                <a:solidFill>
                  <a:srgbClr val="CE9178"/>
                </a:solidFill>
                <a:effectLst/>
                <a:latin typeface="Menlo" panose="020B0609030804020204" pitchFamily="49" charset="0"/>
              </a:rPr>
              <a:t>`git status`</a:t>
            </a:r>
            <a:r>
              <a:rPr lang="en-US" b="0" dirty="0">
                <a:solidFill>
                  <a:srgbClr val="CCCCCC"/>
                </a:solidFill>
                <a:effectLst/>
                <a:latin typeface="Menlo" panose="020B0609030804020204" pitchFamily="49" charset="0"/>
              </a:rPr>
              <a:t>. If you have any commits you haven't yet pushed, push them now with </a:t>
            </a:r>
            <a:r>
              <a:rPr lang="en-US" b="0" dirty="0">
                <a:solidFill>
                  <a:srgbClr val="CE9178"/>
                </a:solidFill>
                <a:effectLst/>
                <a:latin typeface="Menlo" panose="020B0609030804020204" pitchFamily="49" charset="0"/>
              </a:rPr>
              <a:t>`git push`</a:t>
            </a:r>
            <a:r>
              <a:rPr lang="en-US" b="0" dirty="0">
                <a:solidFill>
                  <a:srgbClr val="CCCCCC"/>
                </a:solidFill>
                <a:effectLst/>
                <a:latin typeface="Menlo" panose="020B0609030804020204" pitchFamily="49" charset="0"/>
              </a:rPr>
              <a:t>. Remember, if you haven't pushed from this branch to the remote repository yet, you will be prompted to publish your branch with </a:t>
            </a:r>
            <a:r>
              <a:rPr lang="en-US" b="0" dirty="0">
                <a:solidFill>
                  <a:srgbClr val="CE9178"/>
                </a:solidFill>
                <a:effectLst/>
                <a:latin typeface="Menlo" panose="020B0609030804020204" pitchFamily="49" charset="0"/>
              </a:rPr>
              <a:t>`git push --set-upstream origin </a:t>
            </a:r>
            <a:r>
              <a:rPr lang="en-US" b="0" dirty="0" err="1">
                <a:solidFill>
                  <a:srgbClr val="CE9178"/>
                </a:solidFill>
                <a:effectLst/>
                <a:latin typeface="Menlo" panose="020B0609030804020204" pitchFamily="49" charset="0"/>
              </a:rPr>
              <a:t>my_new_branch</a:t>
            </a:r>
            <a:r>
              <a:rPr lang="en-US" b="0" dirty="0">
                <a:solidFill>
                  <a:srgbClr val="CE9178"/>
                </a:solidFill>
                <a:effectLst/>
                <a:latin typeface="Menlo" panose="020B0609030804020204" pitchFamily="49" charset="0"/>
              </a:rPr>
              <a:t>`</a:t>
            </a:r>
            <a:r>
              <a:rPr lang="en-US" b="0" dirty="0">
                <a:solidFill>
                  <a:srgbClr val="CCCCCC"/>
                </a:solidFill>
                <a:effectLst/>
                <a:latin typeface="Menlo" panose="020B0609030804020204" pitchFamily="49" charset="0"/>
              </a:rPr>
              <a:t>.</a:t>
            </a:r>
          </a:p>
          <a:p>
            <a:br>
              <a:rPr lang="en-US" b="0" dirty="0">
                <a:solidFill>
                  <a:srgbClr val="CCCCCC"/>
                </a:solidFill>
                <a:effectLst/>
                <a:latin typeface="Menlo" panose="020B0609030804020204" pitchFamily="49" charset="0"/>
              </a:rPr>
            </a:br>
            <a:r>
              <a:rPr lang="en-US" b="0" dirty="0">
                <a:solidFill>
                  <a:srgbClr val="CCCCCC"/>
                </a:solidFill>
                <a:effectLst/>
                <a:latin typeface="Menlo" panose="020B0609030804020204" pitchFamily="49" charset="0"/>
              </a:rPr>
              <a:t>Now navigate to your branch in GitHub. If you've pushed any commits recently you may see a callout that says your branch has recent pushes and provides a button that says "Compare and Pull Request". Pressing this will bring you to the form to create your Pull Request to the main branch. If you don't have this button, you can select "Pull Requests" at the top of the page and select "New Pull Request". From there select your branch under the "compare" dropdown. If you would like to merge your branch into a branch other than main, select that branch under the "base" dropdown. Then select "Create Pull Request".</a:t>
            </a:r>
          </a:p>
          <a:p>
            <a:br>
              <a:rPr lang="en-US" b="0" dirty="0">
                <a:solidFill>
                  <a:srgbClr val="CCCCCC"/>
                </a:solidFill>
                <a:effectLst/>
                <a:latin typeface="Menlo" panose="020B0609030804020204" pitchFamily="49" charset="0"/>
              </a:rPr>
            </a:br>
            <a:endParaRPr lang="en-US" dirty="0"/>
          </a:p>
        </p:txBody>
      </p:sp>
      <p:sp>
        <p:nvSpPr>
          <p:cNvPr id="4" name="Slide Number Placeholder 3"/>
          <p:cNvSpPr>
            <a:spLocks noGrp="1"/>
          </p:cNvSpPr>
          <p:nvPr>
            <p:ph type="sldNum" sz="quarter" idx="5"/>
          </p:nvPr>
        </p:nvSpPr>
        <p:spPr/>
        <p:txBody>
          <a:bodyPr/>
          <a:lstStyle/>
          <a:p>
            <a:fld id="{FFCAADA9-5610-5340-BC61-9B98536C92BD}" type="slidenum">
              <a:rPr lang="en-US" smtClean="0"/>
              <a:t>21</a:t>
            </a:fld>
            <a:endParaRPr lang="en-US"/>
          </a:p>
        </p:txBody>
      </p:sp>
    </p:spTree>
    <p:extLst>
      <p:ext uri="{BB962C8B-B14F-4D97-AF65-F5344CB8AC3E}">
        <p14:creationId xmlns:p14="http://schemas.microsoft.com/office/powerpoint/2010/main" val="104825415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solidFill>
                  <a:srgbClr val="CCCCCC"/>
                </a:solidFill>
                <a:effectLst/>
                <a:latin typeface="Menlo" panose="020B0609030804020204" pitchFamily="49" charset="0"/>
              </a:rPr>
              <a:t>At this point you will see a form. Fill out the form with a title and description for the Pull Request, and then click "Create Pull Request". We will go more in depth on how to make good pull requests in a later section.</a:t>
            </a:r>
          </a:p>
          <a:p>
            <a:endParaRPr lang="en-US" dirty="0"/>
          </a:p>
        </p:txBody>
      </p:sp>
      <p:sp>
        <p:nvSpPr>
          <p:cNvPr id="4" name="Slide Number Placeholder 3"/>
          <p:cNvSpPr>
            <a:spLocks noGrp="1"/>
          </p:cNvSpPr>
          <p:nvPr>
            <p:ph type="sldNum" sz="quarter" idx="5"/>
          </p:nvPr>
        </p:nvSpPr>
        <p:spPr/>
        <p:txBody>
          <a:bodyPr/>
          <a:lstStyle/>
          <a:p>
            <a:fld id="{FFCAADA9-5610-5340-BC61-9B98536C92BD}" type="slidenum">
              <a:rPr lang="en-US" smtClean="0"/>
              <a:t>22</a:t>
            </a:fld>
            <a:endParaRPr lang="en-US"/>
          </a:p>
        </p:txBody>
      </p:sp>
    </p:spTree>
    <p:extLst>
      <p:ext uri="{BB962C8B-B14F-4D97-AF65-F5344CB8AC3E}">
        <p14:creationId xmlns:p14="http://schemas.microsoft.com/office/powerpoint/2010/main" val="214498713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FCAADA9-5610-5340-BC61-9B98536C92BD}" type="slidenum">
              <a:rPr lang="en-US" smtClean="0"/>
              <a:t>23</a:t>
            </a:fld>
            <a:endParaRPr lang="en-US"/>
          </a:p>
        </p:txBody>
      </p:sp>
    </p:spTree>
    <p:extLst>
      <p:ext uri="{BB962C8B-B14F-4D97-AF65-F5344CB8AC3E}">
        <p14:creationId xmlns:p14="http://schemas.microsoft.com/office/powerpoint/2010/main" val="23058075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FCAADA9-5610-5340-BC61-9B98536C92BD}" type="slidenum">
              <a:rPr lang="en-US" smtClean="0"/>
              <a:t>24</a:t>
            </a:fld>
            <a:endParaRPr lang="en-US"/>
          </a:p>
        </p:txBody>
      </p:sp>
    </p:spTree>
    <p:extLst>
      <p:ext uri="{BB962C8B-B14F-4D97-AF65-F5344CB8AC3E}">
        <p14:creationId xmlns:p14="http://schemas.microsoft.com/office/powerpoint/2010/main" val="88520762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FCAADA9-5610-5340-BC61-9B98536C92BD}" type="slidenum">
              <a:rPr lang="en-US" smtClean="0"/>
              <a:t>25</a:t>
            </a:fld>
            <a:endParaRPr lang="en-US"/>
          </a:p>
        </p:txBody>
      </p:sp>
    </p:spTree>
    <p:extLst>
      <p:ext uri="{BB962C8B-B14F-4D97-AF65-F5344CB8AC3E}">
        <p14:creationId xmlns:p14="http://schemas.microsoft.com/office/powerpoint/2010/main" val="333974512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solidFill>
                  <a:srgbClr val="CCCCCC"/>
                </a:solidFill>
                <a:effectLst/>
                <a:latin typeface="Menlo" panose="020B0609030804020204" pitchFamily="49" charset="0"/>
              </a:rPr>
              <a:t>Once the Pull Request is created you and anyone with access to the repository can make comments on the request. These comments might be clarifying questions or requests for additional changes. If additional changes are needed, make those changes in your branch and push them. The commits will be added to the Pull Request automatically and appear on the main Conversation page.</a:t>
            </a:r>
          </a:p>
          <a:p>
            <a:endParaRPr lang="en-US" dirty="0"/>
          </a:p>
        </p:txBody>
      </p:sp>
      <p:sp>
        <p:nvSpPr>
          <p:cNvPr id="4" name="Slide Number Placeholder 3"/>
          <p:cNvSpPr>
            <a:spLocks noGrp="1"/>
          </p:cNvSpPr>
          <p:nvPr>
            <p:ph type="sldNum" sz="quarter" idx="5"/>
          </p:nvPr>
        </p:nvSpPr>
        <p:spPr/>
        <p:txBody>
          <a:bodyPr/>
          <a:lstStyle/>
          <a:p>
            <a:fld id="{FFCAADA9-5610-5340-BC61-9B98536C92BD}" type="slidenum">
              <a:rPr lang="en-US" smtClean="0"/>
              <a:t>26</a:t>
            </a:fld>
            <a:endParaRPr lang="en-US"/>
          </a:p>
        </p:txBody>
      </p:sp>
    </p:spTree>
    <p:extLst>
      <p:ext uri="{BB962C8B-B14F-4D97-AF65-F5344CB8AC3E}">
        <p14:creationId xmlns:p14="http://schemas.microsoft.com/office/powerpoint/2010/main" val="38002747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solidFill>
                  <a:srgbClr val="CCCCCC"/>
                </a:solidFill>
                <a:effectLst/>
                <a:latin typeface="Menlo" panose="020B0609030804020204" pitchFamily="49" charset="0"/>
              </a:rPr>
              <a:t>Once a Pull Request has been reviewed and ready to be accepted, it can be merged. First verify that the branch has no conflicts with the base branch (the one that will be merged into). Any conflicts should be addressed with additional commits. When ready to merge, click "Merge Pull Request", then click "Confirm merge". You will be given the option to delete the branch. Whether you delete the branch depends on its purpose and how you and your group want to handle branches that have been merged. Deleting feature branches helps keep clutter down and makes it easier to find relevant branches. However, if you have any longer term branches, such as a development or production branch, you wouldn't want to delete that.</a:t>
            </a:r>
          </a:p>
        </p:txBody>
      </p:sp>
      <p:sp>
        <p:nvSpPr>
          <p:cNvPr id="4" name="Slide Number Placeholder 3"/>
          <p:cNvSpPr>
            <a:spLocks noGrp="1"/>
          </p:cNvSpPr>
          <p:nvPr>
            <p:ph type="sldNum" sz="quarter" idx="5"/>
          </p:nvPr>
        </p:nvSpPr>
        <p:spPr/>
        <p:txBody>
          <a:bodyPr/>
          <a:lstStyle/>
          <a:p>
            <a:fld id="{FFCAADA9-5610-5340-BC61-9B98536C92BD}" type="slidenum">
              <a:rPr lang="en-US" smtClean="0"/>
              <a:t>27</a:t>
            </a:fld>
            <a:endParaRPr lang="en-US"/>
          </a:p>
        </p:txBody>
      </p:sp>
    </p:spTree>
    <p:extLst>
      <p:ext uri="{BB962C8B-B14F-4D97-AF65-F5344CB8AC3E}">
        <p14:creationId xmlns:p14="http://schemas.microsoft.com/office/powerpoint/2010/main" val="383187213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solidFill>
                  <a:srgbClr val="CCCCCC"/>
                </a:solidFill>
                <a:effectLst/>
                <a:latin typeface="Menlo" panose="020B0609030804020204" pitchFamily="49" charset="0"/>
              </a:rPr>
              <a:t>Once a Pull Request has been reviewed and ready to be accepted, it can be merged. First verify that the branch has no conflicts with the base branch (the one that will be merged into). Any conflicts should be addressed with additional commits. When ready to merge, click "Merge Pull Request", then click "Confirm merge". You will be given the option to delete the branch. Whether you delete the branch depends on its purpose and how you and your group want to handle branches that have been merged. Deleting feature branches helps keep clutter down and makes it easier to find relevant branches. However, if you have any longer term branches, such as a development or production branch, you wouldn't want to delete that.</a:t>
            </a:r>
          </a:p>
        </p:txBody>
      </p:sp>
      <p:sp>
        <p:nvSpPr>
          <p:cNvPr id="4" name="Slide Number Placeholder 3"/>
          <p:cNvSpPr>
            <a:spLocks noGrp="1"/>
          </p:cNvSpPr>
          <p:nvPr>
            <p:ph type="sldNum" sz="quarter" idx="5"/>
          </p:nvPr>
        </p:nvSpPr>
        <p:spPr/>
        <p:txBody>
          <a:bodyPr/>
          <a:lstStyle/>
          <a:p>
            <a:fld id="{FFCAADA9-5610-5340-BC61-9B98536C92BD}" type="slidenum">
              <a:rPr lang="en-US" smtClean="0"/>
              <a:t>28</a:t>
            </a:fld>
            <a:endParaRPr lang="en-US"/>
          </a:p>
        </p:txBody>
      </p:sp>
    </p:spTree>
    <p:extLst>
      <p:ext uri="{BB962C8B-B14F-4D97-AF65-F5344CB8AC3E}">
        <p14:creationId xmlns:p14="http://schemas.microsoft.com/office/powerpoint/2010/main" val="417681689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dirty="0">
                <a:solidFill>
                  <a:srgbClr val="CCCCCC"/>
                </a:solidFill>
                <a:effectLst/>
                <a:latin typeface="Menlo" panose="020B0609030804020204" pitchFamily="49" charset="0"/>
              </a:rPr>
              <a:t>One team member should still have an unmerged branch from the previous exercise. If not, have one of you create a branch, introduce a small change, commit, push, then publish the branch.</a:t>
            </a:r>
          </a:p>
          <a:p>
            <a:br>
              <a:rPr lang="en-US" b="0" dirty="0">
                <a:solidFill>
                  <a:srgbClr val="CCCCCC"/>
                </a:solidFill>
                <a:effectLst/>
                <a:latin typeface="Menlo" panose="020B0609030804020204" pitchFamily="49" charset="0"/>
              </a:rPr>
            </a:br>
            <a:r>
              <a:rPr lang="en-US" b="0" dirty="0">
                <a:solidFill>
                  <a:srgbClr val="CCCCCC"/>
                </a:solidFill>
                <a:effectLst/>
                <a:latin typeface="Menlo" panose="020B0609030804020204" pitchFamily="49" charset="0"/>
              </a:rPr>
              <a:t>Log into GitHub. The team member with the branch should create a pull request. Once it is created, everyone should look at the different parts of the PR and comment whether the branch looks okay to merge. The branch owner should make changes requested. If there are merge conflicts, those should be addressed (you can work together to address them). Once it is ready to merge, someone else on the team should merge the Pull Request.</a:t>
            </a:r>
          </a:p>
          <a:p>
            <a:br>
              <a:rPr lang="en-US" b="0" dirty="0">
                <a:solidFill>
                  <a:srgbClr val="CCCCCC"/>
                </a:solidFill>
                <a:effectLst/>
                <a:latin typeface="Menlo" panose="020B0609030804020204" pitchFamily="49" charset="0"/>
              </a:rPr>
            </a:br>
            <a:r>
              <a:rPr lang="en-US" b="0" dirty="0">
                <a:solidFill>
                  <a:srgbClr val="CCCCCC"/>
                </a:solidFill>
                <a:effectLst/>
                <a:latin typeface="Menlo" panose="020B0609030804020204" pitchFamily="49" charset="0"/>
              </a:rPr>
              <a:t>In both this activity and the last one your branch was eventually merged into the main branch. How does this experience compare to the previous activity?</a:t>
            </a:r>
          </a:p>
          <a:p>
            <a:br>
              <a:rPr lang="en-US" b="0" dirty="0">
                <a:solidFill>
                  <a:srgbClr val="CCCCCC"/>
                </a:solidFill>
                <a:effectLst/>
                <a:latin typeface="Menlo" panose="020B0609030804020204" pitchFamily="49" charset="0"/>
              </a:rPr>
            </a:br>
            <a:r>
              <a:rPr lang="en-US" b="0" dirty="0">
                <a:solidFill>
                  <a:srgbClr val="CCCCCC"/>
                </a:solidFill>
                <a:effectLst/>
                <a:latin typeface="Menlo" panose="020B0609030804020204" pitchFamily="49" charset="0"/>
              </a:rPr>
              <a:t>If you have extra time, the remaining team members can create their own Pull Requests with new branches.</a:t>
            </a:r>
          </a:p>
          <a:p>
            <a:endParaRPr lang="en-US" dirty="0"/>
          </a:p>
        </p:txBody>
      </p:sp>
      <p:sp>
        <p:nvSpPr>
          <p:cNvPr id="4" name="Slide Number Placeholder 3"/>
          <p:cNvSpPr>
            <a:spLocks noGrp="1"/>
          </p:cNvSpPr>
          <p:nvPr>
            <p:ph type="sldNum" sz="quarter" idx="5"/>
          </p:nvPr>
        </p:nvSpPr>
        <p:spPr/>
        <p:txBody>
          <a:bodyPr/>
          <a:lstStyle/>
          <a:p>
            <a:fld id="{729A9A33-2617-9741-9692-B8CF37E91C8E}" type="slidenum">
              <a:rPr lang="en-US" smtClean="0"/>
              <a:t>29</a:t>
            </a:fld>
            <a:endParaRPr lang="en-US"/>
          </a:p>
        </p:txBody>
      </p:sp>
    </p:spTree>
    <p:extLst>
      <p:ext uri="{BB962C8B-B14F-4D97-AF65-F5344CB8AC3E}">
        <p14:creationId xmlns:p14="http://schemas.microsoft.com/office/powerpoint/2010/main" val="7447215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dirty="0">
                <a:solidFill>
                  <a:srgbClr val="CCCCCC"/>
                </a:solidFill>
                <a:effectLst/>
                <a:latin typeface="Menlo" panose="020B0609030804020204" pitchFamily="49" charset="0"/>
              </a:rPr>
              <a:t>When you are working with others in the same git repository, you'll find you'll need to come to an agreement on how you are going to work in the repository. This can include:</a:t>
            </a:r>
          </a:p>
          <a:p>
            <a:br>
              <a:rPr lang="en-US" b="0" dirty="0">
                <a:solidFill>
                  <a:srgbClr val="CCCCCC"/>
                </a:solidFill>
                <a:effectLst/>
                <a:latin typeface="Menlo" panose="020B0609030804020204" pitchFamily="49" charset="0"/>
              </a:rPr>
            </a:br>
            <a:r>
              <a:rPr lang="en-US" b="0" dirty="0">
                <a:solidFill>
                  <a:srgbClr val="6796E6"/>
                </a:solidFill>
                <a:effectLst/>
                <a:latin typeface="Menlo" panose="020B0609030804020204" pitchFamily="49" charset="0"/>
              </a:rPr>
              <a:t>-</a:t>
            </a:r>
            <a:r>
              <a:rPr lang="en-US" b="0" dirty="0">
                <a:solidFill>
                  <a:srgbClr val="CCCCCC"/>
                </a:solidFill>
                <a:effectLst/>
                <a:latin typeface="Menlo" panose="020B0609030804020204" pitchFamily="49" charset="0"/>
              </a:rPr>
              <a:t> How you are going to use branches</a:t>
            </a:r>
          </a:p>
          <a:p>
            <a:r>
              <a:rPr lang="en-US" b="0" dirty="0">
                <a:solidFill>
                  <a:srgbClr val="6796E6"/>
                </a:solidFill>
                <a:effectLst/>
                <a:latin typeface="Menlo" panose="020B0609030804020204" pitchFamily="49" charset="0"/>
              </a:rPr>
              <a:t>-</a:t>
            </a:r>
            <a:r>
              <a:rPr lang="en-US" b="0" dirty="0">
                <a:solidFill>
                  <a:srgbClr val="CCCCCC"/>
                </a:solidFill>
                <a:effectLst/>
                <a:latin typeface="Menlo" panose="020B0609030804020204" pitchFamily="49" charset="0"/>
              </a:rPr>
              <a:t> What is considered the "latest version", or what is "production" vs "in development"</a:t>
            </a:r>
          </a:p>
          <a:p>
            <a:r>
              <a:rPr lang="en-US" b="0" dirty="0">
                <a:solidFill>
                  <a:srgbClr val="6796E6"/>
                </a:solidFill>
                <a:effectLst/>
                <a:latin typeface="Menlo" panose="020B0609030804020204" pitchFamily="49" charset="0"/>
              </a:rPr>
              <a:t>-</a:t>
            </a:r>
            <a:r>
              <a:rPr lang="en-US" b="0" dirty="0">
                <a:solidFill>
                  <a:srgbClr val="CCCCCC"/>
                </a:solidFill>
                <a:effectLst/>
                <a:latin typeface="Menlo" panose="020B0609030804020204" pitchFamily="49" charset="0"/>
              </a:rPr>
              <a:t> How those branches are merged</a:t>
            </a:r>
          </a:p>
          <a:p>
            <a:r>
              <a:rPr lang="en-US" b="0" dirty="0">
                <a:solidFill>
                  <a:srgbClr val="6796E6"/>
                </a:solidFill>
                <a:effectLst/>
                <a:latin typeface="Menlo" panose="020B0609030804020204" pitchFamily="49" charset="0"/>
              </a:rPr>
              <a:t>-</a:t>
            </a:r>
            <a:r>
              <a:rPr lang="en-US" b="0" dirty="0">
                <a:solidFill>
                  <a:srgbClr val="CCCCCC"/>
                </a:solidFill>
                <a:effectLst/>
                <a:latin typeface="Menlo" panose="020B0609030804020204" pitchFamily="49" charset="0"/>
              </a:rPr>
              <a:t> When you are making pull requests and into what</a:t>
            </a:r>
          </a:p>
          <a:p>
            <a:r>
              <a:rPr lang="en-US" b="0" dirty="0">
                <a:solidFill>
                  <a:srgbClr val="6796E6"/>
                </a:solidFill>
                <a:effectLst/>
                <a:latin typeface="Menlo" panose="020B0609030804020204" pitchFamily="49" charset="0"/>
              </a:rPr>
              <a:t>-</a:t>
            </a:r>
            <a:r>
              <a:rPr lang="en-US" b="0" dirty="0">
                <a:solidFill>
                  <a:srgbClr val="CCCCCC"/>
                </a:solidFill>
                <a:effectLst/>
                <a:latin typeface="Menlo" panose="020B0609030804020204" pitchFamily="49" charset="0"/>
              </a:rPr>
              <a:t> Whether you are working in a single, central repository, or separate forked repositories</a:t>
            </a:r>
          </a:p>
          <a:p>
            <a:br>
              <a:rPr lang="en-US" b="0" dirty="0">
                <a:solidFill>
                  <a:srgbClr val="CCCCCC"/>
                </a:solidFill>
                <a:effectLst/>
                <a:latin typeface="Menlo" panose="020B0609030804020204" pitchFamily="49" charset="0"/>
              </a:rPr>
            </a:br>
            <a:r>
              <a:rPr lang="en-US" b="0" dirty="0">
                <a:solidFill>
                  <a:srgbClr val="CCCCCC"/>
                </a:solidFill>
                <a:effectLst/>
                <a:latin typeface="Menlo" panose="020B0609030804020204" pitchFamily="49" charset="0"/>
              </a:rPr>
              <a:t>These questions are often answered by what we will call a git workflow. A git workflow helps you keep organized when working on a team, helps everyone stay on the same page about the state of the code, and helps enable communication. If you've ever emailed around documents you were working on with a team, you might understand the value of everyone on the team always having access to both the latest version, and any material still in progress.</a:t>
            </a:r>
          </a:p>
          <a:p>
            <a:br>
              <a:rPr lang="en-US" b="0" dirty="0">
                <a:solidFill>
                  <a:srgbClr val="CCCCCC"/>
                </a:solidFill>
                <a:effectLst/>
                <a:latin typeface="Menlo" panose="020B0609030804020204" pitchFamily="49" charset="0"/>
              </a:rPr>
            </a:br>
            <a:r>
              <a:rPr lang="en-US" b="0" dirty="0">
                <a:solidFill>
                  <a:srgbClr val="CCCCCC"/>
                </a:solidFill>
                <a:effectLst/>
                <a:latin typeface="Menlo" panose="020B0609030804020204" pitchFamily="49" charset="0"/>
              </a:rPr>
              <a:t>When we talk about git workflows often we are really discussing is branching strategies. The branching strategy is how you are going to use branches to work with the code. This includes the purposes of each branch (ex: a feature branch vs a release branch), where a new branch is created, and how, when, and where branches are merged. Different branches and branch types will have different lifetimes as well. For example, once a feature branch has been merged it can often be deleted, however a dedicated development branch might exist for the entire project.</a:t>
            </a:r>
          </a:p>
          <a:p>
            <a:br>
              <a:rPr lang="en-US" b="0" dirty="0">
                <a:solidFill>
                  <a:srgbClr val="CCCCCC"/>
                </a:solidFill>
                <a:effectLst/>
                <a:latin typeface="Menlo" panose="020B0609030804020204" pitchFamily="49" charset="0"/>
              </a:rPr>
            </a:br>
            <a:r>
              <a:rPr lang="en-US" b="0" dirty="0">
                <a:solidFill>
                  <a:srgbClr val="CCCCCC"/>
                </a:solidFill>
                <a:effectLst/>
                <a:latin typeface="Menlo" panose="020B0609030804020204" pitchFamily="49" charset="0"/>
              </a:rPr>
              <a:t>The git workflow should also dictate what is stable under what conditions, what is tested, and may also include testing strategies.</a:t>
            </a:r>
          </a:p>
          <a:p>
            <a:endParaRPr lang="en-US" dirty="0"/>
          </a:p>
        </p:txBody>
      </p:sp>
      <p:sp>
        <p:nvSpPr>
          <p:cNvPr id="4" name="Slide Number Placeholder 3"/>
          <p:cNvSpPr>
            <a:spLocks noGrp="1"/>
          </p:cNvSpPr>
          <p:nvPr>
            <p:ph type="sldNum" sz="quarter" idx="5"/>
          </p:nvPr>
        </p:nvSpPr>
        <p:spPr/>
        <p:txBody>
          <a:bodyPr/>
          <a:lstStyle/>
          <a:p>
            <a:fld id="{729A9A33-2617-9741-9692-B8CF37E91C8E}" type="slidenum">
              <a:rPr lang="en-US" smtClean="0"/>
              <a:t>31</a:t>
            </a:fld>
            <a:endParaRPr lang="en-US"/>
          </a:p>
        </p:txBody>
      </p:sp>
    </p:spTree>
    <p:extLst>
      <p:ext uri="{BB962C8B-B14F-4D97-AF65-F5344CB8AC3E}">
        <p14:creationId xmlns:p14="http://schemas.microsoft.com/office/powerpoint/2010/main" val="108108541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dirty="0">
                <a:solidFill>
                  <a:srgbClr val="CCCCCC"/>
                </a:solidFill>
                <a:effectLst/>
                <a:latin typeface="Menlo" panose="020B0609030804020204" pitchFamily="49" charset="0"/>
              </a:rPr>
              <a:t>With a centralized workflow you only have one main branch (or trunk, borrowing terminology from SVN, another version control system). Team members work in their local clone and push commits less frequently. The central repository is meant to be "clean" and should be stable. Git will also prevent you from pushing any changes that cause conflicts. If someone else as pushed a change that conflicts with one of your local commits, git will not let you push those changes and will require you resolve the conflict locally before pushing.</a:t>
            </a:r>
          </a:p>
          <a:p>
            <a:br>
              <a:rPr lang="en-US" b="0" dirty="0">
                <a:solidFill>
                  <a:srgbClr val="CCCCCC"/>
                </a:solidFill>
                <a:effectLst/>
                <a:latin typeface="Menlo" panose="020B0609030804020204" pitchFamily="49" charset="0"/>
              </a:rPr>
            </a:br>
            <a:r>
              <a:rPr lang="en-US" b="0" dirty="0">
                <a:solidFill>
                  <a:srgbClr val="CCCCCC"/>
                </a:solidFill>
                <a:effectLst/>
                <a:latin typeface="Menlo" panose="020B0609030804020204" pitchFamily="49" charset="0"/>
              </a:rPr>
              <a:t>A centralized workflow with a single main branch is not the best for collaborative development, although it may work okay in small teams. We mention it to give a name to a process you might already be familiar with, and as a starting point for other workflows.</a:t>
            </a:r>
          </a:p>
          <a:p>
            <a:endParaRPr lang="en-US" dirty="0"/>
          </a:p>
        </p:txBody>
      </p:sp>
      <p:sp>
        <p:nvSpPr>
          <p:cNvPr id="4" name="Slide Number Placeholder 3"/>
          <p:cNvSpPr>
            <a:spLocks noGrp="1"/>
          </p:cNvSpPr>
          <p:nvPr>
            <p:ph type="sldNum" sz="quarter" idx="5"/>
          </p:nvPr>
        </p:nvSpPr>
        <p:spPr/>
        <p:txBody>
          <a:bodyPr/>
          <a:lstStyle/>
          <a:p>
            <a:fld id="{729A9A33-2617-9741-9692-B8CF37E91C8E}" type="slidenum">
              <a:rPr lang="en-US" smtClean="0"/>
              <a:t>32</a:t>
            </a:fld>
            <a:endParaRPr lang="en-US"/>
          </a:p>
        </p:txBody>
      </p:sp>
    </p:spTree>
    <p:extLst>
      <p:ext uri="{BB962C8B-B14F-4D97-AF65-F5344CB8AC3E}">
        <p14:creationId xmlns:p14="http://schemas.microsoft.com/office/powerpoint/2010/main" val="334455414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dirty="0">
                <a:solidFill>
                  <a:srgbClr val="CCCCCC"/>
                </a:solidFill>
                <a:effectLst/>
                <a:latin typeface="Menlo" panose="020B0609030804020204" pitchFamily="49" charset="0"/>
              </a:rPr>
              <a:t>Since we've covered branching, a simple extension to the centralized workflow is a Feature Branching Workflow. The main branch is like the central repository in the centralized workflow, it is meant to be clean and stable. Instead in working directly in clones of the main branch, all development is done in feature branches, where each branch is created from the main branch to develop a specific feature. The branch is published soon after it is created in the remote repository and commits are regularly pushed. This allows other developers to see the branch and any changes early. Using feature branches also allows an individual developer to work on more than one feature at a time if needed. Say you are working on developing a feature that requires some time and thought, but in the process find a bug that should be fixed immediately. You can create a new branch, fix the bug, and merge it back into the main branch without introducing any of the partially developed code you are still working on in the other feature branch.</a:t>
            </a:r>
          </a:p>
          <a:p>
            <a:br>
              <a:rPr lang="en-US" b="0" dirty="0">
                <a:solidFill>
                  <a:srgbClr val="CCCCCC"/>
                </a:solidFill>
                <a:effectLst/>
                <a:latin typeface="Menlo" panose="020B0609030804020204" pitchFamily="49" charset="0"/>
              </a:rPr>
            </a:br>
            <a:r>
              <a:rPr lang="en-US" b="0" dirty="0">
                <a:solidFill>
                  <a:srgbClr val="CCCCCC"/>
                </a:solidFill>
                <a:effectLst/>
                <a:latin typeface="Menlo" panose="020B0609030804020204" pitchFamily="49" charset="0"/>
              </a:rPr>
              <a:t>Once the feature is complete and tested, feature branches are merged back into the main branch through Pull Requests. Any merge conflicts should be handled in the feature branch before merging. This can be done by merging any new commits from the main branch into the feature branch, handling any conflicts that emerge. The changes are discussed and reviewed in the Pull Request, and once accepted hey are merged. Once merged, the lifecycle of a feature branch is general complete and it can be deleted if it is no longer needed.</a:t>
            </a:r>
          </a:p>
          <a:p>
            <a:br>
              <a:rPr lang="en-US" b="0" dirty="0">
                <a:solidFill>
                  <a:srgbClr val="CCCCCC"/>
                </a:solidFill>
                <a:effectLst/>
                <a:latin typeface="Menlo" panose="020B0609030804020204" pitchFamily="49" charset="0"/>
              </a:rPr>
            </a:br>
            <a:r>
              <a:rPr lang="en-US" b="0" dirty="0">
                <a:solidFill>
                  <a:srgbClr val="CCCCCC"/>
                </a:solidFill>
                <a:effectLst/>
                <a:latin typeface="Menlo" panose="020B0609030804020204" pitchFamily="49" charset="0"/>
              </a:rPr>
              <a:t>This is also known as "GitHub Flow", as it is used by the developers of GitHub for sections of their website, including their documentation. GitHub even has a [</a:t>
            </a:r>
            <a:r>
              <a:rPr lang="en-US" b="0" dirty="0">
                <a:solidFill>
                  <a:srgbClr val="CE9178"/>
                </a:solidFill>
                <a:effectLst/>
                <a:latin typeface="Menlo" panose="020B0609030804020204" pitchFamily="49" charset="0"/>
              </a:rPr>
              <a:t>dedicated page in their documentation</a:t>
            </a:r>
            <a:r>
              <a:rPr lang="en-US" b="0" dirty="0">
                <a:solidFill>
                  <a:srgbClr val="CCCCCC"/>
                </a:solidFill>
                <a:effectLst/>
                <a:latin typeface="Menlo" panose="020B0609030804020204" pitchFamily="49" charset="0"/>
              </a:rPr>
              <a:t>](</a:t>
            </a:r>
            <a:r>
              <a:rPr lang="en-US" b="0" u="sng" dirty="0">
                <a:solidFill>
                  <a:srgbClr val="CCCCCC"/>
                </a:solidFill>
                <a:effectLst/>
                <a:latin typeface="Menlo" panose="020B0609030804020204" pitchFamily="49" charset="0"/>
              </a:rPr>
              <a:t>https://</a:t>
            </a:r>
            <a:r>
              <a:rPr lang="en-US" b="0" u="sng" dirty="0" err="1">
                <a:solidFill>
                  <a:srgbClr val="CCCCCC"/>
                </a:solidFill>
                <a:effectLst/>
                <a:latin typeface="Menlo" panose="020B0609030804020204" pitchFamily="49" charset="0"/>
              </a:rPr>
              <a:t>docs.github.com</a:t>
            </a:r>
            <a:r>
              <a:rPr lang="en-US" b="0" u="sng" dirty="0">
                <a:solidFill>
                  <a:srgbClr val="CCCCCC"/>
                </a:solidFill>
                <a:effectLst/>
                <a:latin typeface="Menlo" panose="020B0609030804020204" pitchFamily="49" charset="0"/>
              </a:rPr>
              <a:t>/</a:t>
            </a:r>
            <a:r>
              <a:rPr lang="en-US" b="0" u="sng" dirty="0" err="1">
                <a:solidFill>
                  <a:srgbClr val="CCCCCC"/>
                </a:solidFill>
                <a:effectLst/>
                <a:latin typeface="Menlo" panose="020B0609030804020204" pitchFamily="49" charset="0"/>
              </a:rPr>
              <a:t>en</a:t>
            </a:r>
            <a:r>
              <a:rPr lang="en-US" b="0" u="sng" dirty="0">
                <a:solidFill>
                  <a:srgbClr val="CCCCCC"/>
                </a:solidFill>
                <a:effectLst/>
                <a:latin typeface="Menlo" panose="020B0609030804020204" pitchFamily="49" charset="0"/>
              </a:rPr>
              <a:t>/get-started/</a:t>
            </a:r>
            <a:r>
              <a:rPr lang="en-US" b="0" u="sng" dirty="0" err="1">
                <a:solidFill>
                  <a:srgbClr val="CCCCCC"/>
                </a:solidFill>
                <a:effectLst/>
                <a:latin typeface="Menlo" panose="020B0609030804020204" pitchFamily="49" charset="0"/>
              </a:rPr>
              <a:t>quickstart</a:t>
            </a:r>
            <a:r>
              <a:rPr lang="en-US" b="0" u="sng" dirty="0">
                <a:solidFill>
                  <a:srgbClr val="CCCCCC"/>
                </a:solidFill>
                <a:effectLst/>
                <a:latin typeface="Menlo" panose="020B0609030804020204" pitchFamily="49" charset="0"/>
              </a:rPr>
              <a:t>/</a:t>
            </a:r>
            <a:r>
              <a:rPr lang="en-US" b="0" u="sng" dirty="0" err="1">
                <a:solidFill>
                  <a:srgbClr val="CCCCCC"/>
                </a:solidFill>
                <a:effectLst/>
                <a:latin typeface="Menlo" panose="020B0609030804020204" pitchFamily="49" charset="0"/>
              </a:rPr>
              <a:t>github</a:t>
            </a:r>
            <a:r>
              <a:rPr lang="en-US" b="0" u="sng" dirty="0">
                <a:solidFill>
                  <a:srgbClr val="CCCCCC"/>
                </a:solidFill>
                <a:effectLst/>
                <a:latin typeface="Menlo" panose="020B0609030804020204" pitchFamily="49" charset="0"/>
              </a:rPr>
              <a:t>-flow</a:t>
            </a:r>
            <a:r>
              <a:rPr lang="en-US" b="0" dirty="0">
                <a:solidFill>
                  <a:srgbClr val="CCCCCC"/>
                </a:solidFill>
                <a:effectLst/>
                <a:latin typeface="Menlo" panose="020B0609030804020204" pitchFamily="49" charset="0"/>
              </a:rPr>
              <a:t>) describing the workflow. It is most useful for projects that have a rolling development cycle without specific versioned releases.</a:t>
            </a:r>
          </a:p>
          <a:p>
            <a:endParaRPr lang="en-US" dirty="0"/>
          </a:p>
        </p:txBody>
      </p:sp>
      <p:sp>
        <p:nvSpPr>
          <p:cNvPr id="4" name="Slide Number Placeholder 3"/>
          <p:cNvSpPr>
            <a:spLocks noGrp="1"/>
          </p:cNvSpPr>
          <p:nvPr>
            <p:ph type="sldNum" sz="quarter" idx="5"/>
          </p:nvPr>
        </p:nvSpPr>
        <p:spPr/>
        <p:txBody>
          <a:bodyPr/>
          <a:lstStyle/>
          <a:p>
            <a:fld id="{729A9A33-2617-9741-9692-B8CF37E91C8E}" type="slidenum">
              <a:rPr lang="en-US" smtClean="0"/>
              <a:t>33</a:t>
            </a:fld>
            <a:endParaRPr lang="en-US"/>
          </a:p>
        </p:txBody>
      </p:sp>
    </p:spTree>
    <p:extLst>
      <p:ext uri="{BB962C8B-B14F-4D97-AF65-F5344CB8AC3E}">
        <p14:creationId xmlns:p14="http://schemas.microsoft.com/office/powerpoint/2010/main" val="11916259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dirty="0">
                <a:solidFill>
                  <a:srgbClr val="CCCCCC"/>
                </a:solidFill>
                <a:effectLst/>
                <a:latin typeface="Menlo" panose="020B0609030804020204" pitchFamily="49" charset="0"/>
              </a:rPr>
              <a:t>Git Flow is one of the most commonly used workflows. It is used for software projects that require robust, production-ready releases. It is suitable for larger teams where more than one person might work on the same feature.</a:t>
            </a:r>
          </a:p>
          <a:p>
            <a:br>
              <a:rPr lang="en-US" b="0" dirty="0">
                <a:solidFill>
                  <a:srgbClr val="CCCCCC"/>
                </a:solidFill>
                <a:effectLst/>
                <a:latin typeface="Menlo" panose="020B0609030804020204" pitchFamily="49" charset="0"/>
              </a:rPr>
            </a:br>
            <a:r>
              <a:rPr lang="en-US" b="0" dirty="0">
                <a:solidFill>
                  <a:srgbClr val="CCCCCC"/>
                </a:solidFill>
                <a:effectLst/>
                <a:latin typeface="Menlo" panose="020B0609030804020204" pitchFamily="49" charset="0"/>
              </a:rPr>
              <a:t>Git Flow builds on a feature branching workflow, where instead of creating feature branches from the main branch, they are created from a separate permanent development branch. When a feature is complete, its branch is merged into the development branch. Individual release branches are created from the development branch, and once production-ready are merged into the main branch upon release and tagged. The main branch therefore contains only fully tested, stable, production code associated with a particular version. If the code has a bug in the main branch that needs to be fixed immediately, hotfix branches can be created off the main branched and merged directly back into the main branch without being added to the development branch or a release branch.</a:t>
            </a:r>
          </a:p>
          <a:p>
            <a:br>
              <a:rPr lang="en-US" b="0" dirty="0">
                <a:solidFill>
                  <a:srgbClr val="CCCCCC"/>
                </a:solidFill>
                <a:effectLst/>
                <a:latin typeface="Menlo" panose="020B0609030804020204" pitchFamily="49" charset="0"/>
              </a:rPr>
            </a:br>
            <a:r>
              <a:rPr lang="en-US" b="0" dirty="0">
                <a:solidFill>
                  <a:srgbClr val="CCCCCC"/>
                </a:solidFill>
                <a:effectLst/>
                <a:latin typeface="Menlo" panose="020B0609030804020204" pitchFamily="49" charset="0"/>
              </a:rPr>
              <a:t>Git Flow was introduced with a blog post in 2010, which you can see [</a:t>
            </a:r>
            <a:r>
              <a:rPr lang="en-US" b="0" dirty="0">
                <a:solidFill>
                  <a:srgbClr val="CE9178"/>
                </a:solidFill>
                <a:effectLst/>
                <a:latin typeface="Menlo" panose="020B0609030804020204" pitchFamily="49" charset="0"/>
              </a:rPr>
              <a:t>here</a:t>
            </a:r>
            <a:r>
              <a:rPr lang="en-US" b="0" dirty="0">
                <a:solidFill>
                  <a:srgbClr val="CCCCCC"/>
                </a:solidFill>
                <a:effectLst/>
                <a:latin typeface="Menlo" panose="020B0609030804020204" pitchFamily="49" charset="0"/>
              </a:rPr>
              <a:t>](</a:t>
            </a:r>
            <a:r>
              <a:rPr lang="en-US" b="0" u="sng" dirty="0">
                <a:solidFill>
                  <a:srgbClr val="CCCCCC"/>
                </a:solidFill>
                <a:effectLst/>
                <a:latin typeface="Menlo" panose="020B0609030804020204" pitchFamily="49" charset="0"/>
              </a:rPr>
              <a:t>https://</a:t>
            </a:r>
            <a:r>
              <a:rPr lang="en-US" b="0" u="sng" dirty="0" err="1">
                <a:solidFill>
                  <a:srgbClr val="CCCCCC"/>
                </a:solidFill>
                <a:effectLst/>
                <a:latin typeface="Menlo" panose="020B0609030804020204" pitchFamily="49" charset="0"/>
              </a:rPr>
              <a:t>nvie.com</a:t>
            </a:r>
            <a:r>
              <a:rPr lang="en-US" b="0" u="sng" dirty="0">
                <a:solidFill>
                  <a:srgbClr val="CCCCCC"/>
                </a:solidFill>
                <a:effectLst/>
                <a:latin typeface="Menlo" panose="020B0609030804020204" pitchFamily="49" charset="0"/>
              </a:rPr>
              <a:t>/posts/a-successful-git-branching-model/</a:t>
            </a:r>
            <a:r>
              <a:rPr lang="en-US" b="0" dirty="0">
                <a:solidFill>
                  <a:srgbClr val="CCCCCC"/>
                </a:solidFill>
                <a:effectLst/>
                <a:latin typeface="Menlo" panose="020B0609030804020204" pitchFamily="49" charset="0"/>
              </a:rPr>
              <a:t>) if you are interested.</a:t>
            </a:r>
          </a:p>
          <a:p>
            <a:endParaRPr lang="en-US" dirty="0"/>
          </a:p>
        </p:txBody>
      </p:sp>
      <p:sp>
        <p:nvSpPr>
          <p:cNvPr id="4" name="Slide Number Placeholder 3"/>
          <p:cNvSpPr>
            <a:spLocks noGrp="1"/>
          </p:cNvSpPr>
          <p:nvPr>
            <p:ph type="sldNum" sz="quarter" idx="5"/>
          </p:nvPr>
        </p:nvSpPr>
        <p:spPr/>
        <p:txBody>
          <a:bodyPr/>
          <a:lstStyle/>
          <a:p>
            <a:fld id="{729A9A33-2617-9741-9692-B8CF37E91C8E}" type="slidenum">
              <a:rPr lang="en-US" smtClean="0"/>
              <a:t>34</a:t>
            </a:fld>
            <a:endParaRPr lang="en-US"/>
          </a:p>
        </p:txBody>
      </p:sp>
    </p:spTree>
    <p:extLst>
      <p:ext uri="{BB962C8B-B14F-4D97-AF65-F5344CB8AC3E}">
        <p14:creationId xmlns:p14="http://schemas.microsoft.com/office/powerpoint/2010/main" val="313043146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dirty="0">
                <a:solidFill>
                  <a:srgbClr val="CCCCCC"/>
                </a:solidFill>
                <a:effectLst/>
                <a:latin typeface="Menlo" panose="020B0609030804020204" pitchFamily="49" charset="0"/>
              </a:rPr>
              <a:t>Similar to GitHub Flow, GitLab Flow gets its name because it is the workflow used by GitLab. GitLab is a bit closer to the simplicity of GitHub Flow, but is more appropriate in cases where the rolling releases of GitHub Flow are not possible. GitLab Flow is similar to Git Flow in that feature branches are not merged directly into the production branch, however instead it has a separate named production branch and the feature branches are merged into the main branch, which is more like the development branch of Git Flow. Release branches are optional, and only recommended only when software is released to the outside world.</a:t>
            </a:r>
          </a:p>
          <a:p>
            <a:br>
              <a:rPr lang="en-US" b="0" dirty="0">
                <a:solidFill>
                  <a:srgbClr val="CCCCCC"/>
                </a:solidFill>
                <a:effectLst/>
                <a:latin typeface="Menlo" panose="020B0609030804020204" pitchFamily="49" charset="0"/>
              </a:rPr>
            </a:br>
            <a:r>
              <a:rPr lang="en-US" b="0" dirty="0">
                <a:solidFill>
                  <a:srgbClr val="CCCCCC"/>
                </a:solidFill>
                <a:effectLst/>
                <a:latin typeface="Menlo" panose="020B0609030804020204" pitchFamily="49" charset="0"/>
              </a:rPr>
              <a:t>For more information, see GitLab's article on [</a:t>
            </a:r>
            <a:r>
              <a:rPr lang="en-US" b="0" dirty="0">
                <a:solidFill>
                  <a:srgbClr val="CE9178"/>
                </a:solidFill>
                <a:effectLst/>
                <a:latin typeface="Menlo" panose="020B0609030804020204" pitchFamily="49" charset="0"/>
              </a:rPr>
              <a:t>GitLab Flow</a:t>
            </a:r>
            <a:r>
              <a:rPr lang="en-US" b="0" dirty="0">
                <a:solidFill>
                  <a:srgbClr val="CCCCCC"/>
                </a:solidFill>
                <a:effectLst/>
                <a:latin typeface="Menlo" panose="020B0609030804020204" pitchFamily="49" charset="0"/>
              </a:rPr>
              <a:t>](</a:t>
            </a:r>
            <a:r>
              <a:rPr lang="en-US" b="0" u="sng" dirty="0">
                <a:solidFill>
                  <a:srgbClr val="CCCCCC"/>
                </a:solidFill>
                <a:effectLst/>
                <a:latin typeface="Menlo" panose="020B0609030804020204" pitchFamily="49" charset="0"/>
              </a:rPr>
              <a:t>https://</a:t>
            </a:r>
            <a:r>
              <a:rPr lang="en-US" b="0" u="sng" dirty="0" err="1">
                <a:solidFill>
                  <a:srgbClr val="CCCCCC"/>
                </a:solidFill>
                <a:effectLst/>
                <a:latin typeface="Menlo" panose="020B0609030804020204" pitchFamily="49" charset="0"/>
              </a:rPr>
              <a:t>docs.gitlab.com</a:t>
            </a:r>
            <a:r>
              <a:rPr lang="en-US" b="0" u="sng" dirty="0">
                <a:solidFill>
                  <a:srgbClr val="CCCCCC"/>
                </a:solidFill>
                <a:effectLst/>
                <a:latin typeface="Menlo" panose="020B0609030804020204" pitchFamily="49" charset="0"/>
              </a:rPr>
              <a:t>/</a:t>
            </a:r>
            <a:r>
              <a:rPr lang="en-US" b="0" u="sng" dirty="0" err="1">
                <a:solidFill>
                  <a:srgbClr val="CCCCCC"/>
                </a:solidFill>
                <a:effectLst/>
                <a:latin typeface="Menlo" panose="020B0609030804020204" pitchFamily="49" charset="0"/>
              </a:rPr>
              <a:t>ee</a:t>
            </a:r>
            <a:r>
              <a:rPr lang="en-US" b="0" u="sng" dirty="0">
                <a:solidFill>
                  <a:srgbClr val="CCCCCC"/>
                </a:solidFill>
                <a:effectLst/>
                <a:latin typeface="Menlo" panose="020B0609030804020204" pitchFamily="49" charset="0"/>
              </a:rPr>
              <a:t>/topics/</a:t>
            </a:r>
            <a:r>
              <a:rPr lang="en-US" b="0" u="sng" dirty="0" err="1">
                <a:solidFill>
                  <a:srgbClr val="CCCCCC"/>
                </a:solidFill>
                <a:effectLst/>
                <a:latin typeface="Menlo" panose="020B0609030804020204" pitchFamily="49" charset="0"/>
              </a:rPr>
              <a:t>gitlab_flow.html</a:t>
            </a:r>
            <a:r>
              <a:rPr lang="en-US" b="0" dirty="0">
                <a:solidFill>
                  <a:srgbClr val="CCCCCC"/>
                </a:solidFill>
                <a:effectLst/>
                <a:latin typeface="Menlo" panose="020B0609030804020204" pitchFamily="49" charset="0"/>
              </a:rPr>
              <a:t>).</a:t>
            </a:r>
          </a:p>
        </p:txBody>
      </p:sp>
      <p:sp>
        <p:nvSpPr>
          <p:cNvPr id="4" name="Slide Number Placeholder 3"/>
          <p:cNvSpPr>
            <a:spLocks noGrp="1"/>
          </p:cNvSpPr>
          <p:nvPr>
            <p:ph type="sldNum" sz="quarter" idx="5"/>
          </p:nvPr>
        </p:nvSpPr>
        <p:spPr/>
        <p:txBody>
          <a:bodyPr/>
          <a:lstStyle/>
          <a:p>
            <a:fld id="{729A9A33-2617-9741-9692-B8CF37E91C8E}" type="slidenum">
              <a:rPr lang="en-US" smtClean="0"/>
              <a:t>35</a:t>
            </a:fld>
            <a:endParaRPr lang="en-US"/>
          </a:p>
        </p:txBody>
      </p:sp>
    </p:spTree>
    <p:extLst>
      <p:ext uri="{BB962C8B-B14F-4D97-AF65-F5344CB8AC3E}">
        <p14:creationId xmlns:p14="http://schemas.microsoft.com/office/powerpoint/2010/main" val="92155496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dirty="0">
                <a:solidFill>
                  <a:srgbClr val="CCCCCC"/>
                </a:solidFill>
                <a:effectLst/>
                <a:latin typeface="Menlo" panose="020B0609030804020204" pitchFamily="49" charset="0"/>
              </a:rPr>
              <a:t>In each of these example workflows we have assumed that anyone contributing to a repository has the ability to directly push commits to a repository. However, sometimes you want to enable developers to contribute to a project without giving them access to the repository itself. In this case, a forking workflow might be suitable. Any of the workflows we've talked about already could incorporate forking. With a forking workflow individual developers create their own fork of a repository and do their development within their fork. When a feature is complete, the developer creates a Pull Request into the appropriate branch of the original repository. The owners of the repository can then approve the Pull Request at their discretion. This is how many open source projects encourage contributions.</a:t>
            </a:r>
          </a:p>
        </p:txBody>
      </p:sp>
      <p:sp>
        <p:nvSpPr>
          <p:cNvPr id="4" name="Slide Number Placeholder 3"/>
          <p:cNvSpPr>
            <a:spLocks noGrp="1"/>
          </p:cNvSpPr>
          <p:nvPr>
            <p:ph type="sldNum" sz="quarter" idx="5"/>
          </p:nvPr>
        </p:nvSpPr>
        <p:spPr/>
        <p:txBody>
          <a:bodyPr/>
          <a:lstStyle/>
          <a:p>
            <a:fld id="{729A9A33-2617-9741-9692-B8CF37E91C8E}" type="slidenum">
              <a:rPr lang="en-US" smtClean="0"/>
              <a:t>36</a:t>
            </a:fld>
            <a:endParaRPr lang="en-US"/>
          </a:p>
        </p:txBody>
      </p:sp>
    </p:spTree>
    <p:extLst>
      <p:ext uri="{BB962C8B-B14F-4D97-AF65-F5344CB8AC3E}">
        <p14:creationId xmlns:p14="http://schemas.microsoft.com/office/powerpoint/2010/main" val="413228559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dirty="0">
                <a:solidFill>
                  <a:srgbClr val="CCCCCC"/>
                </a:solidFill>
                <a:effectLst/>
                <a:latin typeface="Menlo" panose="020B0609030804020204" pitchFamily="49" charset="0"/>
              </a:rPr>
              <a:t>With a forking workflow it can be easy to end up with an old version of the code, especially if it changes frequently. It can get confusing whether we are attempting to pull from or push to the fork or the original repository. Setting up remotes with easy to remember aliases makes this much easier. A "remote" is a named connection to a remote repository. You can add and remove remotes with the </a:t>
            </a:r>
            <a:r>
              <a:rPr lang="en-US" b="0" dirty="0">
                <a:solidFill>
                  <a:srgbClr val="CE9178"/>
                </a:solidFill>
                <a:effectLst/>
                <a:latin typeface="Menlo" panose="020B0609030804020204" pitchFamily="49" charset="0"/>
              </a:rPr>
              <a:t>`git remote add`</a:t>
            </a:r>
            <a:r>
              <a:rPr lang="en-US" b="0" dirty="0">
                <a:solidFill>
                  <a:srgbClr val="CCCCCC"/>
                </a:solidFill>
                <a:effectLst/>
                <a:latin typeface="Menlo" panose="020B0609030804020204" pitchFamily="49" charset="0"/>
              </a:rPr>
              <a:t> and </a:t>
            </a:r>
            <a:r>
              <a:rPr lang="en-US" b="0" dirty="0">
                <a:solidFill>
                  <a:srgbClr val="CE9178"/>
                </a:solidFill>
                <a:effectLst/>
                <a:latin typeface="Menlo" panose="020B0609030804020204" pitchFamily="49" charset="0"/>
              </a:rPr>
              <a:t>`git remote rm`</a:t>
            </a:r>
            <a:r>
              <a:rPr lang="en-US" b="0" dirty="0">
                <a:solidFill>
                  <a:srgbClr val="CCCCCC"/>
                </a:solidFill>
                <a:effectLst/>
                <a:latin typeface="Menlo" panose="020B0609030804020204" pitchFamily="49" charset="0"/>
              </a:rPr>
              <a:t> commands, respectively. For example:</a:t>
            </a:r>
          </a:p>
          <a:p>
            <a:br>
              <a:rPr lang="en-US" b="0" dirty="0">
                <a:solidFill>
                  <a:srgbClr val="CCCCCC"/>
                </a:solidFill>
                <a:effectLst/>
                <a:latin typeface="Menlo" panose="020B0609030804020204" pitchFamily="49" charset="0"/>
              </a:rPr>
            </a:br>
            <a:r>
              <a:rPr lang="en-US" b="0" dirty="0">
                <a:solidFill>
                  <a:srgbClr val="CCCCCC"/>
                </a:solidFill>
                <a:effectLst/>
                <a:latin typeface="Menlo" panose="020B0609030804020204" pitchFamily="49" charset="0"/>
              </a:rPr>
              <a:t>```bash</a:t>
            </a:r>
          </a:p>
          <a:p>
            <a:r>
              <a:rPr lang="en-US" b="0" dirty="0">
                <a:solidFill>
                  <a:srgbClr val="DCDCAA"/>
                </a:solidFill>
                <a:effectLst/>
                <a:latin typeface="Menlo" panose="020B0609030804020204" pitchFamily="49" charset="0"/>
              </a:rPr>
              <a:t>git</a:t>
            </a:r>
            <a:r>
              <a:rPr lang="en-US" b="0" dirty="0">
                <a:solidFill>
                  <a:srgbClr val="D4D4D4"/>
                </a:solidFill>
                <a:effectLst/>
                <a:latin typeface="Menlo" panose="020B0609030804020204" pitchFamily="49" charset="0"/>
              </a:rPr>
              <a:t> </a:t>
            </a:r>
            <a:r>
              <a:rPr lang="en-US" b="0" dirty="0">
                <a:solidFill>
                  <a:srgbClr val="CE9178"/>
                </a:solidFill>
                <a:effectLst/>
                <a:latin typeface="Menlo" panose="020B0609030804020204" pitchFamily="49" charset="0"/>
              </a:rPr>
              <a:t>remote</a:t>
            </a:r>
            <a:r>
              <a:rPr lang="en-US" b="0" dirty="0">
                <a:solidFill>
                  <a:srgbClr val="D4D4D4"/>
                </a:solidFill>
                <a:effectLst/>
                <a:latin typeface="Menlo" panose="020B0609030804020204" pitchFamily="49" charset="0"/>
              </a:rPr>
              <a:t> </a:t>
            </a:r>
            <a:r>
              <a:rPr lang="en-US" b="0" dirty="0">
                <a:solidFill>
                  <a:srgbClr val="CE9178"/>
                </a:solidFill>
                <a:effectLst/>
                <a:latin typeface="Menlo" panose="020B0609030804020204" pitchFamily="49" charset="0"/>
              </a:rPr>
              <a:t>add</a:t>
            </a:r>
            <a:r>
              <a:rPr lang="en-US" b="0" dirty="0">
                <a:solidFill>
                  <a:srgbClr val="D4D4D4"/>
                </a:solidFill>
                <a:effectLst/>
                <a:latin typeface="Menlo" panose="020B0609030804020204" pitchFamily="49" charset="0"/>
              </a:rPr>
              <a:t> </a:t>
            </a:r>
            <a:r>
              <a:rPr lang="en-US" b="0" dirty="0">
                <a:solidFill>
                  <a:srgbClr val="CE9178"/>
                </a:solidFill>
                <a:effectLst/>
                <a:latin typeface="Menlo" panose="020B0609030804020204" pitchFamily="49" charset="0"/>
              </a:rPr>
              <a:t>upstream</a:t>
            </a:r>
            <a:r>
              <a:rPr lang="en-US" b="0" dirty="0">
                <a:solidFill>
                  <a:srgbClr val="D4D4D4"/>
                </a:solidFill>
                <a:effectLst/>
                <a:latin typeface="Menlo" panose="020B0609030804020204" pitchFamily="49" charset="0"/>
              </a:rPr>
              <a:t> </a:t>
            </a:r>
            <a:r>
              <a:rPr lang="en-US" b="0" dirty="0">
                <a:solidFill>
                  <a:srgbClr val="CE9178"/>
                </a:solidFill>
                <a:effectLst/>
                <a:latin typeface="Menlo" panose="020B0609030804020204" pitchFamily="49" charset="0"/>
              </a:rPr>
              <a:t>https://</a:t>
            </a:r>
            <a:r>
              <a:rPr lang="en-US" b="0" dirty="0" err="1">
                <a:solidFill>
                  <a:srgbClr val="CE9178"/>
                </a:solidFill>
                <a:effectLst/>
                <a:latin typeface="Menlo" panose="020B0609030804020204" pitchFamily="49" charset="0"/>
              </a:rPr>
              <a:t>github.com</a:t>
            </a:r>
            <a:r>
              <a:rPr lang="en-US" b="0" dirty="0">
                <a:solidFill>
                  <a:srgbClr val="CE9178"/>
                </a:solidFill>
                <a:effectLst/>
                <a:latin typeface="Menlo" panose="020B0609030804020204" pitchFamily="49" charset="0"/>
              </a:rPr>
              <a:t>/</a:t>
            </a:r>
            <a:r>
              <a:rPr lang="en-US" b="0" dirty="0" err="1">
                <a:solidFill>
                  <a:srgbClr val="CE9178"/>
                </a:solidFill>
                <a:effectLst/>
                <a:latin typeface="Menlo" panose="020B0609030804020204" pitchFamily="49" charset="0"/>
              </a:rPr>
              <a:t>project_team</a:t>
            </a:r>
            <a:r>
              <a:rPr lang="en-US" b="0" dirty="0">
                <a:solidFill>
                  <a:srgbClr val="CE9178"/>
                </a:solidFill>
                <a:effectLst/>
                <a:latin typeface="Menlo" panose="020B0609030804020204" pitchFamily="49" charset="0"/>
              </a:rPr>
              <a:t>/</a:t>
            </a:r>
            <a:r>
              <a:rPr lang="en-US" b="0" dirty="0" err="1">
                <a:solidFill>
                  <a:srgbClr val="CE9178"/>
                </a:solidFill>
                <a:effectLst/>
                <a:latin typeface="Menlo" panose="020B0609030804020204" pitchFamily="49" charset="0"/>
              </a:rPr>
              <a:t>project.git</a:t>
            </a:r>
            <a:endParaRPr lang="en-US" b="0" dirty="0">
              <a:solidFill>
                <a:srgbClr val="CCCCCC"/>
              </a:solidFill>
              <a:effectLst/>
              <a:latin typeface="Menlo" panose="020B0609030804020204" pitchFamily="49" charset="0"/>
            </a:endParaRPr>
          </a:p>
          <a:p>
            <a:r>
              <a:rPr lang="en-US" b="0" dirty="0">
                <a:solidFill>
                  <a:srgbClr val="DCDCAA"/>
                </a:solidFill>
                <a:effectLst/>
                <a:latin typeface="Menlo" panose="020B0609030804020204" pitchFamily="49" charset="0"/>
              </a:rPr>
              <a:t>git</a:t>
            </a:r>
            <a:r>
              <a:rPr lang="en-US" b="0" dirty="0">
                <a:solidFill>
                  <a:srgbClr val="D4D4D4"/>
                </a:solidFill>
                <a:effectLst/>
                <a:latin typeface="Menlo" panose="020B0609030804020204" pitchFamily="49" charset="0"/>
              </a:rPr>
              <a:t> </a:t>
            </a:r>
            <a:r>
              <a:rPr lang="en-US" b="0" dirty="0">
                <a:solidFill>
                  <a:srgbClr val="CE9178"/>
                </a:solidFill>
                <a:effectLst/>
                <a:latin typeface="Menlo" panose="020B0609030804020204" pitchFamily="49" charset="0"/>
              </a:rPr>
              <a:t>remote</a:t>
            </a:r>
            <a:r>
              <a:rPr lang="en-US" b="0" dirty="0">
                <a:solidFill>
                  <a:srgbClr val="D4D4D4"/>
                </a:solidFill>
                <a:effectLst/>
                <a:latin typeface="Menlo" panose="020B0609030804020204" pitchFamily="49" charset="0"/>
              </a:rPr>
              <a:t> </a:t>
            </a:r>
            <a:r>
              <a:rPr lang="en-US" b="0" dirty="0">
                <a:solidFill>
                  <a:srgbClr val="CE9178"/>
                </a:solidFill>
                <a:effectLst/>
                <a:latin typeface="Menlo" panose="020B0609030804020204" pitchFamily="49" charset="0"/>
              </a:rPr>
              <a:t>add</a:t>
            </a:r>
            <a:r>
              <a:rPr lang="en-US" b="0" dirty="0">
                <a:solidFill>
                  <a:srgbClr val="D4D4D4"/>
                </a:solidFill>
                <a:effectLst/>
                <a:latin typeface="Menlo" panose="020B0609030804020204" pitchFamily="49" charset="0"/>
              </a:rPr>
              <a:t> </a:t>
            </a:r>
            <a:r>
              <a:rPr lang="en-US" b="0" dirty="0">
                <a:solidFill>
                  <a:srgbClr val="CE9178"/>
                </a:solidFill>
                <a:effectLst/>
                <a:latin typeface="Menlo" panose="020B0609030804020204" pitchFamily="49" charset="0"/>
              </a:rPr>
              <a:t>my-fork</a:t>
            </a:r>
            <a:r>
              <a:rPr lang="en-US" b="0" dirty="0">
                <a:solidFill>
                  <a:srgbClr val="D4D4D4"/>
                </a:solidFill>
                <a:effectLst/>
                <a:latin typeface="Menlo" panose="020B0609030804020204" pitchFamily="49" charset="0"/>
              </a:rPr>
              <a:t> </a:t>
            </a:r>
            <a:r>
              <a:rPr lang="en-US" b="0" dirty="0">
                <a:solidFill>
                  <a:srgbClr val="CE9178"/>
                </a:solidFill>
                <a:effectLst/>
                <a:latin typeface="Menlo" panose="020B0609030804020204" pitchFamily="49" charset="0"/>
              </a:rPr>
              <a:t>https://</a:t>
            </a:r>
            <a:r>
              <a:rPr lang="en-US" b="0" dirty="0" err="1">
                <a:solidFill>
                  <a:srgbClr val="CE9178"/>
                </a:solidFill>
                <a:effectLst/>
                <a:latin typeface="Menlo" panose="020B0609030804020204" pitchFamily="49" charset="0"/>
              </a:rPr>
              <a:t>github.com</a:t>
            </a:r>
            <a:r>
              <a:rPr lang="en-US" b="0" dirty="0">
                <a:solidFill>
                  <a:srgbClr val="CE9178"/>
                </a:solidFill>
                <a:effectLst/>
                <a:latin typeface="Menlo" panose="020B0609030804020204" pitchFamily="49" charset="0"/>
              </a:rPr>
              <a:t>/me/</a:t>
            </a:r>
            <a:r>
              <a:rPr lang="en-US" b="0" dirty="0" err="1">
                <a:solidFill>
                  <a:srgbClr val="CE9178"/>
                </a:solidFill>
                <a:effectLst/>
                <a:latin typeface="Menlo" panose="020B0609030804020204" pitchFamily="49" charset="0"/>
              </a:rPr>
              <a:t>project.git</a:t>
            </a:r>
            <a:endParaRPr lang="en-US" b="0" dirty="0">
              <a:solidFill>
                <a:srgbClr val="CCCCCC"/>
              </a:solidFill>
              <a:effectLst/>
              <a:latin typeface="Menlo" panose="020B0609030804020204" pitchFamily="49" charset="0"/>
            </a:endParaRPr>
          </a:p>
          <a:p>
            <a:r>
              <a:rPr lang="en-US" b="0" dirty="0">
                <a:solidFill>
                  <a:srgbClr val="CCCCCC"/>
                </a:solidFill>
                <a:effectLst/>
                <a:latin typeface="Menlo" panose="020B0609030804020204" pitchFamily="49" charset="0"/>
              </a:rPr>
              <a:t>```</a:t>
            </a:r>
          </a:p>
          <a:p>
            <a:br>
              <a:rPr lang="en-US" b="0" dirty="0">
                <a:solidFill>
                  <a:srgbClr val="CCCCCC"/>
                </a:solidFill>
                <a:effectLst/>
                <a:latin typeface="Menlo" panose="020B0609030804020204" pitchFamily="49" charset="0"/>
              </a:rPr>
            </a:br>
            <a:r>
              <a:rPr lang="en-US" b="0" dirty="0">
                <a:solidFill>
                  <a:srgbClr val="CCCCCC"/>
                </a:solidFill>
                <a:effectLst/>
                <a:latin typeface="Menlo" panose="020B0609030804020204" pitchFamily="49" charset="0"/>
              </a:rPr>
              <a:t>Here we are adding a remote called "upstream" for our central team repository and another called "my-fork" for our own fork. We can view our remotes with </a:t>
            </a:r>
            <a:r>
              <a:rPr lang="en-US" b="0" dirty="0">
                <a:solidFill>
                  <a:srgbClr val="CE9178"/>
                </a:solidFill>
                <a:effectLst/>
                <a:latin typeface="Menlo" panose="020B0609030804020204" pitchFamily="49" charset="0"/>
              </a:rPr>
              <a:t>`git remote -v`</a:t>
            </a:r>
            <a:r>
              <a:rPr lang="en-US" b="0" dirty="0">
                <a:solidFill>
                  <a:srgbClr val="CCCCCC"/>
                </a:solidFill>
                <a:effectLst/>
                <a:latin typeface="Menlo" panose="020B0609030804020204" pitchFamily="49" charset="0"/>
              </a:rPr>
              <a:t>. Now when you want to retrieve any changes from the upstream repository you can run </a:t>
            </a:r>
            <a:r>
              <a:rPr lang="en-US" b="0" dirty="0">
                <a:solidFill>
                  <a:srgbClr val="CE9178"/>
                </a:solidFill>
                <a:effectLst/>
                <a:latin typeface="Menlo" panose="020B0609030804020204" pitchFamily="49" charset="0"/>
              </a:rPr>
              <a:t>`git fetch upstream`</a:t>
            </a:r>
            <a:r>
              <a:rPr lang="en-US" b="0" dirty="0">
                <a:solidFill>
                  <a:srgbClr val="CCCCCC"/>
                </a:solidFill>
                <a:effectLst/>
                <a:latin typeface="Menlo" panose="020B0609030804020204" pitchFamily="49" charset="0"/>
              </a:rPr>
              <a:t>. To update your main branch with these update changes, you would merge them into your local forked repository:</a:t>
            </a:r>
          </a:p>
          <a:p>
            <a:br>
              <a:rPr lang="en-US" b="0" dirty="0">
                <a:solidFill>
                  <a:srgbClr val="CCCCCC"/>
                </a:solidFill>
                <a:effectLst/>
                <a:latin typeface="Menlo" panose="020B0609030804020204" pitchFamily="49" charset="0"/>
              </a:rPr>
            </a:br>
            <a:r>
              <a:rPr lang="en-US" b="0" dirty="0">
                <a:solidFill>
                  <a:srgbClr val="CCCCCC"/>
                </a:solidFill>
                <a:effectLst/>
                <a:latin typeface="Menlo" panose="020B0609030804020204" pitchFamily="49" charset="0"/>
              </a:rPr>
              <a:t>```bash</a:t>
            </a:r>
          </a:p>
          <a:p>
            <a:r>
              <a:rPr lang="en-US" b="0" dirty="0">
                <a:solidFill>
                  <a:srgbClr val="DCDCAA"/>
                </a:solidFill>
                <a:effectLst/>
                <a:latin typeface="Menlo" panose="020B0609030804020204" pitchFamily="49" charset="0"/>
              </a:rPr>
              <a:t>git</a:t>
            </a:r>
            <a:r>
              <a:rPr lang="en-US" b="0" dirty="0">
                <a:solidFill>
                  <a:srgbClr val="D4D4D4"/>
                </a:solidFill>
                <a:effectLst/>
                <a:latin typeface="Menlo" panose="020B0609030804020204" pitchFamily="49" charset="0"/>
              </a:rPr>
              <a:t> </a:t>
            </a:r>
            <a:r>
              <a:rPr lang="en-US" b="0" dirty="0">
                <a:solidFill>
                  <a:srgbClr val="CE9178"/>
                </a:solidFill>
                <a:effectLst/>
                <a:latin typeface="Menlo" panose="020B0609030804020204" pitchFamily="49" charset="0"/>
              </a:rPr>
              <a:t>checkout</a:t>
            </a:r>
            <a:r>
              <a:rPr lang="en-US" b="0" dirty="0">
                <a:solidFill>
                  <a:srgbClr val="D4D4D4"/>
                </a:solidFill>
                <a:effectLst/>
                <a:latin typeface="Menlo" panose="020B0609030804020204" pitchFamily="49" charset="0"/>
              </a:rPr>
              <a:t> </a:t>
            </a:r>
            <a:r>
              <a:rPr lang="en-US" b="0" dirty="0">
                <a:solidFill>
                  <a:srgbClr val="CE9178"/>
                </a:solidFill>
                <a:effectLst/>
                <a:latin typeface="Menlo" panose="020B0609030804020204" pitchFamily="49" charset="0"/>
              </a:rPr>
              <a:t>main</a:t>
            </a:r>
            <a:r>
              <a:rPr lang="en-US" b="0" dirty="0">
                <a:solidFill>
                  <a:srgbClr val="D4D4D4"/>
                </a:solidFill>
                <a:effectLst/>
                <a:latin typeface="Menlo" panose="020B0609030804020204" pitchFamily="49" charset="0"/>
              </a:rPr>
              <a:t> </a:t>
            </a:r>
            <a:r>
              <a:rPr lang="en-US" b="0" dirty="0">
                <a:solidFill>
                  <a:srgbClr val="6A9955"/>
                </a:solidFill>
                <a:effectLst/>
                <a:latin typeface="Menlo" panose="020B0609030804020204" pitchFamily="49" charset="0"/>
              </a:rPr>
              <a:t># this is the main branch for your fork that you have cloned locally</a:t>
            </a:r>
            <a:endParaRPr lang="en-US" b="0" dirty="0">
              <a:solidFill>
                <a:srgbClr val="CCCCCC"/>
              </a:solidFill>
              <a:effectLst/>
              <a:latin typeface="Menlo" panose="020B0609030804020204" pitchFamily="49" charset="0"/>
            </a:endParaRPr>
          </a:p>
          <a:p>
            <a:r>
              <a:rPr lang="en-US" b="0" dirty="0">
                <a:solidFill>
                  <a:srgbClr val="DCDCAA"/>
                </a:solidFill>
                <a:effectLst/>
                <a:latin typeface="Menlo" panose="020B0609030804020204" pitchFamily="49" charset="0"/>
              </a:rPr>
              <a:t>git</a:t>
            </a:r>
            <a:r>
              <a:rPr lang="en-US" b="0" dirty="0">
                <a:solidFill>
                  <a:srgbClr val="D4D4D4"/>
                </a:solidFill>
                <a:effectLst/>
                <a:latin typeface="Menlo" panose="020B0609030804020204" pitchFamily="49" charset="0"/>
              </a:rPr>
              <a:t> </a:t>
            </a:r>
            <a:r>
              <a:rPr lang="en-US" b="0" dirty="0">
                <a:solidFill>
                  <a:srgbClr val="CE9178"/>
                </a:solidFill>
                <a:effectLst/>
                <a:latin typeface="Menlo" panose="020B0609030804020204" pitchFamily="49" charset="0"/>
              </a:rPr>
              <a:t>merge</a:t>
            </a:r>
            <a:r>
              <a:rPr lang="en-US" b="0" dirty="0">
                <a:solidFill>
                  <a:srgbClr val="D4D4D4"/>
                </a:solidFill>
                <a:effectLst/>
                <a:latin typeface="Menlo" panose="020B0609030804020204" pitchFamily="49" charset="0"/>
              </a:rPr>
              <a:t> </a:t>
            </a:r>
            <a:r>
              <a:rPr lang="en-US" b="0" dirty="0">
                <a:solidFill>
                  <a:srgbClr val="CE9178"/>
                </a:solidFill>
                <a:effectLst/>
                <a:latin typeface="Menlo" panose="020B0609030804020204" pitchFamily="49" charset="0"/>
              </a:rPr>
              <a:t>upstream/main</a:t>
            </a:r>
            <a:endParaRPr lang="en-US" b="0" dirty="0">
              <a:solidFill>
                <a:srgbClr val="CCCCCC"/>
              </a:solidFill>
              <a:effectLst/>
              <a:latin typeface="Menlo" panose="020B0609030804020204" pitchFamily="49" charset="0"/>
            </a:endParaRPr>
          </a:p>
          <a:p>
            <a:r>
              <a:rPr lang="en-US" b="0" dirty="0">
                <a:solidFill>
                  <a:srgbClr val="CCCCCC"/>
                </a:solidFill>
                <a:effectLst/>
                <a:latin typeface="Menlo" panose="020B0609030804020204" pitchFamily="49" charset="0"/>
              </a:rPr>
              <a:t>```</a:t>
            </a:r>
          </a:p>
          <a:p>
            <a:br>
              <a:rPr lang="en-US" b="0" dirty="0">
                <a:solidFill>
                  <a:srgbClr val="CCCCCC"/>
                </a:solidFill>
                <a:effectLst/>
                <a:latin typeface="Menlo" panose="020B0609030804020204" pitchFamily="49" charset="0"/>
              </a:rPr>
            </a:br>
            <a:r>
              <a:rPr lang="en-US" b="0" dirty="0">
                <a:solidFill>
                  <a:srgbClr val="CCCCCC"/>
                </a:solidFill>
                <a:effectLst/>
                <a:latin typeface="Menlo" panose="020B0609030804020204" pitchFamily="49" charset="0"/>
              </a:rPr>
              <a:t>Using remotes, fetching and merging upstream changes frequently, and running commands like </a:t>
            </a:r>
            <a:r>
              <a:rPr lang="en-US" b="0" dirty="0">
                <a:solidFill>
                  <a:srgbClr val="CE9178"/>
                </a:solidFill>
                <a:effectLst/>
                <a:latin typeface="Menlo" panose="020B0609030804020204" pitchFamily="49" charset="0"/>
              </a:rPr>
              <a:t>`git status`</a:t>
            </a:r>
            <a:r>
              <a:rPr lang="en-US" b="0" dirty="0">
                <a:solidFill>
                  <a:srgbClr val="CCCCCC"/>
                </a:solidFill>
                <a:effectLst/>
                <a:latin typeface="Menlo" panose="020B0609030804020204" pitchFamily="49" charset="0"/>
              </a:rPr>
              <a:t> and </a:t>
            </a:r>
            <a:r>
              <a:rPr lang="en-US" b="0" dirty="0">
                <a:solidFill>
                  <a:srgbClr val="CE9178"/>
                </a:solidFill>
                <a:effectLst/>
                <a:latin typeface="Menlo" panose="020B0609030804020204" pitchFamily="49" charset="0"/>
              </a:rPr>
              <a:t>`git remote -v`</a:t>
            </a:r>
            <a:r>
              <a:rPr lang="en-US" b="0" dirty="0">
                <a:solidFill>
                  <a:srgbClr val="CCCCCC"/>
                </a:solidFill>
                <a:effectLst/>
                <a:latin typeface="Menlo" panose="020B0609030804020204" pitchFamily="49" charset="0"/>
              </a:rPr>
              <a:t> can help you be successful using a forking workflow. Merging upstream changes directly before making a Pull Request and ensuring there are no merge conflicts is good etiquette and will make it more likely that your Pull Request will be accepted.</a:t>
            </a:r>
          </a:p>
          <a:p>
            <a:endParaRPr lang="en-US" b="0" dirty="0">
              <a:solidFill>
                <a:srgbClr val="CCCCCC"/>
              </a:solidFill>
              <a:effectLst/>
              <a:latin typeface="Menlo" panose="020B0609030804020204" pitchFamily="49" charset="0"/>
            </a:endParaRPr>
          </a:p>
        </p:txBody>
      </p:sp>
      <p:sp>
        <p:nvSpPr>
          <p:cNvPr id="4" name="Slide Number Placeholder 3"/>
          <p:cNvSpPr>
            <a:spLocks noGrp="1"/>
          </p:cNvSpPr>
          <p:nvPr>
            <p:ph type="sldNum" sz="quarter" idx="5"/>
          </p:nvPr>
        </p:nvSpPr>
        <p:spPr/>
        <p:txBody>
          <a:bodyPr/>
          <a:lstStyle/>
          <a:p>
            <a:fld id="{729A9A33-2617-9741-9692-B8CF37E91C8E}" type="slidenum">
              <a:rPr lang="en-US" smtClean="0"/>
              <a:t>37</a:t>
            </a:fld>
            <a:endParaRPr lang="en-US"/>
          </a:p>
        </p:txBody>
      </p:sp>
    </p:spTree>
    <p:extLst>
      <p:ext uri="{BB962C8B-B14F-4D97-AF65-F5344CB8AC3E}">
        <p14:creationId xmlns:p14="http://schemas.microsoft.com/office/powerpoint/2010/main" val="161442655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Emphasis on Adopt what is good for your team</a:t>
            </a:r>
          </a:p>
          <a:p>
            <a:endParaRPr lang="en-US" dirty="0"/>
          </a:p>
          <a:p>
            <a:r>
              <a:rPr lang="en-US" b="0" dirty="0">
                <a:solidFill>
                  <a:srgbClr val="6796E6"/>
                </a:solidFill>
                <a:effectLst/>
                <a:latin typeface="Menlo" panose="020B0609030804020204" pitchFamily="49" charset="0"/>
              </a:rPr>
              <a:t>-</a:t>
            </a:r>
            <a:r>
              <a:rPr lang="en-US" b="0" dirty="0">
                <a:solidFill>
                  <a:srgbClr val="CCCCCC"/>
                </a:solidFill>
                <a:effectLst/>
                <a:latin typeface="Menlo" panose="020B0609030804020204" pitchFamily="49" charset="0"/>
              </a:rPr>
              <a:t> Communicating this to your collaborators</a:t>
            </a:r>
          </a:p>
          <a:p>
            <a:r>
              <a:rPr lang="en-US" b="0" dirty="0">
                <a:solidFill>
                  <a:srgbClr val="6796E6"/>
                </a:solidFill>
                <a:effectLst/>
                <a:latin typeface="Menlo" panose="020B0609030804020204" pitchFamily="49" charset="0"/>
              </a:rPr>
              <a:t>-</a:t>
            </a:r>
            <a:r>
              <a:rPr lang="en-US" b="0" dirty="0">
                <a:solidFill>
                  <a:srgbClr val="CCCCCC"/>
                </a:solidFill>
                <a:effectLst/>
                <a:latin typeface="Menlo" panose="020B0609030804020204" pitchFamily="49" charset="0"/>
              </a:rPr>
              <a:t> Including the workflow in the CONTRIBUTING document</a:t>
            </a:r>
          </a:p>
          <a:p>
            <a:r>
              <a:rPr lang="en-US" b="0" dirty="0">
                <a:solidFill>
                  <a:srgbClr val="6796E6"/>
                </a:solidFill>
                <a:effectLst/>
                <a:latin typeface="Menlo" panose="020B0609030804020204" pitchFamily="49" charset="0"/>
              </a:rPr>
              <a:t>-</a:t>
            </a:r>
            <a:r>
              <a:rPr lang="en-US" b="0" dirty="0">
                <a:solidFill>
                  <a:srgbClr val="CCCCCC"/>
                </a:solidFill>
                <a:effectLst/>
                <a:latin typeface="Menlo" panose="020B0609030804020204" pitchFamily="49" charset="0"/>
              </a:rPr>
              <a:t> Conventions for branch naming</a:t>
            </a:r>
          </a:p>
          <a:p>
            <a:r>
              <a:rPr lang="en-US" b="0" dirty="0">
                <a:solidFill>
                  <a:srgbClr val="6796E6"/>
                </a:solidFill>
                <a:effectLst/>
                <a:latin typeface="Menlo" panose="020B0609030804020204" pitchFamily="49" charset="0"/>
              </a:rPr>
              <a:t>-</a:t>
            </a:r>
            <a:r>
              <a:rPr lang="en-US" b="0" dirty="0">
                <a:solidFill>
                  <a:srgbClr val="CCCCCC"/>
                </a:solidFill>
                <a:effectLst/>
                <a:latin typeface="Menlo" panose="020B0609030804020204" pitchFamily="49" charset="0"/>
              </a:rPr>
              <a:t> How to enforce your workflow</a:t>
            </a:r>
          </a:p>
          <a:p>
            <a:r>
              <a:rPr lang="en-US" b="0" dirty="0">
                <a:solidFill>
                  <a:srgbClr val="6796E6"/>
                </a:solidFill>
                <a:effectLst/>
                <a:latin typeface="Menlo" panose="020B0609030804020204" pitchFamily="49" charset="0"/>
              </a:rPr>
              <a:t>-</a:t>
            </a:r>
            <a:r>
              <a:rPr lang="en-US" b="0" dirty="0">
                <a:solidFill>
                  <a:srgbClr val="CCCCCC"/>
                </a:solidFill>
                <a:effectLst/>
                <a:latin typeface="Menlo" panose="020B0609030804020204" pitchFamily="49" charset="0"/>
              </a:rPr>
              <a:t> Branch protections</a:t>
            </a:r>
          </a:p>
          <a:p>
            <a:r>
              <a:rPr lang="en-US" b="0" dirty="0">
                <a:solidFill>
                  <a:srgbClr val="6796E6"/>
                </a:solidFill>
                <a:effectLst/>
                <a:latin typeface="Menlo" panose="020B0609030804020204" pitchFamily="49" charset="0"/>
              </a:rPr>
              <a:t>-</a:t>
            </a:r>
            <a:r>
              <a:rPr lang="en-US" b="0" dirty="0">
                <a:solidFill>
                  <a:srgbClr val="CCCCCC"/>
                </a:solidFill>
                <a:effectLst/>
                <a:latin typeface="Menlo" panose="020B0609030804020204" pitchFamily="49" charset="0"/>
              </a:rPr>
              <a:t> Limiting who can push/merge</a:t>
            </a:r>
          </a:p>
          <a:p>
            <a:r>
              <a:rPr lang="en-US" b="0" dirty="0">
                <a:solidFill>
                  <a:srgbClr val="6796E6"/>
                </a:solidFill>
                <a:effectLst/>
                <a:latin typeface="Menlo" panose="020B0609030804020204" pitchFamily="49" charset="0"/>
              </a:rPr>
              <a:t>-</a:t>
            </a:r>
            <a:r>
              <a:rPr lang="en-US" b="0" dirty="0">
                <a:solidFill>
                  <a:srgbClr val="CCCCCC"/>
                </a:solidFill>
                <a:effectLst/>
                <a:latin typeface="Menlo" panose="020B0609030804020204" pitchFamily="49" charset="0"/>
              </a:rPr>
              <a:t> Testing &amp; review requirements</a:t>
            </a:r>
          </a:p>
          <a:p>
            <a:r>
              <a:rPr lang="en-US" b="0" dirty="0">
                <a:solidFill>
                  <a:srgbClr val="6796E6"/>
                </a:solidFill>
                <a:effectLst/>
                <a:latin typeface="Menlo" panose="020B0609030804020204" pitchFamily="49" charset="0"/>
              </a:rPr>
              <a:t>-</a:t>
            </a:r>
            <a:r>
              <a:rPr lang="en-US" b="0" dirty="0">
                <a:solidFill>
                  <a:srgbClr val="CCCCCC"/>
                </a:solidFill>
                <a:effectLst/>
                <a:latin typeface="Menlo" panose="020B0609030804020204" pitchFamily="49" charset="0"/>
              </a:rPr>
              <a:t> Considerations for shared systems</a:t>
            </a:r>
          </a:p>
          <a:p>
            <a:r>
              <a:rPr lang="en-US" b="0" dirty="0">
                <a:solidFill>
                  <a:srgbClr val="6796E6"/>
                </a:solidFill>
                <a:effectLst/>
                <a:latin typeface="Menlo" panose="020B0609030804020204" pitchFamily="49" charset="0"/>
              </a:rPr>
              <a:t>-</a:t>
            </a:r>
            <a:r>
              <a:rPr lang="en-US" b="0" dirty="0">
                <a:solidFill>
                  <a:srgbClr val="CCCCCC"/>
                </a:solidFill>
                <a:effectLst/>
                <a:latin typeface="Menlo" panose="020B0609030804020204" pitchFamily="49" charset="0"/>
              </a:rPr>
              <a:t> Be careful with clones on shared drives, you don't want to "share" a clone</a:t>
            </a:r>
          </a:p>
          <a:p>
            <a:r>
              <a:rPr lang="en-US" b="0" dirty="0">
                <a:solidFill>
                  <a:srgbClr val="6796E6"/>
                </a:solidFill>
                <a:effectLst/>
                <a:latin typeface="Menlo" panose="020B0609030804020204" pitchFamily="49" charset="0"/>
              </a:rPr>
              <a:t>-</a:t>
            </a:r>
            <a:r>
              <a:rPr lang="en-US" b="0" dirty="0">
                <a:solidFill>
                  <a:srgbClr val="CCCCCC"/>
                </a:solidFill>
                <a:effectLst/>
                <a:latin typeface="Menlo" panose="020B0609030804020204" pitchFamily="49" charset="0"/>
              </a:rPr>
              <a:t> Separate "production" clone that you use for running</a:t>
            </a:r>
          </a:p>
          <a:p>
            <a:endParaRPr lang="en-US" dirty="0"/>
          </a:p>
          <a:p>
            <a:endParaRPr lang="en-US" dirty="0"/>
          </a:p>
          <a:p>
            <a:r>
              <a:rPr lang="en-US" b="1" dirty="0">
                <a:solidFill>
                  <a:srgbClr val="569CD6"/>
                </a:solidFill>
                <a:effectLst/>
                <a:latin typeface="Menlo" panose="020B0609030804020204" pitchFamily="49" charset="0"/>
              </a:rPr>
              <a:t>## Communicating with your Collaborators</a:t>
            </a:r>
            <a:endParaRPr lang="en-US" b="0" dirty="0">
              <a:solidFill>
                <a:srgbClr val="CCCCCC"/>
              </a:solidFill>
              <a:effectLst/>
              <a:latin typeface="Menlo" panose="020B0609030804020204" pitchFamily="49" charset="0"/>
            </a:endParaRPr>
          </a:p>
          <a:p>
            <a:br>
              <a:rPr lang="en-US" b="0" dirty="0">
                <a:solidFill>
                  <a:srgbClr val="CCCCCC"/>
                </a:solidFill>
                <a:effectLst/>
                <a:latin typeface="Menlo" panose="020B0609030804020204" pitchFamily="49" charset="0"/>
              </a:rPr>
            </a:br>
            <a:r>
              <a:rPr lang="en-US" b="0" dirty="0">
                <a:solidFill>
                  <a:srgbClr val="CCCCCC"/>
                </a:solidFill>
                <a:effectLst/>
                <a:latin typeface="Menlo" panose="020B0609030804020204" pitchFamily="49" charset="0"/>
              </a:rPr>
              <a:t>Now that you've chosen a workflow for your project, how do you communicate it? This is most often done with a CONTRIBUTING document. The CONTRIBUTING document describes the git workflow you are using, any conventions for branch naming that you have, and anything else a collaborator should know in order to contribute. It should be tailored to your project and team, and so it might also include how to run the tests for the project, requirements before creating Pull Requests, or perhaps detailed instructions for how follow the workflow if your team is less familiar with git. One of the goals of a CONTRIBUTING document is to lower the barrier to entry to contributing to a project and a good one will encourage collaboration.</a:t>
            </a:r>
          </a:p>
          <a:p>
            <a:br>
              <a:rPr lang="en-US" b="0" dirty="0">
                <a:solidFill>
                  <a:srgbClr val="CCCCCC"/>
                </a:solidFill>
                <a:effectLst/>
                <a:latin typeface="Menlo" panose="020B0609030804020204" pitchFamily="49" charset="0"/>
              </a:rPr>
            </a:br>
            <a:r>
              <a:rPr lang="en-US" b="1" dirty="0">
                <a:solidFill>
                  <a:srgbClr val="569CD6"/>
                </a:solidFill>
                <a:effectLst/>
                <a:latin typeface="Menlo" panose="020B0609030804020204" pitchFamily="49" charset="0"/>
              </a:rPr>
              <a:t>## Enforcing your Workflow</a:t>
            </a:r>
            <a:endParaRPr lang="en-US" b="0" dirty="0">
              <a:solidFill>
                <a:srgbClr val="CCCCCC"/>
              </a:solidFill>
              <a:effectLst/>
              <a:latin typeface="Menlo" panose="020B0609030804020204" pitchFamily="49" charset="0"/>
            </a:endParaRPr>
          </a:p>
          <a:p>
            <a:br>
              <a:rPr lang="en-US" b="0" dirty="0">
                <a:solidFill>
                  <a:srgbClr val="CCCCCC"/>
                </a:solidFill>
                <a:effectLst/>
                <a:latin typeface="Menlo" panose="020B0609030804020204" pitchFamily="49" charset="0"/>
              </a:rPr>
            </a:br>
            <a:r>
              <a:rPr lang="en-US" b="0" dirty="0">
                <a:solidFill>
                  <a:srgbClr val="CCCCCC"/>
                </a:solidFill>
                <a:effectLst/>
                <a:latin typeface="Menlo" panose="020B0609030804020204" pitchFamily="49" charset="0"/>
              </a:rPr>
              <a:t>There are tools that you can use to make sure everyone follows the agreed upon workflow, which can make it easier to collaborate with others. First, you can add branch protections, which will enforce certain rules for certain branches. A common one is to not allow commits directly to the main branch, requiring changes to go through a Pull Request. There are many options for branch protection that you can read about on the [</a:t>
            </a:r>
            <a:r>
              <a:rPr lang="en-US" b="0" dirty="0">
                <a:solidFill>
                  <a:srgbClr val="CE9178"/>
                </a:solidFill>
                <a:effectLst/>
                <a:latin typeface="Menlo" panose="020B0609030804020204" pitchFamily="49" charset="0"/>
              </a:rPr>
              <a:t>GitHub web page</a:t>
            </a:r>
            <a:r>
              <a:rPr lang="en-US" b="0" dirty="0">
                <a:solidFill>
                  <a:srgbClr val="CCCCCC"/>
                </a:solidFill>
                <a:effectLst/>
                <a:latin typeface="Menlo" panose="020B0609030804020204" pitchFamily="49" charset="0"/>
              </a:rPr>
              <a:t>](</a:t>
            </a:r>
            <a:r>
              <a:rPr lang="en-US" b="0" u="sng" dirty="0">
                <a:solidFill>
                  <a:srgbClr val="CCCCCC"/>
                </a:solidFill>
                <a:effectLst/>
                <a:latin typeface="Menlo" panose="020B0609030804020204" pitchFamily="49" charset="0"/>
              </a:rPr>
              <a:t>https://</a:t>
            </a:r>
            <a:r>
              <a:rPr lang="en-US" b="0" u="sng" dirty="0" err="1">
                <a:solidFill>
                  <a:srgbClr val="CCCCCC"/>
                </a:solidFill>
                <a:effectLst/>
                <a:latin typeface="Menlo" panose="020B0609030804020204" pitchFamily="49" charset="0"/>
              </a:rPr>
              <a:t>docs.github.com</a:t>
            </a:r>
            <a:r>
              <a:rPr lang="en-US" b="0" u="sng" dirty="0">
                <a:solidFill>
                  <a:srgbClr val="CCCCCC"/>
                </a:solidFill>
                <a:effectLst/>
                <a:latin typeface="Menlo" panose="020B0609030804020204" pitchFamily="49" charset="0"/>
              </a:rPr>
              <a:t>/</a:t>
            </a:r>
            <a:r>
              <a:rPr lang="en-US" b="0" u="sng" dirty="0" err="1">
                <a:solidFill>
                  <a:srgbClr val="CCCCCC"/>
                </a:solidFill>
                <a:effectLst/>
                <a:latin typeface="Menlo" panose="020B0609030804020204" pitchFamily="49" charset="0"/>
              </a:rPr>
              <a:t>en</a:t>
            </a:r>
            <a:r>
              <a:rPr lang="en-US" b="0" u="sng" dirty="0">
                <a:solidFill>
                  <a:srgbClr val="CCCCCC"/>
                </a:solidFill>
                <a:effectLst/>
                <a:latin typeface="Menlo" panose="020B0609030804020204" pitchFamily="49" charset="0"/>
              </a:rPr>
              <a:t>/repositories/configuring-branches-and-merges-in-your-repository/managing-protected-branches/about-protected-branches</a:t>
            </a:r>
            <a:r>
              <a:rPr lang="en-US" b="0" dirty="0">
                <a:solidFill>
                  <a:srgbClr val="CCCCCC"/>
                </a:solidFill>
                <a:effectLst/>
                <a:latin typeface="Menlo" panose="020B0609030804020204" pitchFamily="49" charset="0"/>
              </a:rPr>
              <a:t>). Similarly, you can limit who on the team is able to push or merge changes into a particular branch, or in the entire repository. It is also a good idea to have testing and review requirements, particularly for production branches. These requirements and branch protections should be documented in the CONTRIBUTING document as well.</a:t>
            </a:r>
          </a:p>
          <a:p>
            <a:endParaRPr lang="en-US" dirty="0"/>
          </a:p>
        </p:txBody>
      </p:sp>
      <p:sp>
        <p:nvSpPr>
          <p:cNvPr id="4" name="Slide Number Placeholder 3"/>
          <p:cNvSpPr>
            <a:spLocks noGrp="1"/>
          </p:cNvSpPr>
          <p:nvPr>
            <p:ph type="sldNum" sz="quarter" idx="5"/>
          </p:nvPr>
        </p:nvSpPr>
        <p:spPr/>
        <p:txBody>
          <a:bodyPr/>
          <a:lstStyle/>
          <a:p>
            <a:fld id="{54E672D7-8E2D-4611-973D-F4591A707C34}" type="slidenum">
              <a:rPr lang="en-US" smtClean="0"/>
              <a:t>38</a:t>
            </a:fld>
            <a:endParaRPr lang="en-US"/>
          </a:p>
        </p:txBody>
      </p:sp>
    </p:spTree>
    <p:extLst>
      <p:ext uri="{BB962C8B-B14F-4D97-AF65-F5344CB8AC3E}">
        <p14:creationId xmlns:p14="http://schemas.microsoft.com/office/powerpoint/2010/main" val="85169487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dirty="0">
                <a:solidFill>
                  <a:srgbClr val="CCCCCC"/>
                </a:solidFill>
                <a:effectLst/>
                <a:latin typeface="Menlo" panose="020B0609030804020204" pitchFamily="49" charset="0"/>
              </a:rPr>
              <a:t>One team member should still have an unmerged branch from the previous exercise. If not, have one of you create a branch, introduce a small change, commit, push, then publish the branch.</a:t>
            </a:r>
          </a:p>
          <a:p>
            <a:br>
              <a:rPr lang="en-US" b="0" dirty="0">
                <a:solidFill>
                  <a:srgbClr val="CCCCCC"/>
                </a:solidFill>
                <a:effectLst/>
                <a:latin typeface="Menlo" panose="020B0609030804020204" pitchFamily="49" charset="0"/>
              </a:rPr>
            </a:br>
            <a:r>
              <a:rPr lang="en-US" b="0" dirty="0">
                <a:solidFill>
                  <a:srgbClr val="CCCCCC"/>
                </a:solidFill>
                <a:effectLst/>
                <a:latin typeface="Menlo" panose="020B0609030804020204" pitchFamily="49" charset="0"/>
              </a:rPr>
              <a:t>Log into GitHub. The team member with the branch should create a pull request. Once it is created, everyone should look at the different parts of the PR and comment whether the branch looks okay to merge. The branch owner should make changes requested. If there are merge conflicts, those should be addressed (you can work together to address them). Once it is ready to merge, someone else on the team should merge the Pull Request.</a:t>
            </a:r>
          </a:p>
          <a:p>
            <a:br>
              <a:rPr lang="en-US" b="0" dirty="0">
                <a:solidFill>
                  <a:srgbClr val="CCCCCC"/>
                </a:solidFill>
                <a:effectLst/>
                <a:latin typeface="Menlo" panose="020B0609030804020204" pitchFamily="49" charset="0"/>
              </a:rPr>
            </a:br>
            <a:r>
              <a:rPr lang="en-US" b="0" dirty="0">
                <a:solidFill>
                  <a:srgbClr val="CCCCCC"/>
                </a:solidFill>
                <a:effectLst/>
                <a:latin typeface="Menlo" panose="020B0609030804020204" pitchFamily="49" charset="0"/>
              </a:rPr>
              <a:t>In both this activity and the last one your branch was eventually merged into the main branch. How does this experience compare to the previous activity?</a:t>
            </a:r>
          </a:p>
          <a:p>
            <a:br>
              <a:rPr lang="en-US" b="0" dirty="0">
                <a:solidFill>
                  <a:srgbClr val="CCCCCC"/>
                </a:solidFill>
                <a:effectLst/>
                <a:latin typeface="Menlo" panose="020B0609030804020204" pitchFamily="49" charset="0"/>
              </a:rPr>
            </a:br>
            <a:r>
              <a:rPr lang="en-US" b="0" dirty="0">
                <a:solidFill>
                  <a:srgbClr val="CCCCCC"/>
                </a:solidFill>
                <a:effectLst/>
                <a:latin typeface="Menlo" panose="020B0609030804020204" pitchFamily="49" charset="0"/>
              </a:rPr>
              <a:t>If you have extra time, the remaining team members can create their own Pull Requests with new branches.</a:t>
            </a:r>
          </a:p>
          <a:p>
            <a:endParaRPr lang="en-US" dirty="0"/>
          </a:p>
        </p:txBody>
      </p:sp>
      <p:sp>
        <p:nvSpPr>
          <p:cNvPr id="4" name="Slide Number Placeholder 3"/>
          <p:cNvSpPr>
            <a:spLocks noGrp="1"/>
          </p:cNvSpPr>
          <p:nvPr>
            <p:ph type="sldNum" sz="quarter" idx="5"/>
          </p:nvPr>
        </p:nvSpPr>
        <p:spPr/>
        <p:txBody>
          <a:bodyPr/>
          <a:lstStyle/>
          <a:p>
            <a:fld id="{729A9A33-2617-9741-9692-B8CF37E91C8E}" type="slidenum">
              <a:rPr lang="en-US" smtClean="0"/>
              <a:t>39</a:t>
            </a:fld>
            <a:endParaRPr lang="en-US"/>
          </a:p>
        </p:txBody>
      </p:sp>
    </p:spTree>
    <p:extLst>
      <p:ext uri="{BB962C8B-B14F-4D97-AF65-F5344CB8AC3E}">
        <p14:creationId xmlns:p14="http://schemas.microsoft.com/office/powerpoint/2010/main" val="407630957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1" kern="1200" dirty="0">
                <a:solidFill>
                  <a:schemeClr val="tx1"/>
                </a:solidFill>
                <a:effectLst/>
                <a:latin typeface="+mn-lt"/>
                <a:ea typeface="+mn-ea"/>
                <a:cs typeface="+mn-cs"/>
              </a:rPr>
              <a:t>From the website: </a:t>
            </a:r>
            <a:br>
              <a:rPr lang="en-US" sz="1200" b="0" i="1" kern="1200" dirty="0">
                <a:solidFill>
                  <a:schemeClr val="tx1"/>
                </a:solidFill>
                <a:effectLst/>
                <a:latin typeface="+mn-lt"/>
                <a:ea typeface="+mn-ea"/>
                <a:cs typeface="+mn-cs"/>
              </a:rPr>
            </a:br>
            <a:r>
              <a:rPr lang="en-US" sz="1200" b="0" i="1" kern="1200" dirty="0">
                <a:solidFill>
                  <a:schemeClr val="tx1"/>
                </a:solidFill>
                <a:effectLst/>
                <a:latin typeface="+mn-lt"/>
                <a:ea typeface="+mn-ea"/>
                <a:cs typeface="+mn-cs"/>
              </a:rPr>
              <a:t>The </a:t>
            </a:r>
            <a:r>
              <a:rPr lang="en-US" sz="1200" b="0" i="1" kern="1200" dirty="0" err="1">
                <a:solidFill>
                  <a:schemeClr val="tx1"/>
                </a:solidFill>
                <a:effectLst/>
                <a:latin typeface="+mn-lt"/>
                <a:ea typeface="+mn-ea"/>
                <a:cs typeface="+mn-cs"/>
              </a:rPr>
              <a:t>Trilinos</a:t>
            </a:r>
            <a:r>
              <a:rPr lang="en-US" sz="1200" b="0" i="1" kern="1200" dirty="0">
                <a:solidFill>
                  <a:schemeClr val="tx1"/>
                </a:solidFill>
                <a:effectLst/>
                <a:latin typeface="+mn-lt"/>
                <a:ea typeface="+mn-ea"/>
                <a:cs typeface="+mn-cs"/>
              </a:rPr>
              <a:t> Project is a community of developers, users and </a:t>
            </a:r>
            <a:r>
              <a:rPr lang="en-US" sz="1200" b="0" i="1" u="none" strike="noStrike" kern="1200" dirty="0">
                <a:solidFill>
                  <a:schemeClr val="tx1"/>
                </a:solidFill>
                <a:effectLst/>
                <a:latin typeface="+mn-lt"/>
                <a:ea typeface="+mn-ea"/>
                <a:cs typeface="+mn-cs"/>
                <a:hlinkClick r:id="rId3"/>
              </a:rPr>
              <a:t>user-developers</a:t>
            </a:r>
            <a:r>
              <a:rPr lang="en-US" sz="1200" b="0" i="1" kern="1200" dirty="0">
                <a:solidFill>
                  <a:schemeClr val="tx1"/>
                </a:solidFill>
                <a:effectLst/>
                <a:latin typeface="+mn-lt"/>
                <a:ea typeface="+mn-ea"/>
                <a:cs typeface="+mn-cs"/>
              </a:rPr>
              <a:t> focused on collaborative creation of algorithms and enabling technologies within an object-oriented software framework for the solution of large-scale, complex multi-physics engineering and scientific problems on new and emerging high-performance computing (HPC) architectures.</a:t>
            </a:r>
          </a:p>
          <a:p>
            <a:br>
              <a:rPr lang="en-US" dirty="0"/>
            </a:br>
            <a:r>
              <a:rPr lang="en-US" sz="1200" b="0" i="1" kern="1200" dirty="0" err="1">
                <a:solidFill>
                  <a:schemeClr val="tx1"/>
                </a:solidFill>
                <a:effectLst/>
                <a:latin typeface="+mn-lt"/>
                <a:ea typeface="+mn-ea"/>
                <a:cs typeface="+mn-cs"/>
              </a:rPr>
              <a:t>Trilinos</a:t>
            </a:r>
            <a:r>
              <a:rPr lang="en-US" sz="1200" b="0" i="1" kern="1200" dirty="0">
                <a:solidFill>
                  <a:schemeClr val="tx1"/>
                </a:solidFill>
                <a:effectLst/>
                <a:latin typeface="+mn-lt"/>
                <a:ea typeface="+mn-ea"/>
                <a:cs typeface="+mn-cs"/>
              </a:rPr>
              <a:t> is also a collection of reusable scientific software libraries, known in particular for </a:t>
            </a:r>
            <a:r>
              <a:rPr lang="en-US" sz="1200" b="0" i="1" u="none" strike="noStrike" kern="1200" dirty="0">
                <a:solidFill>
                  <a:schemeClr val="tx1"/>
                </a:solidFill>
                <a:effectLst/>
                <a:latin typeface="+mn-lt"/>
                <a:ea typeface="+mn-ea"/>
                <a:cs typeface="+mn-cs"/>
                <a:hlinkClick r:id="rId3"/>
              </a:rPr>
              <a:t>linear solvers</a:t>
            </a:r>
            <a:r>
              <a:rPr lang="en-US" sz="1200" b="0" i="1" kern="1200" dirty="0">
                <a:solidFill>
                  <a:schemeClr val="tx1"/>
                </a:solidFill>
                <a:effectLst/>
                <a:latin typeface="+mn-lt"/>
                <a:ea typeface="+mn-ea"/>
                <a:cs typeface="+mn-cs"/>
              </a:rPr>
              <a:t>, </a:t>
            </a:r>
            <a:r>
              <a:rPr lang="en-US" sz="1200" b="0" i="1" u="none" strike="noStrike" kern="1200" dirty="0">
                <a:solidFill>
                  <a:schemeClr val="tx1"/>
                </a:solidFill>
                <a:effectLst/>
                <a:latin typeface="+mn-lt"/>
                <a:ea typeface="+mn-ea"/>
                <a:cs typeface="+mn-cs"/>
                <a:hlinkClick r:id="rId3"/>
              </a:rPr>
              <a:t>non-linear solvers</a:t>
            </a:r>
            <a:r>
              <a:rPr lang="en-US" sz="1200" b="0" i="1" kern="1200" dirty="0">
                <a:solidFill>
                  <a:schemeClr val="tx1"/>
                </a:solidFill>
                <a:effectLst/>
                <a:latin typeface="+mn-lt"/>
                <a:ea typeface="+mn-ea"/>
                <a:cs typeface="+mn-cs"/>
              </a:rPr>
              <a:t>, </a:t>
            </a:r>
            <a:r>
              <a:rPr lang="en-US" sz="1200" b="0" i="1" u="none" strike="noStrike" kern="1200" dirty="0">
                <a:solidFill>
                  <a:schemeClr val="tx1"/>
                </a:solidFill>
                <a:effectLst/>
                <a:latin typeface="+mn-lt"/>
                <a:ea typeface="+mn-ea"/>
                <a:cs typeface="+mn-cs"/>
                <a:hlinkClick r:id="rId3"/>
              </a:rPr>
              <a:t>transient solvers</a:t>
            </a:r>
            <a:r>
              <a:rPr lang="en-US" sz="1200" b="0" i="1" kern="1200" dirty="0">
                <a:solidFill>
                  <a:schemeClr val="tx1"/>
                </a:solidFill>
                <a:effectLst/>
                <a:latin typeface="+mn-lt"/>
                <a:ea typeface="+mn-ea"/>
                <a:cs typeface="+mn-cs"/>
              </a:rPr>
              <a:t>, </a:t>
            </a:r>
            <a:r>
              <a:rPr lang="en-US" sz="1200" b="0" i="1" u="none" strike="noStrike" kern="1200" dirty="0">
                <a:solidFill>
                  <a:schemeClr val="tx1"/>
                </a:solidFill>
                <a:effectLst/>
                <a:latin typeface="+mn-lt"/>
                <a:ea typeface="+mn-ea"/>
                <a:cs typeface="+mn-cs"/>
                <a:hlinkClick r:id="rId3"/>
              </a:rPr>
              <a:t>optimization solvers</a:t>
            </a:r>
            <a:r>
              <a:rPr lang="en-US" sz="1200" b="0" i="1" kern="1200" dirty="0">
                <a:solidFill>
                  <a:schemeClr val="tx1"/>
                </a:solidFill>
                <a:effectLst/>
                <a:latin typeface="+mn-lt"/>
                <a:ea typeface="+mn-ea"/>
                <a:cs typeface="+mn-cs"/>
              </a:rPr>
              <a:t>, and </a:t>
            </a:r>
            <a:r>
              <a:rPr lang="en-US" sz="1200" b="0" i="1" u="none" strike="noStrike" kern="1200" dirty="0">
                <a:solidFill>
                  <a:schemeClr val="tx1"/>
                </a:solidFill>
                <a:effectLst/>
                <a:latin typeface="+mn-lt"/>
                <a:ea typeface="+mn-ea"/>
                <a:cs typeface="+mn-cs"/>
                <a:hlinkClick r:id="rId3"/>
              </a:rPr>
              <a:t>uncertainty quantification (UQ) solvers</a:t>
            </a:r>
            <a:r>
              <a:rPr lang="en-US" sz="1200" b="0" i="1" kern="1200" dirty="0">
                <a:solidFill>
                  <a:schemeClr val="tx1"/>
                </a:solidFill>
                <a:effectLst/>
                <a:latin typeface="+mn-lt"/>
                <a:ea typeface="+mn-ea"/>
                <a:cs typeface="+mn-cs"/>
              </a:rPr>
              <a:t>.</a:t>
            </a:r>
          </a:p>
          <a:p>
            <a:br>
              <a:rPr lang="en-US" dirty="0"/>
            </a:br>
            <a:endParaRPr lang="en-US" dirty="0"/>
          </a:p>
        </p:txBody>
      </p:sp>
      <p:sp>
        <p:nvSpPr>
          <p:cNvPr id="4" name="Slide Number Placeholder 3"/>
          <p:cNvSpPr>
            <a:spLocks noGrp="1"/>
          </p:cNvSpPr>
          <p:nvPr>
            <p:ph type="sldNum" sz="quarter" idx="10"/>
          </p:nvPr>
        </p:nvSpPr>
        <p:spPr/>
        <p:txBody>
          <a:bodyPr/>
          <a:lstStyle/>
          <a:p>
            <a:fld id="{54E672D7-8E2D-4611-973D-F4591A707C34}" type="slidenum">
              <a:rPr lang="en-US" smtClean="0"/>
              <a:t>41</a:t>
            </a:fld>
            <a:endParaRPr lang="en-US"/>
          </a:p>
        </p:txBody>
      </p:sp>
    </p:spTree>
    <p:extLst>
      <p:ext uri="{BB962C8B-B14F-4D97-AF65-F5344CB8AC3E}">
        <p14:creationId xmlns:p14="http://schemas.microsoft.com/office/powerpoint/2010/main" val="290219023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kern="1200" dirty="0">
                <a:solidFill>
                  <a:schemeClr val="tx1"/>
                </a:solidFill>
                <a:effectLst/>
                <a:latin typeface="+mn-lt"/>
                <a:ea typeface="+mn-ea"/>
                <a:cs typeface="+mn-cs"/>
              </a:rPr>
              <a:t>A High Performance Message Passing Library</a:t>
            </a:r>
          </a:p>
          <a:p>
            <a:endParaRPr lang="en-US" dirty="0"/>
          </a:p>
        </p:txBody>
      </p:sp>
      <p:sp>
        <p:nvSpPr>
          <p:cNvPr id="4" name="Slide Number Placeholder 3"/>
          <p:cNvSpPr>
            <a:spLocks noGrp="1"/>
          </p:cNvSpPr>
          <p:nvPr>
            <p:ph type="sldNum" sz="quarter" idx="10"/>
          </p:nvPr>
        </p:nvSpPr>
        <p:spPr/>
        <p:txBody>
          <a:bodyPr/>
          <a:lstStyle/>
          <a:p>
            <a:fld id="{54E672D7-8E2D-4611-973D-F4591A707C34}" type="slidenum">
              <a:rPr lang="en-US" smtClean="0"/>
              <a:t>42</a:t>
            </a:fld>
            <a:endParaRPr lang="en-US"/>
          </a:p>
        </p:txBody>
      </p:sp>
    </p:spTree>
    <p:extLst>
      <p:ext uri="{BB962C8B-B14F-4D97-AF65-F5344CB8AC3E}">
        <p14:creationId xmlns:p14="http://schemas.microsoft.com/office/powerpoint/2010/main" val="282501604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err="1">
                <a:solidFill>
                  <a:schemeClr val="tx1"/>
                </a:solidFill>
                <a:effectLst/>
                <a:latin typeface="+mn-lt"/>
                <a:ea typeface="+mn-ea"/>
                <a:cs typeface="+mn-cs"/>
              </a:rPr>
              <a:t>FleCSI</a:t>
            </a:r>
            <a:r>
              <a:rPr lang="en-US" sz="1200" b="0" i="0" kern="1200" dirty="0">
                <a:solidFill>
                  <a:schemeClr val="tx1"/>
                </a:solidFill>
                <a:effectLst/>
                <a:latin typeface="+mn-lt"/>
                <a:ea typeface="+mn-ea"/>
                <a:cs typeface="+mn-cs"/>
              </a:rPr>
              <a:t> is a compile-time configurable framework designed to support multi-physics application development for current and emerging HPC systems.</a:t>
            </a:r>
          </a:p>
          <a:p>
            <a:r>
              <a:rPr lang="en-US" sz="1200" b="0" i="0" kern="1200" dirty="0">
                <a:solidFill>
                  <a:schemeClr val="tx1"/>
                </a:solidFill>
                <a:effectLst/>
                <a:latin typeface="+mn-lt"/>
                <a:ea typeface="+mn-ea"/>
                <a:cs typeface="+mn-cs"/>
              </a:rPr>
              <a:t>In the diagram there is a 1.x branch only for new releases,  an initial 1.0 release branch with tag 1.0.0 as the initial release and tags 1.0.1, 1.0.2 for bug fixes, when 1.1 feature is release again an initial tag 1.1.0, then bug fix release tags 1.1.1 &amp; 1.1.2 etc. Once a major version goes into maintenance mode and a new major feature branch begins; in this case 2.x and like branches and tags are created for 2.x </a:t>
            </a:r>
            <a:endParaRPr lang="en-US" dirty="0"/>
          </a:p>
        </p:txBody>
      </p:sp>
      <p:sp>
        <p:nvSpPr>
          <p:cNvPr id="4" name="Slide Number Placeholder 3"/>
          <p:cNvSpPr>
            <a:spLocks noGrp="1"/>
          </p:cNvSpPr>
          <p:nvPr>
            <p:ph type="sldNum" sz="quarter" idx="10"/>
          </p:nvPr>
        </p:nvSpPr>
        <p:spPr/>
        <p:txBody>
          <a:bodyPr/>
          <a:lstStyle/>
          <a:p>
            <a:fld id="{54E672D7-8E2D-4611-973D-F4591A707C34}" type="slidenum">
              <a:rPr lang="en-US" smtClean="0"/>
              <a:t>43</a:t>
            </a:fld>
            <a:endParaRPr lang="en-US"/>
          </a:p>
        </p:txBody>
      </p:sp>
    </p:spTree>
    <p:extLst>
      <p:ext uri="{BB962C8B-B14F-4D97-AF65-F5344CB8AC3E}">
        <p14:creationId xmlns:p14="http://schemas.microsoft.com/office/powerpoint/2010/main" val="301639009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F7B19C-3232-508F-C337-9553EC0D14C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E086126-8826-2AD7-DB04-798D54B63F3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9D4FE14-FC8B-62D1-C713-C34CBDA85E0B}"/>
              </a:ext>
            </a:extLst>
          </p:cNvPr>
          <p:cNvSpPr>
            <a:spLocks noGrp="1"/>
          </p:cNvSpPr>
          <p:nvPr>
            <p:ph type="dt" sz="half" idx="10"/>
          </p:nvPr>
        </p:nvSpPr>
        <p:spPr/>
        <p:txBody>
          <a:bodyPr/>
          <a:lstStyle/>
          <a:p>
            <a:fld id="{E67D9999-9799-1C44-A2E6-E2A791F65FB1}" type="datetimeFigureOut">
              <a:rPr lang="en-US" smtClean="0"/>
              <a:t>7/12/26</a:t>
            </a:fld>
            <a:endParaRPr lang="en-US"/>
          </a:p>
        </p:txBody>
      </p:sp>
      <p:sp>
        <p:nvSpPr>
          <p:cNvPr id="5" name="Footer Placeholder 4">
            <a:extLst>
              <a:ext uri="{FF2B5EF4-FFF2-40B4-BE49-F238E27FC236}">
                <a16:creationId xmlns:a16="http://schemas.microsoft.com/office/drawing/2014/main" id="{FDDDBB83-BAA4-0F7E-C0CD-6984811A1BB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4E3ADE7-635E-6F3C-0321-67C7D59D804C}"/>
              </a:ext>
            </a:extLst>
          </p:cNvPr>
          <p:cNvSpPr>
            <a:spLocks noGrp="1"/>
          </p:cNvSpPr>
          <p:nvPr>
            <p:ph type="sldNum" sz="quarter" idx="12"/>
          </p:nvPr>
        </p:nvSpPr>
        <p:spPr/>
        <p:txBody>
          <a:bodyPr/>
          <a:lstStyle/>
          <a:p>
            <a:fld id="{4EBA651A-DE8D-D94D-83A9-F5BC5F08A5FD}" type="slidenum">
              <a:rPr lang="en-US" smtClean="0"/>
              <a:t>‹#›</a:t>
            </a:fld>
            <a:endParaRPr lang="en-US"/>
          </a:p>
        </p:txBody>
      </p:sp>
    </p:spTree>
    <p:extLst>
      <p:ext uri="{BB962C8B-B14F-4D97-AF65-F5344CB8AC3E}">
        <p14:creationId xmlns:p14="http://schemas.microsoft.com/office/powerpoint/2010/main" val="3319010434"/>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3D5EDD-B3D5-A508-8387-EE72080BD49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C3B366C-85B0-1E21-F673-1C3EC623B4C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E2D3174-BFA8-96B9-F613-8C8F5C70B58B}"/>
              </a:ext>
            </a:extLst>
          </p:cNvPr>
          <p:cNvSpPr>
            <a:spLocks noGrp="1"/>
          </p:cNvSpPr>
          <p:nvPr>
            <p:ph type="dt" sz="half" idx="10"/>
          </p:nvPr>
        </p:nvSpPr>
        <p:spPr/>
        <p:txBody>
          <a:bodyPr/>
          <a:lstStyle/>
          <a:p>
            <a:fld id="{E67D9999-9799-1C44-A2E6-E2A791F65FB1}" type="datetimeFigureOut">
              <a:rPr lang="en-US" smtClean="0"/>
              <a:t>7/12/26</a:t>
            </a:fld>
            <a:endParaRPr lang="en-US"/>
          </a:p>
        </p:txBody>
      </p:sp>
      <p:sp>
        <p:nvSpPr>
          <p:cNvPr id="5" name="Footer Placeholder 4">
            <a:extLst>
              <a:ext uri="{FF2B5EF4-FFF2-40B4-BE49-F238E27FC236}">
                <a16:creationId xmlns:a16="http://schemas.microsoft.com/office/drawing/2014/main" id="{BF5645D5-A770-5A42-667F-95E2937DE03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8BFD39D-E490-0CAF-C631-799AD3AEFE35}"/>
              </a:ext>
            </a:extLst>
          </p:cNvPr>
          <p:cNvSpPr>
            <a:spLocks noGrp="1"/>
          </p:cNvSpPr>
          <p:nvPr>
            <p:ph type="sldNum" sz="quarter" idx="12"/>
          </p:nvPr>
        </p:nvSpPr>
        <p:spPr/>
        <p:txBody>
          <a:bodyPr/>
          <a:lstStyle/>
          <a:p>
            <a:fld id="{4EBA651A-DE8D-D94D-83A9-F5BC5F08A5FD}" type="slidenum">
              <a:rPr lang="en-US" smtClean="0"/>
              <a:t>‹#›</a:t>
            </a:fld>
            <a:endParaRPr lang="en-US"/>
          </a:p>
        </p:txBody>
      </p:sp>
    </p:spTree>
    <p:extLst>
      <p:ext uri="{BB962C8B-B14F-4D97-AF65-F5344CB8AC3E}">
        <p14:creationId xmlns:p14="http://schemas.microsoft.com/office/powerpoint/2010/main" val="38281297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08848C-D272-F54B-78DF-08E0A4179D0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B08ADEF-61E8-80B5-4CC8-2980D9C7CAE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F4B4969-89D1-39BA-7095-CF86F49E7C8D}"/>
              </a:ext>
            </a:extLst>
          </p:cNvPr>
          <p:cNvSpPr>
            <a:spLocks noGrp="1"/>
          </p:cNvSpPr>
          <p:nvPr>
            <p:ph type="dt" sz="half" idx="10"/>
          </p:nvPr>
        </p:nvSpPr>
        <p:spPr/>
        <p:txBody>
          <a:bodyPr/>
          <a:lstStyle/>
          <a:p>
            <a:fld id="{E67D9999-9799-1C44-A2E6-E2A791F65FB1}" type="datetimeFigureOut">
              <a:rPr lang="en-US" smtClean="0"/>
              <a:t>7/12/26</a:t>
            </a:fld>
            <a:endParaRPr lang="en-US"/>
          </a:p>
        </p:txBody>
      </p:sp>
      <p:sp>
        <p:nvSpPr>
          <p:cNvPr id="5" name="Footer Placeholder 4">
            <a:extLst>
              <a:ext uri="{FF2B5EF4-FFF2-40B4-BE49-F238E27FC236}">
                <a16:creationId xmlns:a16="http://schemas.microsoft.com/office/drawing/2014/main" id="{46B83C3C-2A73-CA01-1D52-15493A2A59F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5239EEF-FBA2-4BA8-FFA7-A7EEE57561D4}"/>
              </a:ext>
            </a:extLst>
          </p:cNvPr>
          <p:cNvSpPr>
            <a:spLocks noGrp="1"/>
          </p:cNvSpPr>
          <p:nvPr>
            <p:ph type="sldNum" sz="quarter" idx="12"/>
          </p:nvPr>
        </p:nvSpPr>
        <p:spPr/>
        <p:txBody>
          <a:bodyPr/>
          <a:lstStyle/>
          <a:p>
            <a:fld id="{4EBA651A-DE8D-D94D-83A9-F5BC5F08A5FD}" type="slidenum">
              <a:rPr lang="en-US" smtClean="0"/>
              <a:t>‹#›</a:t>
            </a:fld>
            <a:endParaRPr lang="en-US"/>
          </a:p>
        </p:txBody>
      </p:sp>
    </p:spTree>
    <p:extLst>
      <p:ext uri="{BB962C8B-B14F-4D97-AF65-F5344CB8AC3E}">
        <p14:creationId xmlns:p14="http://schemas.microsoft.com/office/powerpoint/2010/main" val="25537027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0546B3-B2B2-6A82-A919-25804F42368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77FD50D-9819-6D5E-AECD-F83214FEDAA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5561782-A555-A11D-0427-3A416F51976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6A6E1B2-C288-B767-9DB7-9A32237904CD}"/>
              </a:ext>
            </a:extLst>
          </p:cNvPr>
          <p:cNvSpPr>
            <a:spLocks noGrp="1"/>
          </p:cNvSpPr>
          <p:nvPr>
            <p:ph type="dt" sz="half" idx="10"/>
          </p:nvPr>
        </p:nvSpPr>
        <p:spPr/>
        <p:txBody>
          <a:bodyPr/>
          <a:lstStyle/>
          <a:p>
            <a:fld id="{E67D9999-9799-1C44-A2E6-E2A791F65FB1}" type="datetimeFigureOut">
              <a:rPr lang="en-US" smtClean="0"/>
              <a:t>7/12/26</a:t>
            </a:fld>
            <a:endParaRPr lang="en-US"/>
          </a:p>
        </p:txBody>
      </p:sp>
      <p:sp>
        <p:nvSpPr>
          <p:cNvPr id="6" name="Footer Placeholder 5">
            <a:extLst>
              <a:ext uri="{FF2B5EF4-FFF2-40B4-BE49-F238E27FC236}">
                <a16:creationId xmlns:a16="http://schemas.microsoft.com/office/drawing/2014/main" id="{5AEEA5F3-259D-ED36-7420-42820A26556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C9F82D8-FE22-0CA3-D709-E4D702754389}"/>
              </a:ext>
            </a:extLst>
          </p:cNvPr>
          <p:cNvSpPr>
            <a:spLocks noGrp="1"/>
          </p:cNvSpPr>
          <p:nvPr>
            <p:ph type="sldNum" sz="quarter" idx="12"/>
          </p:nvPr>
        </p:nvSpPr>
        <p:spPr/>
        <p:txBody>
          <a:bodyPr/>
          <a:lstStyle/>
          <a:p>
            <a:fld id="{4EBA651A-DE8D-D94D-83A9-F5BC5F08A5FD}" type="slidenum">
              <a:rPr lang="en-US" smtClean="0"/>
              <a:t>‹#›</a:t>
            </a:fld>
            <a:endParaRPr lang="en-US"/>
          </a:p>
        </p:txBody>
      </p:sp>
    </p:spTree>
    <p:extLst>
      <p:ext uri="{BB962C8B-B14F-4D97-AF65-F5344CB8AC3E}">
        <p14:creationId xmlns:p14="http://schemas.microsoft.com/office/powerpoint/2010/main" val="8705771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E3AF32-C26B-C25B-D354-6DB5DE72B56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2DDC64E-3A22-FFB0-A548-BED159807CB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A5F4141-FA20-4507-42B8-37A14E2A0EA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A0F7EAD-9271-3688-EB7A-F1AF77BAA5E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C461B57-9554-8339-95BE-0C4014BA2E8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A7C7883-C97C-2124-0F42-B1546B298B52}"/>
              </a:ext>
            </a:extLst>
          </p:cNvPr>
          <p:cNvSpPr>
            <a:spLocks noGrp="1"/>
          </p:cNvSpPr>
          <p:nvPr>
            <p:ph type="dt" sz="half" idx="10"/>
          </p:nvPr>
        </p:nvSpPr>
        <p:spPr/>
        <p:txBody>
          <a:bodyPr/>
          <a:lstStyle/>
          <a:p>
            <a:fld id="{E67D9999-9799-1C44-A2E6-E2A791F65FB1}" type="datetimeFigureOut">
              <a:rPr lang="en-US" smtClean="0"/>
              <a:t>7/12/26</a:t>
            </a:fld>
            <a:endParaRPr lang="en-US"/>
          </a:p>
        </p:txBody>
      </p:sp>
      <p:sp>
        <p:nvSpPr>
          <p:cNvPr id="8" name="Footer Placeholder 7">
            <a:extLst>
              <a:ext uri="{FF2B5EF4-FFF2-40B4-BE49-F238E27FC236}">
                <a16:creationId xmlns:a16="http://schemas.microsoft.com/office/drawing/2014/main" id="{4C886894-CE6F-E74E-52E4-C290E9C035B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0F29DDD-BBF4-44DA-1607-ADBD4D259D16}"/>
              </a:ext>
            </a:extLst>
          </p:cNvPr>
          <p:cNvSpPr>
            <a:spLocks noGrp="1"/>
          </p:cNvSpPr>
          <p:nvPr>
            <p:ph type="sldNum" sz="quarter" idx="12"/>
          </p:nvPr>
        </p:nvSpPr>
        <p:spPr/>
        <p:txBody>
          <a:bodyPr/>
          <a:lstStyle/>
          <a:p>
            <a:fld id="{4EBA651A-DE8D-D94D-83A9-F5BC5F08A5FD}" type="slidenum">
              <a:rPr lang="en-US" smtClean="0"/>
              <a:t>‹#›</a:t>
            </a:fld>
            <a:endParaRPr lang="en-US"/>
          </a:p>
        </p:txBody>
      </p:sp>
    </p:spTree>
    <p:extLst>
      <p:ext uri="{BB962C8B-B14F-4D97-AF65-F5344CB8AC3E}">
        <p14:creationId xmlns:p14="http://schemas.microsoft.com/office/powerpoint/2010/main" val="34403220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85FECB-6347-CE8D-E8BC-8D44ECBE504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BC0B5F3-DB68-BF0D-E127-930F8D3E3050}"/>
              </a:ext>
            </a:extLst>
          </p:cNvPr>
          <p:cNvSpPr>
            <a:spLocks noGrp="1"/>
          </p:cNvSpPr>
          <p:nvPr>
            <p:ph type="dt" sz="half" idx="10"/>
          </p:nvPr>
        </p:nvSpPr>
        <p:spPr/>
        <p:txBody>
          <a:bodyPr/>
          <a:lstStyle/>
          <a:p>
            <a:fld id="{E67D9999-9799-1C44-A2E6-E2A791F65FB1}" type="datetimeFigureOut">
              <a:rPr lang="en-US" smtClean="0"/>
              <a:t>7/12/26</a:t>
            </a:fld>
            <a:endParaRPr lang="en-US"/>
          </a:p>
        </p:txBody>
      </p:sp>
      <p:sp>
        <p:nvSpPr>
          <p:cNvPr id="4" name="Footer Placeholder 3">
            <a:extLst>
              <a:ext uri="{FF2B5EF4-FFF2-40B4-BE49-F238E27FC236}">
                <a16:creationId xmlns:a16="http://schemas.microsoft.com/office/drawing/2014/main" id="{E9AF017E-A2EC-9BE4-D970-12501F98FA8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CAAD1D0-D64E-A4F0-2524-7A4EBAAB5D31}"/>
              </a:ext>
            </a:extLst>
          </p:cNvPr>
          <p:cNvSpPr>
            <a:spLocks noGrp="1"/>
          </p:cNvSpPr>
          <p:nvPr>
            <p:ph type="sldNum" sz="quarter" idx="12"/>
          </p:nvPr>
        </p:nvSpPr>
        <p:spPr/>
        <p:txBody>
          <a:bodyPr/>
          <a:lstStyle/>
          <a:p>
            <a:fld id="{4EBA651A-DE8D-D94D-83A9-F5BC5F08A5FD}" type="slidenum">
              <a:rPr lang="en-US" smtClean="0"/>
              <a:t>‹#›</a:t>
            </a:fld>
            <a:endParaRPr lang="en-US"/>
          </a:p>
        </p:txBody>
      </p:sp>
      <p:pic>
        <p:nvPicPr>
          <p:cNvPr id="6" name="Picture 5" descr="A white letter on a purple background&#10;&#10;Description automatically generated">
            <a:extLst>
              <a:ext uri="{FF2B5EF4-FFF2-40B4-BE49-F238E27FC236}">
                <a16:creationId xmlns:a16="http://schemas.microsoft.com/office/drawing/2014/main" id="{934864EF-6E85-7D1D-AB60-2D61F926A9E5}"/>
              </a:ext>
            </a:extLst>
          </p:cNvPr>
          <p:cNvPicPr>
            <a:picLocks noChangeAspect="1"/>
          </p:cNvPicPr>
          <p:nvPr userDrawn="1"/>
        </p:nvPicPr>
        <p:blipFill>
          <a:blip r:embed="rId2"/>
          <a:stretch>
            <a:fillRect/>
          </a:stretch>
        </p:blipFill>
        <p:spPr>
          <a:xfrm>
            <a:off x="11295529" y="47813"/>
            <a:ext cx="847166" cy="847166"/>
          </a:xfrm>
          <a:prstGeom prst="rect">
            <a:avLst/>
          </a:prstGeom>
        </p:spPr>
      </p:pic>
    </p:spTree>
    <p:extLst>
      <p:ext uri="{BB962C8B-B14F-4D97-AF65-F5344CB8AC3E}">
        <p14:creationId xmlns:p14="http://schemas.microsoft.com/office/powerpoint/2010/main" val="18328106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A4BC9B1-4163-216B-3350-287A2E6FA4D8}"/>
              </a:ext>
            </a:extLst>
          </p:cNvPr>
          <p:cNvSpPr>
            <a:spLocks noGrp="1"/>
          </p:cNvSpPr>
          <p:nvPr>
            <p:ph type="dt" sz="half" idx="10"/>
          </p:nvPr>
        </p:nvSpPr>
        <p:spPr/>
        <p:txBody>
          <a:bodyPr/>
          <a:lstStyle/>
          <a:p>
            <a:fld id="{E67D9999-9799-1C44-A2E6-E2A791F65FB1}" type="datetimeFigureOut">
              <a:rPr lang="en-US" smtClean="0"/>
              <a:t>7/12/26</a:t>
            </a:fld>
            <a:endParaRPr lang="en-US"/>
          </a:p>
        </p:txBody>
      </p:sp>
      <p:sp>
        <p:nvSpPr>
          <p:cNvPr id="3" name="Footer Placeholder 2">
            <a:extLst>
              <a:ext uri="{FF2B5EF4-FFF2-40B4-BE49-F238E27FC236}">
                <a16:creationId xmlns:a16="http://schemas.microsoft.com/office/drawing/2014/main" id="{43059A20-4912-24CB-2AA9-245DEA97039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8A42DE3-FB87-FCC1-7778-E3FE46468477}"/>
              </a:ext>
            </a:extLst>
          </p:cNvPr>
          <p:cNvSpPr>
            <a:spLocks noGrp="1"/>
          </p:cNvSpPr>
          <p:nvPr>
            <p:ph type="sldNum" sz="quarter" idx="12"/>
          </p:nvPr>
        </p:nvSpPr>
        <p:spPr/>
        <p:txBody>
          <a:bodyPr/>
          <a:lstStyle/>
          <a:p>
            <a:fld id="{4EBA651A-DE8D-D94D-83A9-F5BC5F08A5FD}" type="slidenum">
              <a:rPr lang="en-US" smtClean="0"/>
              <a:t>‹#›</a:t>
            </a:fld>
            <a:endParaRPr lang="en-US"/>
          </a:p>
        </p:txBody>
      </p:sp>
      <p:pic>
        <p:nvPicPr>
          <p:cNvPr id="5" name="Picture 4" descr="A white letter on a purple background&#10;&#10;Description automatically generated">
            <a:extLst>
              <a:ext uri="{FF2B5EF4-FFF2-40B4-BE49-F238E27FC236}">
                <a16:creationId xmlns:a16="http://schemas.microsoft.com/office/drawing/2014/main" id="{568AE44F-89F3-E91B-5AFE-98C475FB414B}"/>
              </a:ext>
            </a:extLst>
          </p:cNvPr>
          <p:cNvPicPr>
            <a:picLocks noChangeAspect="1"/>
          </p:cNvPicPr>
          <p:nvPr userDrawn="1"/>
        </p:nvPicPr>
        <p:blipFill>
          <a:blip r:embed="rId2"/>
          <a:stretch>
            <a:fillRect/>
          </a:stretch>
        </p:blipFill>
        <p:spPr>
          <a:xfrm>
            <a:off x="11295529" y="47813"/>
            <a:ext cx="847166" cy="847166"/>
          </a:xfrm>
          <a:prstGeom prst="rect">
            <a:avLst/>
          </a:prstGeom>
        </p:spPr>
      </p:pic>
    </p:spTree>
    <p:extLst>
      <p:ext uri="{BB962C8B-B14F-4D97-AF65-F5344CB8AC3E}">
        <p14:creationId xmlns:p14="http://schemas.microsoft.com/office/powerpoint/2010/main" val="29076855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62383B-A9B9-AEF3-A22E-C09F4506A2D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39D8E79-84EB-CA24-4C07-B5412E9525C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5D6EE30-D59C-5514-6086-41C049B5E27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CC4691F-787E-3418-8089-A20CEB1A1B22}"/>
              </a:ext>
            </a:extLst>
          </p:cNvPr>
          <p:cNvSpPr>
            <a:spLocks noGrp="1"/>
          </p:cNvSpPr>
          <p:nvPr>
            <p:ph type="dt" sz="half" idx="10"/>
          </p:nvPr>
        </p:nvSpPr>
        <p:spPr/>
        <p:txBody>
          <a:bodyPr/>
          <a:lstStyle/>
          <a:p>
            <a:fld id="{E67D9999-9799-1C44-A2E6-E2A791F65FB1}" type="datetimeFigureOut">
              <a:rPr lang="en-US" smtClean="0"/>
              <a:t>7/12/26</a:t>
            </a:fld>
            <a:endParaRPr lang="en-US"/>
          </a:p>
        </p:txBody>
      </p:sp>
      <p:sp>
        <p:nvSpPr>
          <p:cNvPr id="6" name="Footer Placeholder 5">
            <a:extLst>
              <a:ext uri="{FF2B5EF4-FFF2-40B4-BE49-F238E27FC236}">
                <a16:creationId xmlns:a16="http://schemas.microsoft.com/office/drawing/2014/main" id="{8B470EB0-1BB2-314A-FED4-A41F7F926A1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299C167-4C5C-8298-780B-99ED6279B783}"/>
              </a:ext>
            </a:extLst>
          </p:cNvPr>
          <p:cNvSpPr>
            <a:spLocks noGrp="1"/>
          </p:cNvSpPr>
          <p:nvPr>
            <p:ph type="sldNum" sz="quarter" idx="12"/>
          </p:nvPr>
        </p:nvSpPr>
        <p:spPr/>
        <p:txBody>
          <a:bodyPr/>
          <a:lstStyle/>
          <a:p>
            <a:fld id="{4EBA651A-DE8D-D94D-83A9-F5BC5F08A5FD}" type="slidenum">
              <a:rPr lang="en-US" smtClean="0"/>
              <a:t>‹#›</a:t>
            </a:fld>
            <a:endParaRPr lang="en-US"/>
          </a:p>
        </p:txBody>
      </p:sp>
    </p:spTree>
    <p:extLst>
      <p:ext uri="{BB962C8B-B14F-4D97-AF65-F5344CB8AC3E}">
        <p14:creationId xmlns:p14="http://schemas.microsoft.com/office/powerpoint/2010/main" val="25643532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9B42B9-16A3-0130-AD72-D4ACE697C46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DFCE6C9-BA66-B623-10BB-4B22229D87C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1C52A13-00BE-25D0-8F01-155664ACD62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9DBEA97-674F-3CB7-46B7-474F9FD5571D}"/>
              </a:ext>
            </a:extLst>
          </p:cNvPr>
          <p:cNvSpPr>
            <a:spLocks noGrp="1"/>
          </p:cNvSpPr>
          <p:nvPr>
            <p:ph type="dt" sz="half" idx="10"/>
          </p:nvPr>
        </p:nvSpPr>
        <p:spPr/>
        <p:txBody>
          <a:bodyPr/>
          <a:lstStyle/>
          <a:p>
            <a:fld id="{E67D9999-9799-1C44-A2E6-E2A791F65FB1}" type="datetimeFigureOut">
              <a:rPr lang="en-US" smtClean="0"/>
              <a:t>7/12/26</a:t>
            </a:fld>
            <a:endParaRPr lang="en-US"/>
          </a:p>
        </p:txBody>
      </p:sp>
      <p:sp>
        <p:nvSpPr>
          <p:cNvPr id="6" name="Footer Placeholder 5">
            <a:extLst>
              <a:ext uri="{FF2B5EF4-FFF2-40B4-BE49-F238E27FC236}">
                <a16:creationId xmlns:a16="http://schemas.microsoft.com/office/drawing/2014/main" id="{6AE19663-79F9-223B-7CDE-8CF1A071C72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2E46D1A-D14C-C986-EE52-7BDE8C7F38A9}"/>
              </a:ext>
            </a:extLst>
          </p:cNvPr>
          <p:cNvSpPr>
            <a:spLocks noGrp="1"/>
          </p:cNvSpPr>
          <p:nvPr>
            <p:ph type="sldNum" sz="quarter" idx="12"/>
          </p:nvPr>
        </p:nvSpPr>
        <p:spPr/>
        <p:txBody>
          <a:bodyPr/>
          <a:lstStyle/>
          <a:p>
            <a:fld id="{4EBA651A-DE8D-D94D-83A9-F5BC5F08A5FD}" type="slidenum">
              <a:rPr lang="en-US" smtClean="0"/>
              <a:t>‹#›</a:t>
            </a:fld>
            <a:endParaRPr lang="en-US"/>
          </a:p>
        </p:txBody>
      </p:sp>
    </p:spTree>
    <p:extLst>
      <p:ext uri="{BB962C8B-B14F-4D97-AF65-F5344CB8AC3E}">
        <p14:creationId xmlns:p14="http://schemas.microsoft.com/office/powerpoint/2010/main" val="32497164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797DB4-DCCD-26F3-71D8-D0B992F2671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6DE0A5C-FE13-D85F-727D-32228D2F769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19FAC53-5E28-37CD-7D6A-D8ECA62BCB9A}"/>
              </a:ext>
            </a:extLst>
          </p:cNvPr>
          <p:cNvSpPr>
            <a:spLocks noGrp="1"/>
          </p:cNvSpPr>
          <p:nvPr>
            <p:ph type="dt" sz="half" idx="10"/>
          </p:nvPr>
        </p:nvSpPr>
        <p:spPr/>
        <p:txBody>
          <a:bodyPr/>
          <a:lstStyle/>
          <a:p>
            <a:fld id="{E67D9999-9799-1C44-A2E6-E2A791F65FB1}" type="datetimeFigureOut">
              <a:rPr lang="en-US" smtClean="0"/>
              <a:t>7/12/26</a:t>
            </a:fld>
            <a:endParaRPr lang="en-US"/>
          </a:p>
        </p:txBody>
      </p:sp>
      <p:sp>
        <p:nvSpPr>
          <p:cNvPr id="5" name="Footer Placeholder 4">
            <a:extLst>
              <a:ext uri="{FF2B5EF4-FFF2-40B4-BE49-F238E27FC236}">
                <a16:creationId xmlns:a16="http://schemas.microsoft.com/office/drawing/2014/main" id="{F62E77C6-3580-2B2E-BD0D-ED9069D63BB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407B31C-88B6-4287-50F0-C86E04C793C4}"/>
              </a:ext>
            </a:extLst>
          </p:cNvPr>
          <p:cNvSpPr>
            <a:spLocks noGrp="1"/>
          </p:cNvSpPr>
          <p:nvPr>
            <p:ph type="sldNum" sz="quarter" idx="12"/>
          </p:nvPr>
        </p:nvSpPr>
        <p:spPr/>
        <p:txBody>
          <a:bodyPr/>
          <a:lstStyle/>
          <a:p>
            <a:fld id="{4EBA651A-DE8D-D94D-83A9-F5BC5F08A5FD}" type="slidenum">
              <a:rPr lang="en-US" smtClean="0"/>
              <a:t>‹#›</a:t>
            </a:fld>
            <a:endParaRPr lang="en-US"/>
          </a:p>
        </p:txBody>
      </p:sp>
    </p:spTree>
    <p:extLst>
      <p:ext uri="{BB962C8B-B14F-4D97-AF65-F5344CB8AC3E}">
        <p14:creationId xmlns:p14="http://schemas.microsoft.com/office/powerpoint/2010/main" val="10086972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B09AC67-9AD4-6AA2-8E81-6138C87A838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DF555D2-CC2B-5D67-2EEA-04964E4AF1F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D29E26A-1B6A-C3B9-1411-A158EC7C83EE}"/>
              </a:ext>
            </a:extLst>
          </p:cNvPr>
          <p:cNvSpPr>
            <a:spLocks noGrp="1"/>
          </p:cNvSpPr>
          <p:nvPr>
            <p:ph type="dt" sz="half" idx="10"/>
          </p:nvPr>
        </p:nvSpPr>
        <p:spPr/>
        <p:txBody>
          <a:bodyPr/>
          <a:lstStyle/>
          <a:p>
            <a:fld id="{E67D9999-9799-1C44-A2E6-E2A791F65FB1}" type="datetimeFigureOut">
              <a:rPr lang="en-US" smtClean="0"/>
              <a:t>7/12/26</a:t>
            </a:fld>
            <a:endParaRPr lang="en-US"/>
          </a:p>
        </p:txBody>
      </p:sp>
      <p:sp>
        <p:nvSpPr>
          <p:cNvPr id="5" name="Footer Placeholder 4">
            <a:extLst>
              <a:ext uri="{FF2B5EF4-FFF2-40B4-BE49-F238E27FC236}">
                <a16:creationId xmlns:a16="http://schemas.microsoft.com/office/drawing/2014/main" id="{566852A7-5FF0-52DC-3373-3E6B330D974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9D40548-F168-188E-F747-3F80E69BB53E}"/>
              </a:ext>
            </a:extLst>
          </p:cNvPr>
          <p:cNvSpPr>
            <a:spLocks noGrp="1"/>
          </p:cNvSpPr>
          <p:nvPr>
            <p:ph type="sldNum" sz="quarter" idx="12"/>
          </p:nvPr>
        </p:nvSpPr>
        <p:spPr/>
        <p:txBody>
          <a:bodyPr/>
          <a:lstStyle/>
          <a:p>
            <a:fld id="{4EBA651A-DE8D-D94D-83A9-F5BC5F08A5FD}" type="slidenum">
              <a:rPr lang="en-US" smtClean="0"/>
              <a:t>‹#›</a:t>
            </a:fld>
            <a:endParaRPr lang="en-US"/>
          </a:p>
        </p:txBody>
      </p:sp>
    </p:spTree>
    <p:extLst>
      <p:ext uri="{BB962C8B-B14F-4D97-AF65-F5344CB8AC3E}">
        <p14:creationId xmlns:p14="http://schemas.microsoft.com/office/powerpoint/2010/main" val="63942200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1_Title and Content">
    <p:spTree>
      <p:nvGrpSpPr>
        <p:cNvPr id="1" name=""/>
        <p:cNvGrpSpPr/>
        <p:nvPr/>
      </p:nvGrpSpPr>
      <p:grpSpPr>
        <a:xfrm>
          <a:off x="0" y="0"/>
          <a:ext cx="0" cy="0"/>
          <a:chOff x="0" y="0"/>
          <a:chExt cx="0" cy="0"/>
        </a:xfrm>
      </p:grpSpPr>
      <p:sp>
        <p:nvSpPr>
          <p:cNvPr id="8" name="Content Placeholder 7"/>
          <p:cNvSpPr>
            <a:spLocks noGrp="1"/>
          </p:cNvSpPr>
          <p:nvPr>
            <p:ph sz="quarter" idx="10"/>
          </p:nvPr>
        </p:nvSpPr>
        <p:spPr>
          <a:xfrm>
            <a:off x="633247" y="1293094"/>
            <a:ext cx="10918365" cy="4830616"/>
          </a:xfrm>
          <a:prstGeom prst="rect">
            <a:avLst/>
          </a:prstGeom>
        </p:spPr>
        <p:txBody>
          <a:bodyPr/>
          <a:lstStyle>
            <a:lvl1pPr>
              <a:lnSpc>
                <a:spcPct val="90000"/>
              </a:lnSpc>
              <a:spcBef>
                <a:spcPts val="900"/>
              </a:spcBef>
              <a:spcAft>
                <a:spcPts val="0"/>
              </a:spcAft>
              <a:defRPr/>
            </a:lvl1pPr>
            <a:lvl2pPr marL="404813" indent="-191691">
              <a:lnSpc>
                <a:spcPct val="90000"/>
              </a:lnSpc>
              <a:spcBef>
                <a:spcPts val="450"/>
              </a:spcBef>
              <a:spcAft>
                <a:spcPts val="0"/>
              </a:spcAft>
              <a:defRPr sz="1350"/>
            </a:lvl2pPr>
            <a:lvl3pPr marL="567929" indent="-138113">
              <a:lnSpc>
                <a:spcPct val="90000"/>
              </a:lnSpc>
              <a:spcBef>
                <a:spcPts val="450"/>
              </a:spcBef>
              <a:spcAft>
                <a:spcPts val="0"/>
              </a:spcAft>
              <a:buSzPct val="90000"/>
              <a:buFont typeface="Arial" pitchFamily="34" charset="0"/>
              <a:buChar char="•"/>
              <a:defRPr/>
            </a:lvl3pPr>
            <a:lvl4pPr marL="774954" indent="0">
              <a:lnSpc>
                <a:spcPct val="90000"/>
              </a:lnSpc>
              <a:spcBef>
                <a:spcPts val="450"/>
              </a:spcBef>
              <a:spcAft>
                <a:spcPts val="0"/>
              </a:spcAft>
              <a:buFontTx/>
              <a:buNone/>
              <a:defRPr/>
            </a:lvl4pPr>
            <a:lvl5pPr marL="946404" indent="0">
              <a:lnSpc>
                <a:spcPct val="90000"/>
              </a:lnSpc>
              <a:spcBef>
                <a:spcPts val="450"/>
              </a:spcBef>
              <a:spcAft>
                <a:spcPts val="0"/>
              </a:spcAft>
              <a:buSzPct val="85000"/>
              <a:buFontTx/>
              <a:buNone/>
              <a:defRPr sz="900"/>
            </a:lvl5pPr>
            <a:lvl6pPr>
              <a:buFont typeface="Arial" pitchFamily="34" charset="0"/>
              <a:buChar char="•"/>
              <a:defRPr/>
            </a:lvl6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Title 2">
            <a:extLst>
              <a:ext uri="{FF2B5EF4-FFF2-40B4-BE49-F238E27FC236}">
                <a16:creationId xmlns:a16="http://schemas.microsoft.com/office/drawing/2014/main" id="{CC53AD1E-1BB6-6224-DCB4-5B40F11BC96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85725882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2_Two Content">
    <p:spTree>
      <p:nvGrpSpPr>
        <p:cNvPr id="1" name=""/>
        <p:cNvGrpSpPr/>
        <p:nvPr/>
      </p:nvGrpSpPr>
      <p:grpSpPr>
        <a:xfrm>
          <a:off x="0" y="0"/>
          <a:ext cx="0" cy="0"/>
          <a:chOff x="0" y="0"/>
          <a:chExt cx="0" cy="0"/>
        </a:xfrm>
      </p:grpSpPr>
      <p:sp>
        <p:nvSpPr>
          <p:cNvPr id="8" name="Content Placeholder 7"/>
          <p:cNvSpPr>
            <a:spLocks noGrp="1"/>
          </p:cNvSpPr>
          <p:nvPr>
            <p:ph sz="quarter" idx="10"/>
          </p:nvPr>
        </p:nvSpPr>
        <p:spPr>
          <a:xfrm>
            <a:off x="633247" y="1293094"/>
            <a:ext cx="5318753" cy="4830616"/>
          </a:xfrm>
          <a:prstGeom prst="rect">
            <a:avLst/>
          </a:prstGeom>
        </p:spPr>
        <p:txBody>
          <a:bodyPr/>
          <a:lstStyle>
            <a:lvl1pPr>
              <a:lnSpc>
                <a:spcPts val="2200"/>
              </a:lnSpc>
              <a:spcBef>
                <a:spcPts val="1200"/>
              </a:spcBef>
              <a:spcAft>
                <a:spcPts val="0"/>
              </a:spcAft>
              <a:defRPr/>
            </a:lvl1pPr>
            <a:lvl2pPr marL="539750" indent="-255588">
              <a:lnSpc>
                <a:spcPts val="2000"/>
              </a:lnSpc>
              <a:spcBef>
                <a:spcPts val="600"/>
              </a:spcBef>
              <a:spcAft>
                <a:spcPts val="0"/>
              </a:spcAft>
              <a:defRPr sz="1800"/>
            </a:lvl2pPr>
            <a:lvl3pPr marL="757238" indent="-184150">
              <a:lnSpc>
                <a:spcPts val="1800"/>
              </a:lnSpc>
              <a:spcBef>
                <a:spcPts val="600"/>
              </a:spcBef>
              <a:spcAft>
                <a:spcPts val="0"/>
              </a:spcAft>
              <a:buSzPct val="90000"/>
              <a:buFont typeface="Arial" pitchFamily="34" charset="0"/>
              <a:buChar char="•"/>
              <a:defRPr/>
            </a:lvl3pPr>
            <a:lvl4pPr marL="1033272" indent="0">
              <a:lnSpc>
                <a:spcPts val="1600"/>
              </a:lnSpc>
              <a:spcBef>
                <a:spcPts val="600"/>
              </a:spcBef>
              <a:spcAft>
                <a:spcPts val="0"/>
              </a:spcAft>
              <a:buFontTx/>
              <a:buNone/>
              <a:defRPr/>
            </a:lvl4pPr>
            <a:lvl5pPr marL="1261872" indent="0">
              <a:lnSpc>
                <a:spcPts val="1400"/>
              </a:lnSpc>
              <a:spcBef>
                <a:spcPts val="600"/>
              </a:spcBef>
              <a:spcAft>
                <a:spcPts val="0"/>
              </a:spcAft>
              <a:buSzPct val="85000"/>
              <a:buFontTx/>
              <a:buNone/>
              <a:defRPr sz="1200"/>
            </a:lvl5pPr>
            <a:lvl6pPr>
              <a:buFont typeface="Arial" pitchFamily="34" charset="0"/>
              <a:buChar char="•"/>
              <a:defRPr/>
            </a:lvl6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itle 8"/>
          <p:cNvSpPr>
            <a:spLocks noGrp="1"/>
          </p:cNvSpPr>
          <p:nvPr>
            <p:ph type="title"/>
          </p:nvPr>
        </p:nvSpPr>
        <p:spPr/>
        <p:txBody>
          <a:bodyPr/>
          <a:lstStyle/>
          <a:p>
            <a:r>
              <a:rPr lang="en-US"/>
              <a:t>Click to edit Master title style</a:t>
            </a:r>
            <a:endParaRPr lang="en-US" dirty="0"/>
          </a:p>
        </p:txBody>
      </p:sp>
      <p:sp>
        <p:nvSpPr>
          <p:cNvPr id="6" name="Content Placeholder 7"/>
          <p:cNvSpPr>
            <a:spLocks noGrp="1"/>
          </p:cNvSpPr>
          <p:nvPr>
            <p:ph sz="quarter" idx="11"/>
          </p:nvPr>
        </p:nvSpPr>
        <p:spPr>
          <a:xfrm>
            <a:off x="6220448" y="1293094"/>
            <a:ext cx="5318753" cy="4830616"/>
          </a:xfrm>
          <a:prstGeom prst="rect">
            <a:avLst/>
          </a:prstGeom>
        </p:spPr>
        <p:txBody>
          <a:bodyPr/>
          <a:lstStyle>
            <a:lvl1pPr>
              <a:lnSpc>
                <a:spcPts val="2200"/>
              </a:lnSpc>
              <a:spcBef>
                <a:spcPts val="1200"/>
              </a:spcBef>
              <a:spcAft>
                <a:spcPts val="0"/>
              </a:spcAft>
              <a:defRPr/>
            </a:lvl1pPr>
            <a:lvl2pPr marL="539750" indent="-255588">
              <a:lnSpc>
                <a:spcPts val="2000"/>
              </a:lnSpc>
              <a:spcBef>
                <a:spcPts val="600"/>
              </a:spcBef>
              <a:spcAft>
                <a:spcPts val="0"/>
              </a:spcAft>
              <a:defRPr sz="1800"/>
            </a:lvl2pPr>
            <a:lvl3pPr marL="757238" indent="-184150">
              <a:lnSpc>
                <a:spcPts val="1800"/>
              </a:lnSpc>
              <a:spcBef>
                <a:spcPts val="600"/>
              </a:spcBef>
              <a:spcAft>
                <a:spcPts val="0"/>
              </a:spcAft>
              <a:buSzPct val="90000"/>
              <a:buFont typeface="Arial" pitchFamily="34" charset="0"/>
              <a:buChar char="•"/>
              <a:defRPr/>
            </a:lvl3pPr>
            <a:lvl4pPr marL="1033272" indent="1588">
              <a:lnSpc>
                <a:spcPts val="1600"/>
              </a:lnSpc>
              <a:spcBef>
                <a:spcPts val="600"/>
              </a:spcBef>
              <a:spcAft>
                <a:spcPts val="0"/>
              </a:spcAft>
              <a:buFontTx/>
              <a:buNone/>
              <a:defRPr/>
            </a:lvl4pPr>
            <a:lvl5pPr marL="1261872" indent="0">
              <a:lnSpc>
                <a:spcPts val="1400"/>
              </a:lnSpc>
              <a:spcBef>
                <a:spcPts val="600"/>
              </a:spcBef>
              <a:spcAft>
                <a:spcPts val="0"/>
              </a:spcAft>
              <a:buSzPct val="85000"/>
              <a:buFontTx/>
              <a:buNone/>
              <a:defRPr sz="1200"/>
            </a:lvl5pPr>
            <a:lvl6pPr>
              <a:buFont typeface="Arial" pitchFamily="34" charset="0"/>
              <a:buChar char="•"/>
              <a:defRPr/>
            </a:lvl6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2" name="Picture 1" descr="A white letter on a purple background&#10;&#10;Description automatically generated">
            <a:extLst>
              <a:ext uri="{FF2B5EF4-FFF2-40B4-BE49-F238E27FC236}">
                <a16:creationId xmlns:a16="http://schemas.microsoft.com/office/drawing/2014/main" id="{D3551F26-C02E-5DF9-EA04-D0E764C08B01}"/>
              </a:ext>
            </a:extLst>
          </p:cNvPr>
          <p:cNvPicPr>
            <a:picLocks noChangeAspect="1"/>
          </p:cNvPicPr>
          <p:nvPr userDrawn="1"/>
        </p:nvPicPr>
        <p:blipFill>
          <a:blip r:embed="rId2"/>
          <a:stretch>
            <a:fillRect/>
          </a:stretch>
        </p:blipFill>
        <p:spPr>
          <a:xfrm>
            <a:off x="11295529" y="47813"/>
            <a:ext cx="847166" cy="847166"/>
          </a:xfrm>
          <a:prstGeom prst="rect">
            <a:avLst/>
          </a:prstGeom>
        </p:spPr>
      </p:pic>
    </p:spTree>
    <p:extLst>
      <p:ext uri="{BB962C8B-B14F-4D97-AF65-F5344CB8AC3E}">
        <p14:creationId xmlns:p14="http://schemas.microsoft.com/office/powerpoint/2010/main" val="252598428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3529FD-6D35-F302-F885-54AF84FEDE92}"/>
              </a:ext>
            </a:extLst>
          </p:cNvPr>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89ED3763-3791-18EB-7333-CF216B11D808}"/>
              </a:ext>
            </a:extLst>
          </p:cNvPr>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E429D3D-8B45-D72A-E7E6-D16170B1EBCD}"/>
              </a:ext>
            </a:extLst>
          </p:cNvPr>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F1D3643-BFD5-BB9D-2F93-754C4E099F33}"/>
              </a:ext>
            </a:extLst>
          </p:cNvPr>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721320D-E7FF-7A86-4FAA-F1ED3F773AEA}"/>
              </a:ext>
            </a:extLst>
          </p:cNvPr>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D7CF09D-E988-159C-F057-A998A19EC896}"/>
              </a:ext>
            </a:extLst>
          </p:cNvPr>
          <p:cNvSpPr>
            <a:spLocks noGrp="1"/>
          </p:cNvSpPr>
          <p:nvPr>
            <p:ph type="dt" sz="half" idx="10"/>
          </p:nvPr>
        </p:nvSpPr>
        <p:spPr>
          <a:xfrm>
            <a:off x="838200" y="6356350"/>
            <a:ext cx="2743200" cy="365125"/>
          </a:xfrm>
          <a:prstGeom prst="rect">
            <a:avLst/>
          </a:prstGeom>
        </p:spPr>
        <p:txBody>
          <a:bodyPr/>
          <a:lstStyle/>
          <a:p>
            <a:fld id="{DEF5953D-26F7-4D49-AD84-4C4224623F74}" type="datetimeFigureOut">
              <a:rPr lang="en-US" smtClean="0"/>
              <a:t>7/12/26</a:t>
            </a:fld>
            <a:endParaRPr lang="en-US"/>
          </a:p>
        </p:txBody>
      </p:sp>
      <p:sp>
        <p:nvSpPr>
          <p:cNvPr id="8" name="Footer Placeholder 7">
            <a:extLst>
              <a:ext uri="{FF2B5EF4-FFF2-40B4-BE49-F238E27FC236}">
                <a16:creationId xmlns:a16="http://schemas.microsoft.com/office/drawing/2014/main" id="{FF38812F-507F-ED96-1837-D114AD982F15}"/>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Slide Number Placeholder 8">
            <a:extLst>
              <a:ext uri="{FF2B5EF4-FFF2-40B4-BE49-F238E27FC236}">
                <a16:creationId xmlns:a16="http://schemas.microsoft.com/office/drawing/2014/main" id="{5C638B33-1297-B9DC-B357-B618BEEAA3CE}"/>
              </a:ext>
            </a:extLst>
          </p:cNvPr>
          <p:cNvSpPr>
            <a:spLocks noGrp="1"/>
          </p:cNvSpPr>
          <p:nvPr>
            <p:ph type="sldNum" sz="quarter" idx="12"/>
          </p:nvPr>
        </p:nvSpPr>
        <p:spPr>
          <a:xfrm>
            <a:off x="8610600" y="6356350"/>
            <a:ext cx="2743200" cy="365125"/>
          </a:xfrm>
          <a:prstGeom prst="rect">
            <a:avLst/>
          </a:prstGeom>
        </p:spPr>
        <p:txBody>
          <a:bodyPr/>
          <a:lstStyle/>
          <a:p>
            <a:fld id="{1DE31460-E7C1-A042-A3B2-276E1142E9CD}" type="slidenum">
              <a:rPr lang="en-US" smtClean="0"/>
              <a:t>‹#›</a:t>
            </a:fld>
            <a:endParaRPr lang="en-US"/>
          </a:p>
        </p:txBody>
      </p:sp>
    </p:spTree>
    <p:extLst>
      <p:ext uri="{BB962C8B-B14F-4D97-AF65-F5344CB8AC3E}">
        <p14:creationId xmlns:p14="http://schemas.microsoft.com/office/powerpoint/2010/main" val="338388582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216873-C849-B69E-2553-022929B7F979}"/>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Date Placeholder 2">
            <a:extLst>
              <a:ext uri="{FF2B5EF4-FFF2-40B4-BE49-F238E27FC236}">
                <a16:creationId xmlns:a16="http://schemas.microsoft.com/office/drawing/2014/main" id="{82DE84D7-1EEA-31BD-393D-09BE1EC2570C}"/>
              </a:ext>
            </a:extLst>
          </p:cNvPr>
          <p:cNvSpPr>
            <a:spLocks noGrp="1"/>
          </p:cNvSpPr>
          <p:nvPr>
            <p:ph type="dt" sz="half" idx="10"/>
          </p:nvPr>
        </p:nvSpPr>
        <p:spPr>
          <a:xfrm>
            <a:off x="838200" y="6356350"/>
            <a:ext cx="2743200" cy="365125"/>
          </a:xfrm>
          <a:prstGeom prst="rect">
            <a:avLst/>
          </a:prstGeom>
        </p:spPr>
        <p:txBody>
          <a:bodyPr/>
          <a:lstStyle/>
          <a:p>
            <a:fld id="{DEF5953D-26F7-4D49-AD84-4C4224623F74}" type="datetimeFigureOut">
              <a:rPr lang="en-US" smtClean="0"/>
              <a:t>7/12/26</a:t>
            </a:fld>
            <a:endParaRPr lang="en-US"/>
          </a:p>
        </p:txBody>
      </p:sp>
      <p:sp>
        <p:nvSpPr>
          <p:cNvPr id="4" name="Footer Placeholder 3">
            <a:extLst>
              <a:ext uri="{FF2B5EF4-FFF2-40B4-BE49-F238E27FC236}">
                <a16:creationId xmlns:a16="http://schemas.microsoft.com/office/drawing/2014/main" id="{5825289A-B5AC-4C32-3466-F99CD8FE50F5}"/>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4">
            <a:extLst>
              <a:ext uri="{FF2B5EF4-FFF2-40B4-BE49-F238E27FC236}">
                <a16:creationId xmlns:a16="http://schemas.microsoft.com/office/drawing/2014/main" id="{4CA9F073-F52E-41F0-DE14-C1A13A85A167}"/>
              </a:ext>
            </a:extLst>
          </p:cNvPr>
          <p:cNvSpPr>
            <a:spLocks noGrp="1"/>
          </p:cNvSpPr>
          <p:nvPr>
            <p:ph type="sldNum" sz="quarter" idx="12"/>
          </p:nvPr>
        </p:nvSpPr>
        <p:spPr>
          <a:xfrm>
            <a:off x="8610600" y="6356350"/>
            <a:ext cx="2743200" cy="365125"/>
          </a:xfrm>
          <a:prstGeom prst="rect">
            <a:avLst/>
          </a:prstGeom>
        </p:spPr>
        <p:txBody>
          <a:bodyPr/>
          <a:lstStyle/>
          <a:p>
            <a:fld id="{1DE31460-E7C1-A042-A3B2-276E1142E9CD}" type="slidenum">
              <a:rPr lang="en-US" smtClean="0"/>
              <a:t>‹#›</a:t>
            </a:fld>
            <a:endParaRPr lang="en-US"/>
          </a:p>
        </p:txBody>
      </p:sp>
      <p:pic>
        <p:nvPicPr>
          <p:cNvPr id="6" name="Picture 5" descr="A white letter on a purple background&#10;&#10;Description automatically generated">
            <a:extLst>
              <a:ext uri="{FF2B5EF4-FFF2-40B4-BE49-F238E27FC236}">
                <a16:creationId xmlns:a16="http://schemas.microsoft.com/office/drawing/2014/main" id="{31CBDE79-D24A-04C4-59A8-116008DC2122}"/>
              </a:ext>
            </a:extLst>
          </p:cNvPr>
          <p:cNvPicPr>
            <a:picLocks noChangeAspect="1"/>
          </p:cNvPicPr>
          <p:nvPr userDrawn="1"/>
        </p:nvPicPr>
        <p:blipFill>
          <a:blip r:embed="rId2"/>
          <a:stretch>
            <a:fillRect/>
          </a:stretch>
        </p:blipFill>
        <p:spPr>
          <a:xfrm>
            <a:off x="11295529" y="47813"/>
            <a:ext cx="847166" cy="847166"/>
          </a:xfrm>
          <a:prstGeom prst="rect">
            <a:avLst/>
          </a:prstGeom>
        </p:spPr>
      </p:pic>
    </p:spTree>
    <p:extLst>
      <p:ext uri="{BB962C8B-B14F-4D97-AF65-F5344CB8AC3E}">
        <p14:creationId xmlns:p14="http://schemas.microsoft.com/office/powerpoint/2010/main" val="267389768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E1705D-C836-4498-FA61-C164B54764E3}"/>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2547348-B438-D49E-E324-E31466562ABA}"/>
              </a:ext>
            </a:extLst>
          </p:cNvPr>
          <p:cNvSpPr>
            <a:spLocks noGrp="1"/>
          </p:cNvSpPr>
          <p:nvPr>
            <p:ph type="body" orient="vert" idx="1"/>
          </p:nvPr>
        </p:nvSpPr>
        <p:spPr>
          <a:xfrm>
            <a:off x="838200" y="1825625"/>
            <a:ext cx="105156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6F25734-73E8-373C-5F8F-00057628E7AA}"/>
              </a:ext>
            </a:extLst>
          </p:cNvPr>
          <p:cNvSpPr>
            <a:spLocks noGrp="1"/>
          </p:cNvSpPr>
          <p:nvPr>
            <p:ph type="dt" sz="half" idx="10"/>
          </p:nvPr>
        </p:nvSpPr>
        <p:spPr>
          <a:xfrm>
            <a:off x="838200" y="6356350"/>
            <a:ext cx="2743200" cy="365125"/>
          </a:xfrm>
          <a:prstGeom prst="rect">
            <a:avLst/>
          </a:prstGeom>
        </p:spPr>
        <p:txBody>
          <a:bodyPr/>
          <a:lstStyle/>
          <a:p>
            <a:fld id="{DEF5953D-26F7-4D49-AD84-4C4224623F74}" type="datetimeFigureOut">
              <a:rPr lang="en-US" smtClean="0"/>
              <a:t>7/12/26</a:t>
            </a:fld>
            <a:endParaRPr lang="en-US"/>
          </a:p>
        </p:txBody>
      </p:sp>
      <p:sp>
        <p:nvSpPr>
          <p:cNvPr id="5" name="Footer Placeholder 4">
            <a:extLst>
              <a:ext uri="{FF2B5EF4-FFF2-40B4-BE49-F238E27FC236}">
                <a16:creationId xmlns:a16="http://schemas.microsoft.com/office/drawing/2014/main" id="{9278BF7F-1A20-F994-38D9-74CA71CFEEA6}"/>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C992703F-844F-1E3D-491D-7340AE8915BA}"/>
              </a:ext>
            </a:extLst>
          </p:cNvPr>
          <p:cNvSpPr>
            <a:spLocks noGrp="1"/>
          </p:cNvSpPr>
          <p:nvPr>
            <p:ph type="sldNum" sz="quarter" idx="12"/>
          </p:nvPr>
        </p:nvSpPr>
        <p:spPr>
          <a:xfrm>
            <a:off x="8610600" y="6356350"/>
            <a:ext cx="2743200" cy="365125"/>
          </a:xfrm>
          <a:prstGeom prst="rect">
            <a:avLst/>
          </a:prstGeom>
        </p:spPr>
        <p:txBody>
          <a:bodyPr/>
          <a:lstStyle/>
          <a:p>
            <a:fld id="{1DE31460-E7C1-A042-A3B2-276E1142E9CD}" type="slidenum">
              <a:rPr lang="en-US" smtClean="0"/>
              <a:t>‹#›</a:t>
            </a:fld>
            <a:endParaRPr lang="en-US"/>
          </a:p>
        </p:txBody>
      </p:sp>
    </p:spTree>
    <p:extLst>
      <p:ext uri="{BB962C8B-B14F-4D97-AF65-F5344CB8AC3E}">
        <p14:creationId xmlns:p14="http://schemas.microsoft.com/office/powerpoint/2010/main" val="35180595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A391D56-5637-5350-CA37-AD4C6C47CCC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A21A1A0-5F51-C894-6BFC-AB1E7098DF9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E361626-52C3-0F14-90F9-C0182372B39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67D9999-9799-1C44-A2E6-E2A791F65FB1}" type="datetimeFigureOut">
              <a:rPr lang="en-US" smtClean="0"/>
              <a:t>7/12/26</a:t>
            </a:fld>
            <a:endParaRPr lang="en-US"/>
          </a:p>
        </p:txBody>
      </p:sp>
      <p:sp>
        <p:nvSpPr>
          <p:cNvPr id="5" name="Footer Placeholder 4">
            <a:extLst>
              <a:ext uri="{FF2B5EF4-FFF2-40B4-BE49-F238E27FC236}">
                <a16:creationId xmlns:a16="http://schemas.microsoft.com/office/drawing/2014/main" id="{E1E2B5D1-91BF-CF3C-FA06-339B1C05320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024E6B28-3762-F5A3-959C-5B8E2B6F4FE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EBA651A-DE8D-D94D-83A9-F5BC5F08A5FD}" type="slidenum">
              <a:rPr lang="en-US" smtClean="0"/>
              <a:t>‹#›</a:t>
            </a:fld>
            <a:endParaRPr lang="en-US"/>
          </a:p>
        </p:txBody>
      </p:sp>
      <p:pic>
        <p:nvPicPr>
          <p:cNvPr id="7" name="Picture 6" descr="A white letter on a purple background&#10;&#10;Description automatically generated">
            <a:extLst>
              <a:ext uri="{FF2B5EF4-FFF2-40B4-BE49-F238E27FC236}">
                <a16:creationId xmlns:a16="http://schemas.microsoft.com/office/drawing/2014/main" id="{08E1542B-F702-D04E-1E7F-D0DFD9D41BD5}"/>
              </a:ext>
            </a:extLst>
          </p:cNvPr>
          <p:cNvPicPr>
            <a:picLocks noChangeAspect="1"/>
          </p:cNvPicPr>
          <p:nvPr userDrawn="1"/>
        </p:nvPicPr>
        <p:blipFill>
          <a:blip r:embed="rId18"/>
          <a:stretch>
            <a:fillRect/>
          </a:stretch>
        </p:blipFill>
        <p:spPr>
          <a:xfrm>
            <a:off x="11295529" y="47813"/>
            <a:ext cx="847166" cy="847166"/>
          </a:xfrm>
          <a:prstGeom prst="rect">
            <a:avLst/>
          </a:prstGeom>
        </p:spPr>
      </p:pic>
    </p:spTree>
    <p:extLst>
      <p:ext uri="{BB962C8B-B14F-4D97-AF65-F5344CB8AC3E}">
        <p14:creationId xmlns:p14="http://schemas.microsoft.com/office/powerpoint/2010/main" val="2083924323"/>
      </p:ext>
    </p:extLst>
  </p:cSld>
  <p:clrMap bg1="lt1" tx1="dk1" bg2="lt2" tx2="dk2" accent1="accent1" accent2="accent2" accent3="accent3" accent4="accent4" accent5="accent5" accent6="accent6" hlink="hlink" folHlink="folHlink"/>
  <p:sldLayoutIdLst>
    <p:sldLayoutId id="2147484258" r:id="rId1"/>
    <p:sldLayoutId id="2147484259" r:id="rId2"/>
    <p:sldLayoutId id="2147484260" r:id="rId3"/>
    <p:sldLayoutId id="2147484261" r:id="rId4"/>
    <p:sldLayoutId id="2147484262" r:id="rId5"/>
    <p:sldLayoutId id="2147484263" r:id="rId6"/>
    <p:sldLayoutId id="2147484264" r:id="rId7"/>
    <p:sldLayoutId id="2147484265" r:id="rId8"/>
    <p:sldLayoutId id="2147484266" r:id="rId9"/>
    <p:sldLayoutId id="2147484267" r:id="rId10"/>
    <p:sldLayoutId id="2147484268" r:id="rId11"/>
    <p:sldLayoutId id="2147484269" r:id="rId12"/>
    <p:sldLayoutId id="2147484270" r:id="rId13"/>
    <p:sldLayoutId id="2147483700" r:id="rId14"/>
    <p:sldLayoutId id="2147483701" r:id="rId15"/>
    <p:sldLayoutId id="2147483705" r:id="rId16"/>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hyperlink" Target="https://github.com/INTERSECT-training/intersect-training-practice" TargetMode="External"/><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hyperlink" Target="https://coderefinery.github.io/git-intro/conflicts/" TargetMode="External"/><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hyperlink" Target="https://www.atlassian.com/git/tutorials/using-branches/merge-conflicts" TargetMode="Externa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3" Type="http://schemas.openxmlformats.org/officeDocument/2006/relationships/hyperlink" Target="https://doi.org/10.6084/m9.figshare.22790762" TargetMode="External"/><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2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8.xml"/><Relationship Id="rId1" Type="http://schemas.openxmlformats.org/officeDocument/2006/relationships/slideLayout" Target="../slideLayouts/slideLayout2.xml"/><Relationship Id="rId5" Type="http://schemas.openxmlformats.org/officeDocument/2006/relationships/hyperlink" Target="https://doi.org/10.6084/m9.figshare.22790762" TargetMode="External"/><Relationship Id="rId4" Type="http://schemas.openxmlformats.org/officeDocument/2006/relationships/hyperlink" Target="https://scottchacon.com/2011/08/31/github-flow" TargetMode="External"/></Relationships>
</file>

<file path=ppt/slides/_rels/slide34.xml.rels><?xml version="1.0" encoding="UTF-8" standalone="yes"?>
<Relationships xmlns="http://schemas.openxmlformats.org/package/2006/relationships"><Relationship Id="rId3" Type="http://schemas.openxmlformats.org/officeDocument/2006/relationships/hyperlink" Target="https://github.com/nvie/gitflow" TargetMode="External"/><Relationship Id="rId7" Type="http://schemas.openxmlformats.org/officeDocument/2006/relationships/hyperlink" Target="https://doi.org/10.6084/m9.figshare.22790762" TargetMode="External"/><Relationship Id="rId2" Type="http://schemas.openxmlformats.org/officeDocument/2006/relationships/notesSlide" Target="../notesSlides/notesSlide29.xml"/><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hyperlink" Target="https://nvie.com/posts/a-successful-git-branching-model/" TargetMode="External"/><Relationship Id="rId4" Type="http://schemas.openxmlformats.org/officeDocument/2006/relationships/image" Target="../media/image16.png"/></Relationships>
</file>

<file path=ppt/slides/_rels/slide35.xml.rels><?xml version="1.0" encoding="UTF-8" standalone="yes"?>
<Relationships xmlns="http://schemas.openxmlformats.org/package/2006/relationships"><Relationship Id="rId3" Type="http://schemas.openxmlformats.org/officeDocument/2006/relationships/hyperlink" Target="https://doi.org/10.6084/m9.figshare.22790762" TargetMode="External"/><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hyperlink" Target="https://docs.github.com/en/repositories/configuring-branches-and-merges-in-your-repository/managing-protected-branches/about-protected-branches" TargetMode="External"/><Relationship Id="rId2" Type="http://schemas.openxmlformats.org/officeDocument/2006/relationships/notesSlide" Target="../notesSlides/notesSlide33.xml"/><Relationship Id="rId1" Type="http://schemas.openxmlformats.org/officeDocument/2006/relationships/slideLayout" Target="../slideLayouts/slideLayout2.xml"/><Relationship Id="rId4" Type="http://schemas.openxmlformats.org/officeDocument/2006/relationships/hyperlink" Target="https://doi.org/10.6084/m9.figshare.22790762" TargetMode="Externa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3" Type="http://schemas.openxmlformats.org/officeDocument/2006/relationships/hyperlink" Target="https://trilinos.github.io/" TargetMode="External"/><Relationship Id="rId2" Type="http://schemas.openxmlformats.org/officeDocument/2006/relationships/notesSlide" Target="../notesSlides/notesSlide35.xml"/><Relationship Id="rId1" Type="http://schemas.openxmlformats.org/officeDocument/2006/relationships/slideLayout" Target="../slideLayouts/slideLayout4.xml"/><Relationship Id="rId4" Type="http://schemas.openxmlformats.org/officeDocument/2006/relationships/hyperlink" Target="https://doi.org/10.6084/m9.figshare.22790762" TargetMode="External"/></Relationships>
</file>

<file path=ppt/slides/_rels/slide42.xml.rels><?xml version="1.0" encoding="UTF-8" standalone="yes"?>
<Relationships xmlns="http://schemas.openxmlformats.org/package/2006/relationships"><Relationship Id="rId3" Type="http://schemas.openxmlformats.org/officeDocument/2006/relationships/hyperlink" Target="https://www.open-mpi.org/" TargetMode="External"/><Relationship Id="rId2" Type="http://schemas.openxmlformats.org/officeDocument/2006/relationships/notesSlide" Target="../notesSlides/notesSlide36.xml"/><Relationship Id="rId1" Type="http://schemas.openxmlformats.org/officeDocument/2006/relationships/slideLayout" Target="../slideLayouts/slideLayout2.xml"/><Relationship Id="rId4" Type="http://schemas.openxmlformats.org/officeDocument/2006/relationships/hyperlink" Target="https://doi.org/10.6084/m9.figshare.22790762" TargetMode="External"/></Relationships>
</file>

<file path=ppt/slides/_rels/slide43.xml.rels><?xml version="1.0" encoding="UTF-8" standalone="yes"?>
<Relationships xmlns="http://schemas.openxmlformats.org/package/2006/relationships"><Relationship Id="rId3" Type="http://schemas.openxmlformats.org/officeDocument/2006/relationships/hyperlink" Target="https://flecsi.github.io/flecsi" TargetMode="External"/><Relationship Id="rId2" Type="http://schemas.openxmlformats.org/officeDocument/2006/relationships/notesSlide" Target="../notesSlides/notesSlide37.xml"/><Relationship Id="rId1" Type="http://schemas.openxmlformats.org/officeDocument/2006/relationships/slideLayout" Target="../slideLayouts/slideLayout2.xml"/><Relationship Id="rId5" Type="http://schemas.openxmlformats.org/officeDocument/2006/relationships/hyperlink" Target="https://doi.org/10.6084/m9.figshare.22790762" TargetMode="External"/><Relationship Id="rId4" Type="http://schemas.openxmlformats.org/officeDocument/2006/relationships/image" Target="../media/image1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6C19BF-32C9-0B37-2DF8-82A26CA7F924}"/>
              </a:ext>
            </a:extLst>
          </p:cNvPr>
          <p:cNvSpPr>
            <a:spLocks noGrp="1"/>
          </p:cNvSpPr>
          <p:nvPr>
            <p:ph type="ctrTitle"/>
          </p:nvPr>
        </p:nvSpPr>
        <p:spPr/>
        <p:txBody>
          <a:bodyPr/>
          <a:lstStyle/>
          <a:p>
            <a:r>
              <a:rPr lang="en-US" dirty="0"/>
              <a:t>Collaborative Git</a:t>
            </a:r>
          </a:p>
        </p:txBody>
      </p:sp>
      <p:sp>
        <p:nvSpPr>
          <p:cNvPr id="3" name="Subtitle 2">
            <a:extLst>
              <a:ext uri="{FF2B5EF4-FFF2-40B4-BE49-F238E27FC236}">
                <a16:creationId xmlns:a16="http://schemas.microsoft.com/office/drawing/2014/main" id="{7CEE6A76-57C8-693E-D148-481B5A15E3BA}"/>
              </a:ext>
            </a:extLst>
          </p:cNvPr>
          <p:cNvSpPr>
            <a:spLocks noGrp="1"/>
          </p:cNvSpPr>
          <p:nvPr>
            <p:ph type="subTitle" idx="1"/>
          </p:nvPr>
        </p:nvSpPr>
        <p:spPr/>
        <p:txBody>
          <a:bodyPr/>
          <a:lstStyle/>
          <a:p>
            <a:r>
              <a:rPr lang="en-US" dirty="0"/>
              <a:t>INTERSECT Bootcamp</a:t>
            </a:r>
          </a:p>
          <a:p>
            <a:r>
              <a:rPr lang="en-US" dirty="0"/>
              <a:t>Lauren Milechin</a:t>
            </a:r>
          </a:p>
        </p:txBody>
      </p:sp>
    </p:spTree>
    <p:extLst>
      <p:ext uri="{BB962C8B-B14F-4D97-AF65-F5344CB8AC3E}">
        <p14:creationId xmlns:p14="http://schemas.microsoft.com/office/powerpoint/2010/main" val="19756055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166A2FB-4C2F-3A42-201E-72C938362A2E}"/>
              </a:ext>
            </a:extLst>
          </p:cNvPr>
          <p:cNvSpPr>
            <a:spLocks noGrp="1"/>
          </p:cNvSpPr>
          <p:nvPr>
            <p:ph sz="quarter" idx="10"/>
          </p:nvPr>
        </p:nvSpPr>
        <p:spPr>
          <a:xfrm>
            <a:off x="4003965" y="1293094"/>
            <a:ext cx="7547648" cy="4830616"/>
          </a:xfrm>
        </p:spPr>
        <p:txBody>
          <a:bodyPr/>
          <a:lstStyle/>
          <a:p>
            <a:pPr>
              <a:lnSpc>
                <a:spcPct val="200000"/>
              </a:lnSpc>
            </a:pPr>
            <a:r>
              <a:rPr lang="en-US" sz="2800" dirty="0"/>
              <a:t>Introduction</a:t>
            </a:r>
          </a:p>
          <a:p>
            <a:pPr>
              <a:lnSpc>
                <a:spcPct val="200000"/>
              </a:lnSpc>
            </a:pPr>
            <a:r>
              <a:rPr lang="en-US" sz="2800" dirty="0"/>
              <a:t>Branches</a:t>
            </a:r>
          </a:p>
          <a:p>
            <a:pPr>
              <a:lnSpc>
                <a:spcPct val="200000"/>
              </a:lnSpc>
            </a:pPr>
            <a:r>
              <a:rPr lang="en-US" sz="2800" dirty="0"/>
              <a:t>Pull Requests</a:t>
            </a:r>
          </a:p>
          <a:p>
            <a:pPr>
              <a:lnSpc>
                <a:spcPct val="200000"/>
              </a:lnSpc>
            </a:pPr>
            <a:r>
              <a:rPr lang="en-US" sz="2800" dirty="0"/>
              <a:t>Git Workflows</a:t>
            </a:r>
          </a:p>
        </p:txBody>
      </p:sp>
      <p:sp>
        <p:nvSpPr>
          <p:cNvPr id="3" name="Title 2">
            <a:extLst>
              <a:ext uri="{FF2B5EF4-FFF2-40B4-BE49-F238E27FC236}">
                <a16:creationId xmlns:a16="http://schemas.microsoft.com/office/drawing/2014/main" id="{EE6EF526-5DB0-C31B-47BD-9F25AF1D77E3}"/>
              </a:ext>
            </a:extLst>
          </p:cNvPr>
          <p:cNvSpPr>
            <a:spLocks noGrp="1"/>
          </p:cNvSpPr>
          <p:nvPr>
            <p:ph type="title"/>
          </p:nvPr>
        </p:nvSpPr>
        <p:spPr/>
        <p:txBody>
          <a:bodyPr/>
          <a:lstStyle/>
          <a:p>
            <a:r>
              <a:rPr lang="en-US" dirty="0"/>
              <a:t>Outline</a:t>
            </a:r>
          </a:p>
        </p:txBody>
      </p:sp>
      <p:sp>
        <p:nvSpPr>
          <p:cNvPr id="4" name="Right Arrow 3">
            <a:extLst>
              <a:ext uri="{FF2B5EF4-FFF2-40B4-BE49-F238E27FC236}">
                <a16:creationId xmlns:a16="http://schemas.microsoft.com/office/drawing/2014/main" id="{7C1211E6-B491-068F-5D16-B402FF53136A}"/>
              </a:ext>
            </a:extLst>
          </p:cNvPr>
          <p:cNvSpPr/>
          <p:nvPr/>
        </p:nvSpPr>
        <p:spPr>
          <a:xfrm>
            <a:off x="2064327" y="1440873"/>
            <a:ext cx="1745672" cy="864679"/>
          </a:xfrm>
          <a:prstGeom prst="rightArrow">
            <a:avLst/>
          </a:prstGeom>
          <a:solidFill>
            <a:srgbClr val="D2DCF2"/>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dirty="0">
              <a:solidFill>
                <a:schemeClr val="tx1"/>
              </a:solidFill>
            </a:endParaRPr>
          </a:p>
        </p:txBody>
      </p:sp>
    </p:spTree>
    <p:extLst>
      <p:ext uri="{BB962C8B-B14F-4D97-AF65-F5344CB8AC3E}">
        <p14:creationId xmlns:p14="http://schemas.microsoft.com/office/powerpoint/2010/main" val="2531489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79F27BC-0482-5449-F25C-0F07A2B6015D}"/>
              </a:ext>
            </a:extLst>
          </p:cNvPr>
          <p:cNvSpPr>
            <a:spLocks noGrp="1"/>
          </p:cNvSpPr>
          <p:nvPr>
            <p:ph type="title"/>
          </p:nvPr>
        </p:nvSpPr>
        <p:spPr/>
        <p:txBody>
          <a:bodyPr>
            <a:normAutofit/>
          </a:bodyPr>
          <a:lstStyle/>
          <a:p>
            <a:r>
              <a:rPr lang="en-US" dirty="0"/>
              <a:t>Challenges of Collaborative Development</a:t>
            </a:r>
          </a:p>
        </p:txBody>
      </p:sp>
      <p:sp>
        <p:nvSpPr>
          <p:cNvPr id="2" name="Content Placeholder 1">
            <a:extLst>
              <a:ext uri="{FF2B5EF4-FFF2-40B4-BE49-F238E27FC236}">
                <a16:creationId xmlns:a16="http://schemas.microsoft.com/office/drawing/2014/main" id="{B04BB1CE-3D2B-7E4D-1809-C426FD0DF17B}"/>
              </a:ext>
            </a:extLst>
          </p:cNvPr>
          <p:cNvSpPr>
            <a:spLocks noGrp="1"/>
          </p:cNvSpPr>
          <p:nvPr>
            <p:ph idx="1"/>
          </p:nvPr>
        </p:nvSpPr>
        <p:spPr/>
        <p:txBody>
          <a:bodyPr/>
          <a:lstStyle/>
          <a:p>
            <a:pPr>
              <a:lnSpc>
                <a:spcPct val="200000"/>
              </a:lnSpc>
            </a:pPr>
            <a:r>
              <a:rPr lang="en-US" sz="2400" dirty="0"/>
              <a:t>Sharing code such that</a:t>
            </a:r>
          </a:p>
          <a:p>
            <a:pPr lvl="1">
              <a:lnSpc>
                <a:spcPct val="200000"/>
              </a:lnSpc>
            </a:pPr>
            <a:r>
              <a:rPr lang="en-US" sz="2000" dirty="0"/>
              <a:t>Everyone has the latest version</a:t>
            </a:r>
          </a:p>
          <a:p>
            <a:pPr lvl="1">
              <a:lnSpc>
                <a:spcPct val="200000"/>
              </a:lnSpc>
            </a:pPr>
            <a:r>
              <a:rPr lang="en-US" sz="2000" dirty="0"/>
              <a:t>Everyone can contribute equally</a:t>
            </a:r>
          </a:p>
          <a:p>
            <a:pPr>
              <a:lnSpc>
                <a:spcPct val="200000"/>
              </a:lnSpc>
            </a:pPr>
            <a:r>
              <a:rPr lang="en-US" sz="2400" dirty="0"/>
              <a:t>Keeping organized within the team</a:t>
            </a:r>
          </a:p>
          <a:p>
            <a:pPr lvl="1">
              <a:lnSpc>
                <a:spcPct val="200000"/>
              </a:lnSpc>
            </a:pPr>
            <a:r>
              <a:rPr lang="en-US" sz="2000" dirty="0"/>
              <a:t>Everyone is on the same page</a:t>
            </a:r>
          </a:p>
          <a:p>
            <a:pPr lvl="1">
              <a:lnSpc>
                <a:spcPct val="200000"/>
              </a:lnSpc>
            </a:pPr>
            <a:r>
              <a:rPr lang="en-US" sz="2000" dirty="0"/>
              <a:t>Communication</a:t>
            </a:r>
          </a:p>
        </p:txBody>
      </p:sp>
    </p:spTree>
    <p:extLst>
      <p:ext uri="{BB962C8B-B14F-4D97-AF65-F5344CB8AC3E}">
        <p14:creationId xmlns:p14="http://schemas.microsoft.com/office/powerpoint/2010/main" val="42197219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79F27BC-0482-5449-F25C-0F07A2B6015D}"/>
              </a:ext>
            </a:extLst>
          </p:cNvPr>
          <p:cNvSpPr>
            <a:spLocks noGrp="1"/>
          </p:cNvSpPr>
          <p:nvPr>
            <p:ph type="title"/>
          </p:nvPr>
        </p:nvSpPr>
        <p:spPr/>
        <p:txBody>
          <a:bodyPr>
            <a:normAutofit/>
          </a:bodyPr>
          <a:lstStyle/>
          <a:p>
            <a:r>
              <a:rPr lang="en-US" dirty="0"/>
              <a:t>Challenges of Collaborative Development</a:t>
            </a:r>
          </a:p>
        </p:txBody>
      </p:sp>
      <p:sp>
        <p:nvSpPr>
          <p:cNvPr id="2" name="Content Placeholder 1">
            <a:extLst>
              <a:ext uri="{FF2B5EF4-FFF2-40B4-BE49-F238E27FC236}">
                <a16:creationId xmlns:a16="http://schemas.microsoft.com/office/drawing/2014/main" id="{B04BB1CE-3D2B-7E4D-1809-C426FD0DF17B}"/>
              </a:ext>
            </a:extLst>
          </p:cNvPr>
          <p:cNvSpPr>
            <a:spLocks noGrp="1"/>
          </p:cNvSpPr>
          <p:nvPr>
            <p:ph idx="1"/>
          </p:nvPr>
        </p:nvSpPr>
        <p:spPr/>
        <p:txBody>
          <a:bodyPr/>
          <a:lstStyle/>
          <a:p>
            <a:pPr>
              <a:lnSpc>
                <a:spcPct val="200000"/>
              </a:lnSpc>
            </a:pPr>
            <a:r>
              <a:rPr lang="en-US" sz="2400" dirty="0"/>
              <a:t>Sharing code such that</a:t>
            </a:r>
          </a:p>
          <a:p>
            <a:pPr lvl="1">
              <a:lnSpc>
                <a:spcPct val="200000"/>
              </a:lnSpc>
            </a:pPr>
            <a:r>
              <a:rPr lang="en-US" sz="2000" dirty="0"/>
              <a:t>Everyone has the latest version</a:t>
            </a:r>
          </a:p>
          <a:p>
            <a:pPr lvl="1">
              <a:lnSpc>
                <a:spcPct val="200000"/>
              </a:lnSpc>
            </a:pPr>
            <a:r>
              <a:rPr lang="en-US" sz="2000" dirty="0"/>
              <a:t>Everyone can contribute equally</a:t>
            </a:r>
          </a:p>
          <a:p>
            <a:pPr>
              <a:lnSpc>
                <a:spcPct val="200000"/>
              </a:lnSpc>
            </a:pPr>
            <a:r>
              <a:rPr lang="en-US" sz="2400" dirty="0"/>
              <a:t>Keeping organized within the team</a:t>
            </a:r>
          </a:p>
          <a:p>
            <a:pPr lvl="1">
              <a:lnSpc>
                <a:spcPct val="200000"/>
              </a:lnSpc>
            </a:pPr>
            <a:r>
              <a:rPr lang="en-US" sz="2000" dirty="0"/>
              <a:t>Everyone is on the same page</a:t>
            </a:r>
          </a:p>
          <a:p>
            <a:pPr lvl="1">
              <a:lnSpc>
                <a:spcPct val="200000"/>
              </a:lnSpc>
            </a:pPr>
            <a:r>
              <a:rPr lang="en-US" sz="2000" dirty="0"/>
              <a:t>Communication</a:t>
            </a:r>
          </a:p>
        </p:txBody>
      </p:sp>
      <p:pic>
        <p:nvPicPr>
          <p:cNvPr id="5" name="Picture 4" descr="Atlassian Bitbucket logo">
            <a:extLst>
              <a:ext uri="{FF2B5EF4-FFF2-40B4-BE49-F238E27FC236}">
                <a16:creationId xmlns:a16="http://schemas.microsoft.com/office/drawing/2014/main" id="{161CE427-8287-933A-F2E5-F7FEEDE6BF16}"/>
              </a:ext>
            </a:extLst>
          </p:cNvPr>
          <p:cNvPicPr>
            <a:picLocks noChangeAspect="1"/>
          </p:cNvPicPr>
          <p:nvPr/>
        </p:nvPicPr>
        <p:blipFill>
          <a:blip r:embed="rId3"/>
          <a:stretch>
            <a:fillRect/>
          </a:stretch>
        </p:blipFill>
        <p:spPr>
          <a:xfrm>
            <a:off x="7491272" y="2609916"/>
            <a:ext cx="5000525" cy="3333684"/>
          </a:xfrm>
          <a:prstGeom prst="rect">
            <a:avLst/>
          </a:prstGeom>
        </p:spPr>
      </p:pic>
      <p:pic>
        <p:nvPicPr>
          <p:cNvPr id="7" name="Picture 6" descr="GitHub logo">
            <a:extLst>
              <a:ext uri="{FF2B5EF4-FFF2-40B4-BE49-F238E27FC236}">
                <a16:creationId xmlns:a16="http://schemas.microsoft.com/office/drawing/2014/main" id="{CE103BE2-32D4-002E-8A6A-F277D13CDE76}"/>
              </a:ext>
            </a:extLst>
          </p:cNvPr>
          <p:cNvPicPr>
            <a:picLocks noChangeAspect="1"/>
          </p:cNvPicPr>
          <p:nvPr/>
        </p:nvPicPr>
        <p:blipFill>
          <a:blip r:embed="rId4"/>
          <a:stretch>
            <a:fillRect/>
          </a:stretch>
        </p:blipFill>
        <p:spPr>
          <a:xfrm>
            <a:off x="6984308" y="1385455"/>
            <a:ext cx="2515870" cy="2272145"/>
          </a:xfrm>
          <a:prstGeom prst="rect">
            <a:avLst/>
          </a:prstGeom>
        </p:spPr>
      </p:pic>
      <p:pic>
        <p:nvPicPr>
          <p:cNvPr id="9" name="Picture 8" descr="GitLab logo">
            <a:extLst>
              <a:ext uri="{FF2B5EF4-FFF2-40B4-BE49-F238E27FC236}">
                <a16:creationId xmlns:a16="http://schemas.microsoft.com/office/drawing/2014/main" id="{AE58F954-7F86-91C2-CD15-A86083F29731}"/>
              </a:ext>
            </a:extLst>
          </p:cNvPr>
          <p:cNvPicPr>
            <a:picLocks noChangeAspect="1"/>
          </p:cNvPicPr>
          <p:nvPr/>
        </p:nvPicPr>
        <p:blipFill>
          <a:blip r:embed="rId5"/>
          <a:stretch>
            <a:fillRect/>
          </a:stretch>
        </p:blipFill>
        <p:spPr>
          <a:xfrm>
            <a:off x="5891260" y="5082306"/>
            <a:ext cx="4413250" cy="965200"/>
          </a:xfrm>
          <a:prstGeom prst="rect">
            <a:avLst/>
          </a:prstGeom>
        </p:spPr>
      </p:pic>
    </p:spTree>
    <p:extLst>
      <p:ext uri="{BB962C8B-B14F-4D97-AF65-F5344CB8AC3E}">
        <p14:creationId xmlns:p14="http://schemas.microsoft.com/office/powerpoint/2010/main" val="35049022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CA6EC2E-3E13-36AD-C6C3-6EC783217AC4}"/>
              </a:ext>
            </a:extLst>
          </p:cNvPr>
          <p:cNvSpPr>
            <a:spLocks noGrp="1"/>
          </p:cNvSpPr>
          <p:nvPr>
            <p:ph type="title"/>
          </p:nvPr>
        </p:nvSpPr>
        <p:spPr/>
        <p:txBody>
          <a:bodyPr/>
          <a:lstStyle/>
          <a:p>
            <a:r>
              <a:rPr lang="en-US" dirty="0"/>
              <a:t>Review</a:t>
            </a:r>
          </a:p>
        </p:txBody>
      </p:sp>
      <p:sp>
        <p:nvSpPr>
          <p:cNvPr id="2" name="Content Placeholder 1">
            <a:extLst>
              <a:ext uri="{FF2B5EF4-FFF2-40B4-BE49-F238E27FC236}">
                <a16:creationId xmlns:a16="http://schemas.microsoft.com/office/drawing/2014/main" id="{F4062B53-5ADC-94EF-F356-F42152B40668}"/>
              </a:ext>
            </a:extLst>
          </p:cNvPr>
          <p:cNvSpPr>
            <a:spLocks noGrp="1"/>
          </p:cNvSpPr>
          <p:nvPr>
            <p:ph idx="1"/>
          </p:nvPr>
        </p:nvSpPr>
        <p:spPr>
          <a:xfrm>
            <a:off x="838200" y="1825625"/>
            <a:ext cx="5146963" cy="4351338"/>
          </a:xfrm>
        </p:spPr>
        <p:txBody>
          <a:bodyPr>
            <a:normAutofit fontScale="92500" lnSpcReduction="20000"/>
          </a:bodyPr>
          <a:lstStyle/>
          <a:p>
            <a:r>
              <a:rPr lang="en-US" sz="2000" dirty="0"/>
              <a:t>Repository (repo): The project, contains all data and history (commits, branches, tags).</a:t>
            </a:r>
          </a:p>
          <a:p>
            <a:pPr lvl="1"/>
            <a:r>
              <a:rPr lang="en-US" sz="1800" dirty="0"/>
              <a:t>Remote/central (repository): The copy of the repository on a remote server, such as GitHub. Accessible to anyone who has access to the repository on the server.</a:t>
            </a:r>
          </a:p>
          <a:p>
            <a:pPr lvl="1"/>
            <a:r>
              <a:rPr lang="en-US" sz="1800" dirty="0"/>
              <a:t>Local (repository): A copy of the repository in another place, such as a laptop or your home directory on a cluster. Generally accessible to one person.</a:t>
            </a:r>
          </a:p>
          <a:p>
            <a:r>
              <a:rPr lang="en-US" sz="2000" dirty="0"/>
              <a:t>Commit: Snapshot of the project, gets a unique identifier (e.g. c7f0e8bfc718be04525847fc7ac237f470add76e).</a:t>
            </a:r>
          </a:p>
          <a:p>
            <a:r>
              <a:rPr lang="en-US" sz="2000" dirty="0"/>
              <a:t>Tag: A pointer to one commit, to be able to refer to it later. Like a commemorative plaque that you attach to a particular commit (e.g. </a:t>
            </a:r>
            <a:r>
              <a:rPr lang="en-US" sz="2000" dirty="0" err="1"/>
              <a:t>phd</a:t>
            </a:r>
            <a:r>
              <a:rPr lang="en-US" sz="2000" dirty="0"/>
              <a:t>-printed or paper-submitted).</a:t>
            </a:r>
          </a:p>
        </p:txBody>
      </p:sp>
      <p:sp>
        <p:nvSpPr>
          <p:cNvPr id="6" name="TextBox 5">
            <a:extLst>
              <a:ext uri="{FF2B5EF4-FFF2-40B4-BE49-F238E27FC236}">
                <a16:creationId xmlns:a16="http://schemas.microsoft.com/office/drawing/2014/main" id="{FE81DAF0-2D35-13B7-BC4C-10E8E05A6F9F}"/>
              </a:ext>
            </a:extLst>
          </p:cNvPr>
          <p:cNvSpPr txBox="1"/>
          <p:nvPr/>
        </p:nvSpPr>
        <p:spPr>
          <a:xfrm>
            <a:off x="3664216" y="6498214"/>
            <a:ext cx="8527784" cy="307777"/>
          </a:xfrm>
          <a:prstGeom prst="rect">
            <a:avLst/>
          </a:prstGeom>
          <a:noFill/>
        </p:spPr>
        <p:txBody>
          <a:bodyPr wrap="none" rtlCol="0">
            <a:spAutoFit/>
          </a:bodyPr>
          <a:lstStyle/>
          <a:p>
            <a:pPr algn="ctr"/>
            <a:r>
              <a:rPr lang="en-US" sz="1400" b="1" dirty="0"/>
              <a:t>Definitions and Figure from Code Refinery: https://</a:t>
            </a:r>
            <a:r>
              <a:rPr lang="en-US" sz="1400" b="1" dirty="0" err="1"/>
              <a:t>coderefinery.github.io</a:t>
            </a:r>
            <a:r>
              <a:rPr lang="en-US" sz="1400" b="1" dirty="0"/>
              <a:t>/git-collaborative/concepts/</a:t>
            </a:r>
          </a:p>
        </p:txBody>
      </p:sp>
      <p:grpSp>
        <p:nvGrpSpPr>
          <p:cNvPr id="4" name="Group 3" descr="Diagram showing the difference between forking and cloning. Two git trees are shown in a cloud labeled “Repo” and “User’s repo” with an arrow labeled “Fork” pointing from “Repo” to “User’s repo”. A third git tree is shown below the cloud labeled “Laptop” with an arrow labeled “Clone” pointing from “Repo” in the cloud to “Laptop” below.">
            <a:extLst>
              <a:ext uri="{FF2B5EF4-FFF2-40B4-BE49-F238E27FC236}">
                <a16:creationId xmlns:a16="http://schemas.microsoft.com/office/drawing/2014/main" id="{FB781A86-90D4-F3C5-A627-D0BFBC0AE826}"/>
              </a:ext>
            </a:extLst>
          </p:cNvPr>
          <p:cNvGrpSpPr/>
          <p:nvPr/>
        </p:nvGrpSpPr>
        <p:grpSpPr>
          <a:xfrm>
            <a:off x="5974789" y="1575471"/>
            <a:ext cx="6217211" cy="4601492"/>
            <a:chOff x="5759538" y="1522218"/>
            <a:chExt cx="6217211" cy="4601492"/>
          </a:xfrm>
        </p:grpSpPr>
        <p:pic>
          <p:nvPicPr>
            <p:cNvPr id="5" name="Picture 4" descr="A diagram of a software development process&#10;&#10;Description automatically generated">
              <a:extLst>
                <a:ext uri="{FF2B5EF4-FFF2-40B4-BE49-F238E27FC236}">
                  <a16:creationId xmlns:a16="http://schemas.microsoft.com/office/drawing/2014/main" id="{00C0791A-6620-52B2-48F0-05C47A9366F7}"/>
                </a:ext>
              </a:extLst>
            </p:cNvPr>
            <p:cNvPicPr>
              <a:picLocks noChangeAspect="1"/>
            </p:cNvPicPr>
            <p:nvPr/>
          </p:nvPicPr>
          <p:blipFill rotWithShape="1">
            <a:blip r:embed="rId3"/>
            <a:srcRect l="1040" r="1"/>
            <a:stretch/>
          </p:blipFill>
          <p:spPr>
            <a:xfrm>
              <a:off x="5759538" y="1522218"/>
              <a:ext cx="6217211" cy="4601492"/>
            </a:xfrm>
            <a:prstGeom prst="rect">
              <a:avLst/>
            </a:prstGeom>
          </p:spPr>
        </p:pic>
        <p:sp>
          <p:nvSpPr>
            <p:cNvPr id="7" name="Rectangle 6">
              <a:extLst>
                <a:ext uri="{FF2B5EF4-FFF2-40B4-BE49-F238E27FC236}">
                  <a16:creationId xmlns:a16="http://schemas.microsoft.com/office/drawing/2014/main" id="{6BD3A23A-D280-9FF1-0D82-6CE0DAE22799}"/>
                </a:ext>
              </a:extLst>
            </p:cNvPr>
            <p:cNvSpPr/>
            <p:nvPr/>
          </p:nvSpPr>
          <p:spPr>
            <a:xfrm>
              <a:off x="7598229" y="2423886"/>
              <a:ext cx="522514" cy="188685"/>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b="1" dirty="0">
                  <a:solidFill>
                    <a:srgbClr val="4B90E3"/>
                  </a:solidFill>
                </a:rPr>
                <a:t>main</a:t>
              </a:r>
              <a:endParaRPr lang="en-US" sz="1400" b="1" dirty="0">
                <a:solidFill>
                  <a:srgbClr val="4B90E3"/>
                </a:solidFill>
              </a:endParaRPr>
            </a:p>
          </p:txBody>
        </p:sp>
        <p:sp>
          <p:nvSpPr>
            <p:cNvPr id="9" name="Rectangle 8">
              <a:extLst>
                <a:ext uri="{FF2B5EF4-FFF2-40B4-BE49-F238E27FC236}">
                  <a16:creationId xmlns:a16="http://schemas.microsoft.com/office/drawing/2014/main" id="{440A7F92-400E-6649-19BF-DD7849F6D5CF}"/>
                </a:ext>
              </a:extLst>
            </p:cNvPr>
            <p:cNvSpPr/>
            <p:nvPr/>
          </p:nvSpPr>
          <p:spPr>
            <a:xfrm>
              <a:off x="10255003" y="2431143"/>
              <a:ext cx="522514" cy="188685"/>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b="1" dirty="0">
                  <a:solidFill>
                    <a:srgbClr val="4B90E3"/>
                  </a:solidFill>
                </a:rPr>
                <a:t>main</a:t>
              </a:r>
              <a:endParaRPr lang="en-US" sz="1400" b="1" dirty="0">
                <a:solidFill>
                  <a:srgbClr val="4B90E3"/>
                </a:solidFill>
              </a:endParaRPr>
            </a:p>
          </p:txBody>
        </p:sp>
        <p:sp>
          <p:nvSpPr>
            <p:cNvPr id="10" name="Rectangle 9">
              <a:extLst>
                <a:ext uri="{FF2B5EF4-FFF2-40B4-BE49-F238E27FC236}">
                  <a16:creationId xmlns:a16="http://schemas.microsoft.com/office/drawing/2014/main" id="{64EB0ABD-B862-072E-8CB6-AB1A62FB7435}"/>
                </a:ext>
              </a:extLst>
            </p:cNvPr>
            <p:cNvSpPr/>
            <p:nvPr/>
          </p:nvSpPr>
          <p:spPr>
            <a:xfrm>
              <a:off x="9477829" y="5043714"/>
              <a:ext cx="674914" cy="130629"/>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dirty="0">
                <a:solidFill>
                  <a:schemeClr val="tx1"/>
                </a:solidFill>
              </a:endParaRPr>
            </a:p>
          </p:txBody>
        </p:sp>
        <p:sp>
          <p:nvSpPr>
            <p:cNvPr id="11" name="Rectangle 10">
              <a:extLst>
                <a:ext uri="{FF2B5EF4-FFF2-40B4-BE49-F238E27FC236}">
                  <a16:creationId xmlns:a16="http://schemas.microsoft.com/office/drawing/2014/main" id="{2B7A5643-45CF-996B-0CED-C1C455654D4D}"/>
                </a:ext>
              </a:extLst>
            </p:cNvPr>
            <p:cNvSpPr/>
            <p:nvPr/>
          </p:nvSpPr>
          <p:spPr>
            <a:xfrm>
              <a:off x="9382723" y="5016120"/>
              <a:ext cx="872280" cy="188685"/>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b="1" dirty="0">
                  <a:solidFill>
                    <a:srgbClr val="4B90E3"/>
                  </a:solidFill>
                  <a:highlight>
                    <a:srgbClr val="FFFF00"/>
                  </a:highlight>
                </a:rPr>
                <a:t>origin</a:t>
              </a:r>
              <a:r>
                <a:rPr lang="en-US" sz="900" b="1" dirty="0">
                  <a:solidFill>
                    <a:srgbClr val="4B90E3"/>
                  </a:solidFill>
                </a:rPr>
                <a:t>/main</a:t>
              </a:r>
              <a:endParaRPr lang="en-US" sz="1400" b="1" dirty="0">
                <a:solidFill>
                  <a:srgbClr val="4B90E3"/>
                </a:solidFill>
              </a:endParaRPr>
            </a:p>
          </p:txBody>
        </p:sp>
      </p:grpSp>
    </p:spTree>
    <p:extLst>
      <p:ext uri="{BB962C8B-B14F-4D97-AF65-F5344CB8AC3E}">
        <p14:creationId xmlns:p14="http://schemas.microsoft.com/office/powerpoint/2010/main" val="13686706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CA6EC2E-3E13-36AD-C6C3-6EC783217AC4}"/>
              </a:ext>
            </a:extLst>
          </p:cNvPr>
          <p:cNvSpPr>
            <a:spLocks noGrp="1"/>
          </p:cNvSpPr>
          <p:nvPr>
            <p:ph type="title"/>
          </p:nvPr>
        </p:nvSpPr>
        <p:spPr/>
        <p:txBody>
          <a:bodyPr/>
          <a:lstStyle/>
          <a:p>
            <a:r>
              <a:rPr lang="en-US" dirty="0"/>
              <a:t>Review</a:t>
            </a:r>
          </a:p>
        </p:txBody>
      </p:sp>
      <p:sp>
        <p:nvSpPr>
          <p:cNvPr id="2" name="Content Placeholder 1">
            <a:extLst>
              <a:ext uri="{FF2B5EF4-FFF2-40B4-BE49-F238E27FC236}">
                <a16:creationId xmlns:a16="http://schemas.microsoft.com/office/drawing/2014/main" id="{F4062B53-5ADC-94EF-F356-F42152B40668}"/>
              </a:ext>
            </a:extLst>
          </p:cNvPr>
          <p:cNvSpPr>
            <a:spLocks noGrp="1"/>
          </p:cNvSpPr>
          <p:nvPr>
            <p:ph idx="1"/>
          </p:nvPr>
        </p:nvSpPr>
        <p:spPr>
          <a:xfrm>
            <a:off x="838200" y="1825625"/>
            <a:ext cx="5081643" cy="4351338"/>
          </a:xfrm>
        </p:spPr>
        <p:txBody>
          <a:bodyPr>
            <a:normAutofit fontScale="92500" lnSpcReduction="20000"/>
          </a:bodyPr>
          <a:lstStyle/>
          <a:p>
            <a:r>
              <a:rPr lang="en-US" sz="2400" dirty="0"/>
              <a:t>Branch: Independent development line. The main development line is often called main or master.</a:t>
            </a:r>
          </a:p>
          <a:p>
            <a:r>
              <a:rPr lang="en-US" sz="2400" dirty="0"/>
              <a:t>Cloning: Copying the whole repository to your laptop - the first time. This creates a local copy of the repository.</a:t>
            </a:r>
          </a:p>
          <a:p>
            <a:r>
              <a:rPr lang="en-US" sz="2400" dirty="0"/>
              <a:t>Forking: Taking a copy of a repository (which is typically not yours) into your GitHub/GitLab account - your copy (fork) stays on GitHub/GitLab and you can make changes to your copy.</a:t>
            </a:r>
          </a:p>
          <a:p>
            <a:r>
              <a:rPr lang="en-US" sz="2400" dirty="0"/>
              <a:t>Pull: Bring changes from a remote repository to your local repository.</a:t>
            </a:r>
          </a:p>
          <a:p>
            <a:r>
              <a:rPr lang="en-US" sz="2400" dirty="0"/>
              <a:t>Push: Bring changes from your local repository to the remote repository.</a:t>
            </a:r>
          </a:p>
        </p:txBody>
      </p:sp>
      <p:sp>
        <p:nvSpPr>
          <p:cNvPr id="4" name="TextBox 3">
            <a:extLst>
              <a:ext uri="{FF2B5EF4-FFF2-40B4-BE49-F238E27FC236}">
                <a16:creationId xmlns:a16="http://schemas.microsoft.com/office/drawing/2014/main" id="{10CE91B5-F39F-9CA2-5058-83EB6C7DF2F9}"/>
              </a:ext>
            </a:extLst>
          </p:cNvPr>
          <p:cNvSpPr txBox="1"/>
          <p:nvPr/>
        </p:nvSpPr>
        <p:spPr>
          <a:xfrm>
            <a:off x="3664216" y="6498214"/>
            <a:ext cx="8527784" cy="307777"/>
          </a:xfrm>
          <a:prstGeom prst="rect">
            <a:avLst/>
          </a:prstGeom>
          <a:noFill/>
        </p:spPr>
        <p:txBody>
          <a:bodyPr wrap="none" rtlCol="0">
            <a:spAutoFit/>
          </a:bodyPr>
          <a:lstStyle/>
          <a:p>
            <a:pPr algn="ctr"/>
            <a:r>
              <a:rPr lang="en-US" sz="1400" b="1" dirty="0"/>
              <a:t>Definitions and Figure from Code Refinery: https://</a:t>
            </a:r>
            <a:r>
              <a:rPr lang="en-US" sz="1400" b="1" dirty="0" err="1"/>
              <a:t>coderefinery.github.io</a:t>
            </a:r>
            <a:r>
              <a:rPr lang="en-US" sz="1400" b="1" dirty="0"/>
              <a:t>/git-collaborative/remotes/</a:t>
            </a:r>
          </a:p>
        </p:txBody>
      </p:sp>
      <p:grpSp>
        <p:nvGrpSpPr>
          <p:cNvPr id="11" name="Group 10" descr="Diagram showing the difference between forking and cloning. Two git trees are shown in a cloud labeled “Repo” and “User’s repo” with an arrow labeled “Fork” pointing from “Repo” to “User’s repo”. A third git tree is shown below the cloud labeled “Laptop” with an arrow labeled “Clone” pointing from “Repo” in the cloud to “Laptop” below.">
            <a:extLst>
              <a:ext uri="{FF2B5EF4-FFF2-40B4-BE49-F238E27FC236}">
                <a16:creationId xmlns:a16="http://schemas.microsoft.com/office/drawing/2014/main" id="{3A8FEE5C-17CE-92D1-4AC8-2EB776019B29}"/>
              </a:ext>
            </a:extLst>
          </p:cNvPr>
          <p:cNvGrpSpPr/>
          <p:nvPr/>
        </p:nvGrpSpPr>
        <p:grpSpPr>
          <a:xfrm>
            <a:off x="5919843" y="1522218"/>
            <a:ext cx="6282532" cy="4601492"/>
            <a:chOff x="5694218" y="1522218"/>
            <a:chExt cx="6282532" cy="4601492"/>
          </a:xfrm>
        </p:grpSpPr>
        <p:pic>
          <p:nvPicPr>
            <p:cNvPr id="12" name="Picture 11" descr="A diagram of a software development process&#10;&#10;Description automatically generated">
              <a:extLst>
                <a:ext uri="{FF2B5EF4-FFF2-40B4-BE49-F238E27FC236}">
                  <a16:creationId xmlns:a16="http://schemas.microsoft.com/office/drawing/2014/main" id="{2EBF23EF-999F-9EB8-C692-BC4AD6B0B35E}"/>
                </a:ext>
              </a:extLst>
            </p:cNvPr>
            <p:cNvPicPr>
              <a:picLocks noChangeAspect="1"/>
            </p:cNvPicPr>
            <p:nvPr/>
          </p:nvPicPr>
          <p:blipFill>
            <a:blip r:embed="rId2"/>
            <a:stretch>
              <a:fillRect/>
            </a:stretch>
          </p:blipFill>
          <p:spPr>
            <a:xfrm>
              <a:off x="5694218" y="1522218"/>
              <a:ext cx="6282532" cy="4601492"/>
            </a:xfrm>
            <a:prstGeom prst="rect">
              <a:avLst/>
            </a:prstGeom>
          </p:spPr>
        </p:pic>
        <p:sp>
          <p:nvSpPr>
            <p:cNvPr id="13" name="Rectangle 12">
              <a:extLst>
                <a:ext uri="{FF2B5EF4-FFF2-40B4-BE49-F238E27FC236}">
                  <a16:creationId xmlns:a16="http://schemas.microsoft.com/office/drawing/2014/main" id="{F8F37DDD-4E1A-A1EF-4453-54A4FB4EB00E}"/>
                </a:ext>
              </a:extLst>
            </p:cNvPr>
            <p:cNvSpPr/>
            <p:nvPr/>
          </p:nvSpPr>
          <p:spPr>
            <a:xfrm>
              <a:off x="7598229" y="2423886"/>
              <a:ext cx="522514" cy="188685"/>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b="1" dirty="0">
                  <a:solidFill>
                    <a:srgbClr val="4B90E3"/>
                  </a:solidFill>
                </a:rPr>
                <a:t>main</a:t>
              </a:r>
              <a:endParaRPr lang="en-US" sz="1400" b="1" dirty="0">
                <a:solidFill>
                  <a:srgbClr val="4B90E3"/>
                </a:solidFill>
              </a:endParaRPr>
            </a:p>
          </p:txBody>
        </p:sp>
        <p:sp>
          <p:nvSpPr>
            <p:cNvPr id="14" name="Rectangle 13">
              <a:extLst>
                <a:ext uri="{FF2B5EF4-FFF2-40B4-BE49-F238E27FC236}">
                  <a16:creationId xmlns:a16="http://schemas.microsoft.com/office/drawing/2014/main" id="{9A1D431E-4B73-1B79-BA77-D6E64E54BA20}"/>
                </a:ext>
              </a:extLst>
            </p:cNvPr>
            <p:cNvSpPr/>
            <p:nvPr/>
          </p:nvSpPr>
          <p:spPr>
            <a:xfrm>
              <a:off x="10255003" y="2431143"/>
              <a:ext cx="522514" cy="188685"/>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b="1" dirty="0">
                  <a:solidFill>
                    <a:srgbClr val="4B90E3"/>
                  </a:solidFill>
                </a:rPr>
                <a:t>main</a:t>
              </a:r>
              <a:endParaRPr lang="en-US" sz="1400" b="1" dirty="0">
                <a:solidFill>
                  <a:srgbClr val="4B90E3"/>
                </a:solidFill>
              </a:endParaRPr>
            </a:p>
          </p:txBody>
        </p:sp>
        <p:sp>
          <p:nvSpPr>
            <p:cNvPr id="15" name="Rectangle 14">
              <a:extLst>
                <a:ext uri="{FF2B5EF4-FFF2-40B4-BE49-F238E27FC236}">
                  <a16:creationId xmlns:a16="http://schemas.microsoft.com/office/drawing/2014/main" id="{FEBDF222-2E22-23A7-0429-3A3BDFD4FA6B}"/>
                </a:ext>
              </a:extLst>
            </p:cNvPr>
            <p:cNvSpPr/>
            <p:nvPr/>
          </p:nvSpPr>
          <p:spPr>
            <a:xfrm>
              <a:off x="9477829" y="5043714"/>
              <a:ext cx="674914" cy="130629"/>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dirty="0">
                <a:solidFill>
                  <a:schemeClr val="tx1"/>
                </a:solidFill>
              </a:endParaRPr>
            </a:p>
          </p:txBody>
        </p:sp>
        <p:sp>
          <p:nvSpPr>
            <p:cNvPr id="16" name="Rectangle 15">
              <a:extLst>
                <a:ext uri="{FF2B5EF4-FFF2-40B4-BE49-F238E27FC236}">
                  <a16:creationId xmlns:a16="http://schemas.microsoft.com/office/drawing/2014/main" id="{11F183BB-EA6D-2126-DA3E-D16C92F6F8A4}"/>
                </a:ext>
              </a:extLst>
            </p:cNvPr>
            <p:cNvSpPr/>
            <p:nvPr/>
          </p:nvSpPr>
          <p:spPr>
            <a:xfrm>
              <a:off x="9382723" y="5016120"/>
              <a:ext cx="872280" cy="188685"/>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b="1" dirty="0">
                  <a:solidFill>
                    <a:srgbClr val="4B90E3"/>
                  </a:solidFill>
                  <a:highlight>
                    <a:srgbClr val="FFFF00"/>
                  </a:highlight>
                </a:rPr>
                <a:t>origin</a:t>
              </a:r>
              <a:r>
                <a:rPr lang="en-US" sz="900" b="1" dirty="0">
                  <a:solidFill>
                    <a:srgbClr val="4B90E3"/>
                  </a:solidFill>
                </a:rPr>
                <a:t>/main</a:t>
              </a:r>
              <a:endParaRPr lang="en-US" sz="1400" b="1" dirty="0">
                <a:solidFill>
                  <a:srgbClr val="4B90E3"/>
                </a:solidFill>
              </a:endParaRPr>
            </a:p>
          </p:txBody>
        </p:sp>
      </p:grpSp>
    </p:spTree>
    <p:extLst>
      <p:ext uri="{BB962C8B-B14F-4D97-AF65-F5344CB8AC3E}">
        <p14:creationId xmlns:p14="http://schemas.microsoft.com/office/powerpoint/2010/main" val="39576246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7FAFC1B-C9BB-ACC1-E552-29B6B243352F}"/>
              </a:ext>
            </a:extLst>
          </p:cNvPr>
          <p:cNvSpPr>
            <a:spLocks noGrp="1"/>
          </p:cNvSpPr>
          <p:nvPr>
            <p:ph type="title"/>
          </p:nvPr>
        </p:nvSpPr>
        <p:spPr/>
        <p:txBody>
          <a:bodyPr/>
          <a:lstStyle/>
          <a:p>
            <a:r>
              <a:rPr lang="en-US" dirty="0"/>
              <a:t>Activity (10 mins)</a:t>
            </a:r>
          </a:p>
        </p:txBody>
      </p:sp>
      <p:sp>
        <p:nvSpPr>
          <p:cNvPr id="2" name="Content Placeholder 1">
            <a:extLst>
              <a:ext uri="{FF2B5EF4-FFF2-40B4-BE49-F238E27FC236}">
                <a16:creationId xmlns:a16="http://schemas.microsoft.com/office/drawing/2014/main" id="{2F78D53C-F993-4B76-F84A-485A94244FE2}"/>
              </a:ext>
            </a:extLst>
          </p:cNvPr>
          <p:cNvSpPr>
            <a:spLocks noGrp="1"/>
          </p:cNvSpPr>
          <p:nvPr>
            <p:ph idx="1"/>
          </p:nvPr>
        </p:nvSpPr>
        <p:spPr/>
        <p:txBody>
          <a:bodyPr/>
          <a:lstStyle/>
          <a:p>
            <a:r>
              <a:rPr lang="en-US" dirty="0"/>
              <a:t>We will work in small groups for this module</a:t>
            </a:r>
          </a:p>
          <a:p>
            <a:r>
              <a:rPr lang="en-US" dirty="0"/>
              <a:t>Follow along</a:t>
            </a:r>
          </a:p>
          <a:p>
            <a:r>
              <a:rPr lang="en-US" dirty="0"/>
              <a:t>One person in each group</a:t>
            </a:r>
          </a:p>
          <a:p>
            <a:pPr lvl="1"/>
            <a:r>
              <a:rPr lang="en-US" dirty="0"/>
              <a:t>Create a repository from the template</a:t>
            </a:r>
          </a:p>
          <a:p>
            <a:pPr lvl="2"/>
            <a:r>
              <a:rPr lang="en-US" dirty="0">
                <a:hlinkClick r:id="rId3"/>
              </a:rPr>
              <a:t>https://github.com/INTERSECT-training/intersect-training-practice</a:t>
            </a:r>
            <a:endParaRPr lang="en-US" dirty="0"/>
          </a:p>
          <a:p>
            <a:pPr lvl="2"/>
            <a:r>
              <a:rPr lang="en-US" dirty="0"/>
              <a:t>Use this Template -&gt; Create a New Repository</a:t>
            </a:r>
          </a:p>
          <a:p>
            <a:pPr lvl="1"/>
            <a:r>
              <a:rPr lang="en-US" dirty="0"/>
              <a:t>Give access to each member in your group</a:t>
            </a:r>
          </a:p>
          <a:p>
            <a:r>
              <a:rPr lang="en-US" dirty="0"/>
              <a:t>Everyone</a:t>
            </a:r>
          </a:p>
          <a:p>
            <a:pPr lvl="1"/>
            <a:r>
              <a:rPr lang="en-US" dirty="0"/>
              <a:t>Accept invite to collaborate</a:t>
            </a:r>
          </a:p>
          <a:p>
            <a:pPr lvl="1"/>
            <a:r>
              <a:rPr lang="en-US" dirty="0"/>
              <a:t>Clone the repository to your computer with </a:t>
            </a:r>
            <a:r>
              <a:rPr lang="en-US" dirty="0">
                <a:latin typeface="Consolas" panose="020B0609020204030204" pitchFamily="49" charset="0"/>
                <a:cs typeface="Consolas" panose="020B0609020204030204" pitchFamily="49" charset="0"/>
              </a:rPr>
              <a:t>git clone</a:t>
            </a:r>
          </a:p>
        </p:txBody>
      </p:sp>
    </p:spTree>
    <p:extLst>
      <p:ext uri="{BB962C8B-B14F-4D97-AF65-F5344CB8AC3E}">
        <p14:creationId xmlns:p14="http://schemas.microsoft.com/office/powerpoint/2010/main" val="37946971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166A2FB-4C2F-3A42-201E-72C938362A2E}"/>
              </a:ext>
            </a:extLst>
          </p:cNvPr>
          <p:cNvSpPr>
            <a:spLocks noGrp="1"/>
          </p:cNvSpPr>
          <p:nvPr>
            <p:ph sz="quarter" idx="10"/>
          </p:nvPr>
        </p:nvSpPr>
        <p:spPr>
          <a:xfrm>
            <a:off x="4003965" y="1293094"/>
            <a:ext cx="7547648" cy="4830616"/>
          </a:xfrm>
        </p:spPr>
        <p:txBody>
          <a:bodyPr/>
          <a:lstStyle/>
          <a:p>
            <a:pPr>
              <a:lnSpc>
                <a:spcPct val="200000"/>
              </a:lnSpc>
            </a:pPr>
            <a:r>
              <a:rPr lang="en-US" sz="2800" dirty="0"/>
              <a:t>Introduction</a:t>
            </a:r>
          </a:p>
          <a:p>
            <a:pPr>
              <a:lnSpc>
                <a:spcPct val="200000"/>
              </a:lnSpc>
            </a:pPr>
            <a:r>
              <a:rPr lang="en-US" sz="2800" dirty="0"/>
              <a:t>Branches</a:t>
            </a:r>
          </a:p>
          <a:p>
            <a:pPr>
              <a:lnSpc>
                <a:spcPct val="200000"/>
              </a:lnSpc>
            </a:pPr>
            <a:r>
              <a:rPr lang="en-US" sz="2800" dirty="0"/>
              <a:t>Pull Requests</a:t>
            </a:r>
          </a:p>
          <a:p>
            <a:pPr>
              <a:lnSpc>
                <a:spcPct val="200000"/>
              </a:lnSpc>
            </a:pPr>
            <a:r>
              <a:rPr lang="en-US" sz="2800" dirty="0"/>
              <a:t>Git Workflows</a:t>
            </a:r>
          </a:p>
        </p:txBody>
      </p:sp>
      <p:sp>
        <p:nvSpPr>
          <p:cNvPr id="3" name="Title 2">
            <a:extLst>
              <a:ext uri="{FF2B5EF4-FFF2-40B4-BE49-F238E27FC236}">
                <a16:creationId xmlns:a16="http://schemas.microsoft.com/office/drawing/2014/main" id="{EE6EF526-5DB0-C31B-47BD-9F25AF1D77E3}"/>
              </a:ext>
            </a:extLst>
          </p:cNvPr>
          <p:cNvSpPr>
            <a:spLocks noGrp="1"/>
          </p:cNvSpPr>
          <p:nvPr>
            <p:ph type="title"/>
          </p:nvPr>
        </p:nvSpPr>
        <p:spPr/>
        <p:txBody>
          <a:bodyPr/>
          <a:lstStyle/>
          <a:p>
            <a:r>
              <a:rPr lang="en-US" dirty="0"/>
              <a:t>Outline</a:t>
            </a:r>
          </a:p>
        </p:txBody>
      </p:sp>
      <p:sp>
        <p:nvSpPr>
          <p:cNvPr id="4" name="Right Arrow 3">
            <a:extLst>
              <a:ext uri="{FF2B5EF4-FFF2-40B4-BE49-F238E27FC236}">
                <a16:creationId xmlns:a16="http://schemas.microsoft.com/office/drawing/2014/main" id="{FD29B1BD-2257-4E5A-8784-356FCF9DB0FA}"/>
              </a:ext>
            </a:extLst>
          </p:cNvPr>
          <p:cNvSpPr/>
          <p:nvPr/>
        </p:nvSpPr>
        <p:spPr>
          <a:xfrm>
            <a:off x="2064327" y="2410691"/>
            <a:ext cx="1745672" cy="864679"/>
          </a:xfrm>
          <a:prstGeom prst="rightArrow">
            <a:avLst/>
          </a:prstGeom>
          <a:solidFill>
            <a:srgbClr val="D2DCF2"/>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dirty="0">
              <a:solidFill>
                <a:schemeClr val="tx1"/>
              </a:solidFill>
            </a:endParaRPr>
          </a:p>
        </p:txBody>
      </p:sp>
    </p:spTree>
    <p:extLst>
      <p:ext uri="{BB962C8B-B14F-4D97-AF65-F5344CB8AC3E}">
        <p14:creationId xmlns:p14="http://schemas.microsoft.com/office/powerpoint/2010/main" val="27734256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661FF5B-C193-D8E2-70E4-295ECBDB6E5E}"/>
              </a:ext>
            </a:extLst>
          </p:cNvPr>
          <p:cNvSpPr>
            <a:spLocks noGrp="1"/>
          </p:cNvSpPr>
          <p:nvPr>
            <p:ph type="title"/>
          </p:nvPr>
        </p:nvSpPr>
        <p:spPr/>
        <p:txBody>
          <a:bodyPr/>
          <a:lstStyle/>
          <a:p>
            <a:r>
              <a:rPr lang="en-US" dirty="0"/>
              <a:t>Branches</a:t>
            </a:r>
          </a:p>
        </p:txBody>
      </p:sp>
      <p:sp>
        <p:nvSpPr>
          <p:cNvPr id="2" name="Content Placeholder 1">
            <a:extLst>
              <a:ext uri="{FF2B5EF4-FFF2-40B4-BE49-F238E27FC236}">
                <a16:creationId xmlns:a16="http://schemas.microsoft.com/office/drawing/2014/main" id="{92188157-5A15-612D-22CB-177003E54CB1}"/>
              </a:ext>
            </a:extLst>
          </p:cNvPr>
          <p:cNvSpPr>
            <a:spLocks noGrp="1"/>
          </p:cNvSpPr>
          <p:nvPr>
            <p:ph idx="1"/>
          </p:nvPr>
        </p:nvSpPr>
        <p:spPr>
          <a:xfrm>
            <a:off x="838199" y="1825625"/>
            <a:ext cx="6546295" cy="2033402"/>
          </a:xfrm>
        </p:spPr>
        <p:txBody>
          <a:bodyPr>
            <a:normAutofit fontScale="85000" lnSpcReduction="20000"/>
          </a:bodyPr>
          <a:lstStyle/>
          <a:p>
            <a:r>
              <a:rPr lang="en-US" dirty="0"/>
              <a:t>Independent development lines</a:t>
            </a:r>
          </a:p>
          <a:p>
            <a:r>
              <a:rPr lang="en-US" dirty="0"/>
              <a:t>Different purposes (feature, development, production)</a:t>
            </a:r>
          </a:p>
          <a:p>
            <a:r>
              <a:rPr lang="en-US" dirty="0"/>
              <a:t>Varying lifetimes (short vs long-lived)</a:t>
            </a:r>
          </a:p>
          <a:p>
            <a:r>
              <a:rPr lang="en-US" dirty="0"/>
              <a:t>Commits from one branch can be merged into another</a:t>
            </a:r>
          </a:p>
          <a:p>
            <a:endParaRPr lang="en-US" dirty="0"/>
          </a:p>
        </p:txBody>
      </p:sp>
      <p:grpSp>
        <p:nvGrpSpPr>
          <p:cNvPr id="99" name="Group 98" descr="Graph diagram of nodes/circles and edges/arrows representing repository state. Each horizontal path is a branch. This diagram shows a single path representing a repository with a single main branch.">
            <a:extLst>
              <a:ext uri="{FF2B5EF4-FFF2-40B4-BE49-F238E27FC236}">
                <a16:creationId xmlns:a16="http://schemas.microsoft.com/office/drawing/2014/main" id="{B5AD28E4-51D9-4994-A346-F118DF5CA87C}"/>
              </a:ext>
            </a:extLst>
          </p:cNvPr>
          <p:cNvGrpSpPr/>
          <p:nvPr/>
        </p:nvGrpSpPr>
        <p:grpSpPr>
          <a:xfrm>
            <a:off x="7742751" y="1689772"/>
            <a:ext cx="3529555" cy="1037087"/>
            <a:chOff x="1214438" y="1981469"/>
            <a:chExt cx="3972088" cy="1167116"/>
          </a:xfrm>
        </p:grpSpPr>
        <p:sp>
          <p:nvSpPr>
            <p:cNvPr id="66" name="Oval 65">
              <a:extLst>
                <a:ext uri="{FF2B5EF4-FFF2-40B4-BE49-F238E27FC236}">
                  <a16:creationId xmlns:a16="http://schemas.microsoft.com/office/drawing/2014/main" id="{198B2BA8-F515-5FBC-B469-4E232A093CAD}"/>
                </a:ext>
              </a:extLst>
            </p:cNvPr>
            <p:cNvSpPr/>
            <p:nvPr/>
          </p:nvSpPr>
          <p:spPr>
            <a:xfrm>
              <a:off x="1214438" y="1990024"/>
              <a:ext cx="628650" cy="6286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m1</a:t>
              </a:r>
            </a:p>
          </p:txBody>
        </p:sp>
        <p:sp>
          <p:nvSpPr>
            <p:cNvPr id="67" name="Oval 66">
              <a:extLst>
                <a:ext uri="{FF2B5EF4-FFF2-40B4-BE49-F238E27FC236}">
                  <a16:creationId xmlns:a16="http://schemas.microsoft.com/office/drawing/2014/main" id="{E71F09DA-32BC-A571-BEBF-43CCC5842883}"/>
                </a:ext>
              </a:extLst>
            </p:cNvPr>
            <p:cNvSpPr/>
            <p:nvPr/>
          </p:nvSpPr>
          <p:spPr>
            <a:xfrm>
              <a:off x="2327536" y="1990024"/>
              <a:ext cx="628650" cy="6286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m2</a:t>
              </a:r>
            </a:p>
          </p:txBody>
        </p:sp>
        <p:sp>
          <p:nvSpPr>
            <p:cNvPr id="68" name="Oval 67">
              <a:extLst>
                <a:ext uri="{FF2B5EF4-FFF2-40B4-BE49-F238E27FC236}">
                  <a16:creationId xmlns:a16="http://schemas.microsoft.com/office/drawing/2014/main" id="{3B548B9F-2EAD-D4D2-9381-2C7EFBDA138C}"/>
                </a:ext>
              </a:extLst>
            </p:cNvPr>
            <p:cNvSpPr/>
            <p:nvPr/>
          </p:nvSpPr>
          <p:spPr>
            <a:xfrm>
              <a:off x="3440634" y="1981469"/>
              <a:ext cx="628650" cy="6286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m3</a:t>
              </a:r>
            </a:p>
          </p:txBody>
        </p:sp>
        <p:sp>
          <p:nvSpPr>
            <p:cNvPr id="69" name="Oval 68">
              <a:extLst>
                <a:ext uri="{FF2B5EF4-FFF2-40B4-BE49-F238E27FC236}">
                  <a16:creationId xmlns:a16="http://schemas.microsoft.com/office/drawing/2014/main" id="{77A2180A-A79A-1274-D7C8-096A303D4A7A}"/>
                </a:ext>
              </a:extLst>
            </p:cNvPr>
            <p:cNvSpPr/>
            <p:nvPr/>
          </p:nvSpPr>
          <p:spPr>
            <a:xfrm>
              <a:off x="4557876" y="1981469"/>
              <a:ext cx="628650" cy="6286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m4</a:t>
              </a:r>
            </a:p>
          </p:txBody>
        </p:sp>
        <p:cxnSp>
          <p:nvCxnSpPr>
            <p:cNvPr id="70" name="Straight Arrow Connector 69">
              <a:extLst>
                <a:ext uri="{FF2B5EF4-FFF2-40B4-BE49-F238E27FC236}">
                  <a16:creationId xmlns:a16="http://schemas.microsoft.com/office/drawing/2014/main" id="{255D69D4-9DA2-421D-5AB8-4E0064F70E26}"/>
                </a:ext>
              </a:extLst>
            </p:cNvPr>
            <p:cNvCxnSpPr>
              <a:stCxn id="66" idx="6"/>
              <a:endCxn id="67" idx="2"/>
            </p:cNvCxnSpPr>
            <p:nvPr/>
          </p:nvCxnSpPr>
          <p:spPr>
            <a:xfrm>
              <a:off x="1843088" y="2304349"/>
              <a:ext cx="484448"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71" name="Straight Arrow Connector 70">
              <a:extLst>
                <a:ext uri="{FF2B5EF4-FFF2-40B4-BE49-F238E27FC236}">
                  <a16:creationId xmlns:a16="http://schemas.microsoft.com/office/drawing/2014/main" id="{87E04A3F-4930-CE25-3C79-2CA7ECEFE4EC}"/>
                </a:ext>
              </a:extLst>
            </p:cNvPr>
            <p:cNvCxnSpPr>
              <a:cxnSpLocks/>
              <a:stCxn id="67" idx="6"/>
              <a:endCxn id="68" idx="2"/>
            </p:cNvCxnSpPr>
            <p:nvPr/>
          </p:nvCxnSpPr>
          <p:spPr>
            <a:xfrm flipV="1">
              <a:off x="2956186" y="2295794"/>
              <a:ext cx="484448" cy="8555"/>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72" name="Straight Arrow Connector 71">
              <a:extLst>
                <a:ext uri="{FF2B5EF4-FFF2-40B4-BE49-F238E27FC236}">
                  <a16:creationId xmlns:a16="http://schemas.microsoft.com/office/drawing/2014/main" id="{4B4BAD75-51B7-00C8-4934-ED6E2831FCC5}"/>
                </a:ext>
              </a:extLst>
            </p:cNvPr>
            <p:cNvCxnSpPr>
              <a:cxnSpLocks/>
              <a:stCxn id="68" idx="6"/>
              <a:endCxn id="69" idx="2"/>
            </p:cNvCxnSpPr>
            <p:nvPr/>
          </p:nvCxnSpPr>
          <p:spPr>
            <a:xfrm>
              <a:off x="4069284" y="2295794"/>
              <a:ext cx="488592"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73" name="TextBox 72">
              <a:extLst>
                <a:ext uri="{FF2B5EF4-FFF2-40B4-BE49-F238E27FC236}">
                  <a16:creationId xmlns:a16="http://schemas.microsoft.com/office/drawing/2014/main" id="{C481B2BE-870F-D160-60C3-EF6092C84B94}"/>
                </a:ext>
              </a:extLst>
            </p:cNvPr>
            <p:cNvSpPr txBox="1"/>
            <p:nvPr/>
          </p:nvSpPr>
          <p:spPr>
            <a:xfrm>
              <a:off x="1439913" y="2767583"/>
              <a:ext cx="2719642" cy="381002"/>
            </a:xfrm>
            <a:prstGeom prst="rect">
              <a:avLst/>
            </a:prstGeom>
            <a:noFill/>
          </p:spPr>
          <p:txBody>
            <a:bodyPr wrap="square" rtlCol="0">
              <a:spAutoFit/>
            </a:bodyPr>
            <a:lstStyle/>
            <a:p>
              <a:pPr algn="ctr"/>
              <a:r>
                <a:rPr lang="en-US" sz="1600" dirty="0"/>
                <a:t>Main Branch Only</a:t>
              </a:r>
            </a:p>
          </p:txBody>
        </p:sp>
      </p:grpSp>
      <p:grpSp>
        <p:nvGrpSpPr>
          <p:cNvPr id="98" name="Group 97" descr="Graph diagram of nodes/circles and edges/arrows representing repository state. Each horizontal path is a branch. This diagram shows a repository with two branches, a main and a feature branch.">
            <a:extLst>
              <a:ext uri="{FF2B5EF4-FFF2-40B4-BE49-F238E27FC236}">
                <a16:creationId xmlns:a16="http://schemas.microsoft.com/office/drawing/2014/main" id="{7C5E02FB-17FD-0871-ED8C-255242225E4C}"/>
              </a:ext>
            </a:extLst>
          </p:cNvPr>
          <p:cNvGrpSpPr/>
          <p:nvPr/>
        </p:nvGrpSpPr>
        <p:grpSpPr>
          <a:xfrm>
            <a:off x="1158466" y="3941549"/>
            <a:ext cx="4516463" cy="2083584"/>
            <a:chOff x="732445" y="3773043"/>
            <a:chExt cx="5082731" cy="2344821"/>
          </a:xfrm>
        </p:grpSpPr>
        <p:sp>
          <p:nvSpPr>
            <p:cNvPr id="53" name="Oval 52">
              <a:extLst>
                <a:ext uri="{FF2B5EF4-FFF2-40B4-BE49-F238E27FC236}">
                  <a16:creationId xmlns:a16="http://schemas.microsoft.com/office/drawing/2014/main" id="{127C9008-6A6F-8BCB-9302-4A3FC32AA2DD}"/>
                </a:ext>
              </a:extLst>
            </p:cNvPr>
            <p:cNvSpPr/>
            <p:nvPr/>
          </p:nvSpPr>
          <p:spPr>
            <a:xfrm>
              <a:off x="732445" y="4901756"/>
              <a:ext cx="628650" cy="6286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m1</a:t>
              </a:r>
            </a:p>
          </p:txBody>
        </p:sp>
        <p:sp>
          <p:nvSpPr>
            <p:cNvPr id="54" name="Oval 53">
              <a:extLst>
                <a:ext uri="{FF2B5EF4-FFF2-40B4-BE49-F238E27FC236}">
                  <a16:creationId xmlns:a16="http://schemas.microsoft.com/office/drawing/2014/main" id="{E2A1FA06-9ACB-C5FA-A8C3-E18484535952}"/>
                </a:ext>
              </a:extLst>
            </p:cNvPr>
            <p:cNvSpPr/>
            <p:nvPr/>
          </p:nvSpPr>
          <p:spPr>
            <a:xfrm>
              <a:off x="1845543" y="4901756"/>
              <a:ext cx="628650" cy="6286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m2</a:t>
              </a:r>
            </a:p>
          </p:txBody>
        </p:sp>
        <p:sp>
          <p:nvSpPr>
            <p:cNvPr id="55" name="Oval 54">
              <a:extLst>
                <a:ext uri="{FF2B5EF4-FFF2-40B4-BE49-F238E27FC236}">
                  <a16:creationId xmlns:a16="http://schemas.microsoft.com/office/drawing/2014/main" id="{510BC5E1-4EE8-C5EB-B674-950AEFA6EBF9}"/>
                </a:ext>
              </a:extLst>
            </p:cNvPr>
            <p:cNvSpPr/>
            <p:nvPr/>
          </p:nvSpPr>
          <p:spPr>
            <a:xfrm>
              <a:off x="3442425" y="4901756"/>
              <a:ext cx="628650" cy="6286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m3</a:t>
              </a:r>
            </a:p>
          </p:txBody>
        </p:sp>
        <p:sp>
          <p:nvSpPr>
            <p:cNvPr id="56" name="Oval 55">
              <a:extLst>
                <a:ext uri="{FF2B5EF4-FFF2-40B4-BE49-F238E27FC236}">
                  <a16:creationId xmlns:a16="http://schemas.microsoft.com/office/drawing/2014/main" id="{E5A9807C-E17C-6163-22EE-22582DBCB4FF}"/>
                </a:ext>
              </a:extLst>
            </p:cNvPr>
            <p:cNvSpPr/>
            <p:nvPr/>
          </p:nvSpPr>
          <p:spPr>
            <a:xfrm>
              <a:off x="2958641" y="3773043"/>
              <a:ext cx="628650" cy="62865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1200" dirty="0"/>
                <a:t>f1</a:t>
              </a:r>
            </a:p>
          </p:txBody>
        </p:sp>
        <p:sp>
          <p:nvSpPr>
            <p:cNvPr id="57" name="Oval 56">
              <a:extLst>
                <a:ext uri="{FF2B5EF4-FFF2-40B4-BE49-F238E27FC236}">
                  <a16:creationId xmlns:a16="http://schemas.microsoft.com/office/drawing/2014/main" id="{78E1F8C5-6303-03F6-B0B5-6C4C72642471}"/>
                </a:ext>
              </a:extLst>
            </p:cNvPr>
            <p:cNvSpPr/>
            <p:nvPr/>
          </p:nvSpPr>
          <p:spPr>
            <a:xfrm>
              <a:off x="4013866" y="3773043"/>
              <a:ext cx="628650" cy="62865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1200" dirty="0"/>
                <a:t>f2</a:t>
              </a:r>
            </a:p>
          </p:txBody>
        </p:sp>
        <p:sp>
          <p:nvSpPr>
            <p:cNvPr id="58" name="Oval 57">
              <a:extLst>
                <a:ext uri="{FF2B5EF4-FFF2-40B4-BE49-F238E27FC236}">
                  <a16:creationId xmlns:a16="http://schemas.microsoft.com/office/drawing/2014/main" id="{7AE1745A-353F-CC1F-B2CA-3F73E67B05FD}"/>
                </a:ext>
              </a:extLst>
            </p:cNvPr>
            <p:cNvSpPr/>
            <p:nvPr/>
          </p:nvSpPr>
          <p:spPr>
            <a:xfrm>
              <a:off x="5069091" y="3773043"/>
              <a:ext cx="628650" cy="62865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1200" dirty="0"/>
                <a:t>f3</a:t>
              </a:r>
            </a:p>
          </p:txBody>
        </p:sp>
        <p:sp>
          <p:nvSpPr>
            <p:cNvPr id="59" name="Oval 58">
              <a:extLst>
                <a:ext uri="{FF2B5EF4-FFF2-40B4-BE49-F238E27FC236}">
                  <a16:creationId xmlns:a16="http://schemas.microsoft.com/office/drawing/2014/main" id="{66A53CE9-F638-2D95-D780-A456E057C517}"/>
                </a:ext>
              </a:extLst>
            </p:cNvPr>
            <p:cNvSpPr/>
            <p:nvPr/>
          </p:nvSpPr>
          <p:spPr>
            <a:xfrm>
              <a:off x="5186526" y="4901756"/>
              <a:ext cx="628650" cy="6286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m4</a:t>
              </a:r>
            </a:p>
          </p:txBody>
        </p:sp>
        <p:cxnSp>
          <p:nvCxnSpPr>
            <p:cNvPr id="60" name="Straight Arrow Connector 59">
              <a:extLst>
                <a:ext uri="{FF2B5EF4-FFF2-40B4-BE49-F238E27FC236}">
                  <a16:creationId xmlns:a16="http://schemas.microsoft.com/office/drawing/2014/main" id="{615ABEEF-C78D-5994-E041-B9F8C71DEFAB}"/>
                </a:ext>
              </a:extLst>
            </p:cNvPr>
            <p:cNvCxnSpPr>
              <a:cxnSpLocks/>
              <a:stCxn id="53" idx="6"/>
              <a:endCxn id="54" idx="2"/>
            </p:cNvCxnSpPr>
            <p:nvPr/>
          </p:nvCxnSpPr>
          <p:spPr>
            <a:xfrm>
              <a:off x="1361095" y="5216081"/>
              <a:ext cx="484448"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61" name="Straight Arrow Connector 60">
              <a:extLst>
                <a:ext uri="{FF2B5EF4-FFF2-40B4-BE49-F238E27FC236}">
                  <a16:creationId xmlns:a16="http://schemas.microsoft.com/office/drawing/2014/main" id="{5B76B4F1-4F86-CD7A-8EEA-071D1E87EA9F}"/>
                </a:ext>
              </a:extLst>
            </p:cNvPr>
            <p:cNvCxnSpPr>
              <a:cxnSpLocks/>
              <a:stCxn id="54" idx="6"/>
              <a:endCxn id="55" idx="2"/>
            </p:cNvCxnSpPr>
            <p:nvPr/>
          </p:nvCxnSpPr>
          <p:spPr>
            <a:xfrm>
              <a:off x="2474193" y="5216081"/>
              <a:ext cx="968232"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62" name="Straight Arrow Connector 61">
              <a:extLst>
                <a:ext uri="{FF2B5EF4-FFF2-40B4-BE49-F238E27FC236}">
                  <a16:creationId xmlns:a16="http://schemas.microsoft.com/office/drawing/2014/main" id="{E1B6E56B-7D75-BE77-DE54-CA4CF9F3F46E}"/>
                </a:ext>
              </a:extLst>
            </p:cNvPr>
            <p:cNvCxnSpPr>
              <a:cxnSpLocks/>
              <a:stCxn id="55" idx="6"/>
              <a:endCxn id="59" idx="2"/>
            </p:cNvCxnSpPr>
            <p:nvPr/>
          </p:nvCxnSpPr>
          <p:spPr>
            <a:xfrm>
              <a:off x="4071075" y="5216081"/>
              <a:ext cx="1115451"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63" name="Elbow Connector 62">
              <a:extLst>
                <a:ext uri="{FF2B5EF4-FFF2-40B4-BE49-F238E27FC236}">
                  <a16:creationId xmlns:a16="http://schemas.microsoft.com/office/drawing/2014/main" id="{A947FD0A-8072-D039-269E-D2E42A578052}"/>
                </a:ext>
              </a:extLst>
            </p:cNvPr>
            <p:cNvCxnSpPr>
              <a:cxnSpLocks/>
              <a:stCxn id="54" idx="0"/>
              <a:endCxn id="56" idx="2"/>
            </p:cNvCxnSpPr>
            <p:nvPr/>
          </p:nvCxnSpPr>
          <p:spPr>
            <a:xfrm rot="5400000" flipH="1" flipV="1">
              <a:off x="2152060" y="4095176"/>
              <a:ext cx="814388" cy="798773"/>
            </a:xfrm>
            <a:prstGeom prst="bentConnector2">
              <a:avLst/>
            </a:prstGeom>
            <a:ln w="38100">
              <a:tailEnd type="triangle"/>
            </a:ln>
          </p:spPr>
          <p:style>
            <a:lnRef idx="3">
              <a:schemeClr val="accent4"/>
            </a:lnRef>
            <a:fillRef idx="0">
              <a:schemeClr val="accent4"/>
            </a:fillRef>
            <a:effectRef idx="2">
              <a:schemeClr val="accent4"/>
            </a:effectRef>
            <a:fontRef idx="minor">
              <a:schemeClr val="tx1"/>
            </a:fontRef>
          </p:style>
        </p:cxnSp>
        <p:cxnSp>
          <p:nvCxnSpPr>
            <p:cNvPr id="64" name="Straight Arrow Connector 63">
              <a:extLst>
                <a:ext uri="{FF2B5EF4-FFF2-40B4-BE49-F238E27FC236}">
                  <a16:creationId xmlns:a16="http://schemas.microsoft.com/office/drawing/2014/main" id="{BC6B35C7-4C96-E055-518E-9FADA3A55D68}"/>
                </a:ext>
              </a:extLst>
            </p:cNvPr>
            <p:cNvCxnSpPr>
              <a:cxnSpLocks/>
              <a:stCxn id="56" idx="6"/>
              <a:endCxn id="57" idx="2"/>
            </p:cNvCxnSpPr>
            <p:nvPr/>
          </p:nvCxnSpPr>
          <p:spPr>
            <a:xfrm>
              <a:off x="3587291" y="4087368"/>
              <a:ext cx="426575" cy="0"/>
            </a:xfrm>
            <a:prstGeom prst="straightConnector1">
              <a:avLst/>
            </a:prstGeom>
            <a:ln w="38100">
              <a:tailEnd type="triangle"/>
            </a:ln>
          </p:spPr>
          <p:style>
            <a:lnRef idx="3">
              <a:schemeClr val="accent4"/>
            </a:lnRef>
            <a:fillRef idx="0">
              <a:schemeClr val="accent4"/>
            </a:fillRef>
            <a:effectRef idx="2">
              <a:schemeClr val="accent4"/>
            </a:effectRef>
            <a:fontRef idx="minor">
              <a:schemeClr val="tx1"/>
            </a:fontRef>
          </p:style>
        </p:cxnSp>
        <p:cxnSp>
          <p:nvCxnSpPr>
            <p:cNvPr id="65" name="Straight Arrow Connector 64">
              <a:extLst>
                <a:ext uri="{FF2B5EF4-FFF2-40B4-BE49-F238E27FC236}">
                  <a16:creationId xmlns:a16="http://schemas.microsoft.com/office/drawing/2014/main" id="{BB40FE5A-40B7-929A-A9F9-0B2549252C82}"/>
                </a:ext>
              </a:extLst>
            </p:cNvPr>
            <p:cNvCxnSpPr>
              <a:cxnSpLocks/>
              <a:stCxn id="57" idx="6"/>
              <a:endCxn id="58" idx="2"/>
            </p:cNvCxnSpPr>
            <p:nvPr/>
          </p:nvCxnSpPr>
          <p:spPr>
            <a:xfrm>
              <a:off x="4642516" y="4087368"/>
              <a:ext cx="426575" cy="0"/>
            </a:xfrm>
            <a:prstGeom prst="straightConnector1">
              <a:avLst/>
            </a:prstGeom>
            <a:ln w="38100">
              <a:tailEnd type="triangle"/>
            </a:ln>
          </p:spPr>
          <p:style>
            <a:lnRef idx="3">
              <a:schemeClr val="accent4"/>
            </a:lnRef>
            <a:fillRef idx="0">
              <a:schemeClr val="accent4"/>
            </a:fillRef>
            <a:effectRef idx="2">
              <a:schemeClr val="accent4"/>
            </a:effectRef>
            <a:fontRef idx="minor">
              <a:schemeClr val="tx1"/>
            </a:fontRef>
          </p:style>
        </p:cxnSp>
        <p:sp>
          <p:nvSpPr>
            <p:cNvPr id="74" name="TextBox 73">
              <a:extLst>
                <a:ext uri="{FF2B5EF4-FFF2-40B4-BE49-F238E27FC236}">
                  <a16:creationId xmlns:a16="http://schemas.microsoft.com/office/drawing/2014/main" id="{BCC97A3B-7AB3-CAB6-4485-3673FDF4CE0C}"/>
                </a:ext>
              </a:extLst>
            </p:cNvPr>
            <p:cNvSpPr txBox="1"/>
            <p:nvPr/>
          </p:nvSpPr>
          <p:spPr>
            <a:xfrm>
              <a:off x="1135621" y="5736863"/>
              <a:ext cx="4437784" cy="381001"/>
            </a:xfrm>
            <a:prstGeom prst="rect">
              <a:avLst/>
            </a:prstGeom>
            <a:noFill/>
          </p:spPr>
          <p:txBody>
            <a:bodyPr wrap="square" rtlCol="0">
              <a:spAutoFit/>
            </a:bodyPr>
            <a:lstStyle/>
            <a:p>
              <a:pPr algn="ctr"/>
              <a:r>
                <a:rPr lang="en-US" sz="1600" dirty="0"/>
                <a:t>Main Branch with Feature Branch</a:t>
              </a:r>
            </a:p>
          </p:txBody>
        </p:sp>
      </p:grpSp>
      <p:grpSp>
        <p:nvGrpSpPr>
          <p:cNvPr id="95" name="Group 94" descr="Graph diagram of nodes/circles and edges/arrows representing repository state. Each horizontal path is a branch. This diagram shows a repository with three branches, a main branch and two feature branches.">
            <a:extLst>
              <a:ext uri="{FF2B5EF4-FFF2-40B4-BE49-F238E27FC236}">
                <a16:creationId xmlns:a16="http://schemas.microsoft.com/office/drawing/2014/main" id="{759CC459-DEBC-14F3-C7F6-05691B584316}"/>
              </a:ext>
            </a:extLst>
          </p:cNvPr>
          <p:cNvGrpSpPr/>
          <p:nvPr/>
        </p:nvGrpSpPr>
        <p:grpSpPr>
          <a:xfrm>
            <a:off x="7035150" y="3300415"/>
            <a:ext cx="4516462" cy="2848071"/>
            <a:chOff x="5815176" y="1671637"/>
            <a:chExt cx="5082731" cy="3205159"/>
          </a:xfrm>
        </p:grpSpPr>
        <p:sp>
          <p:nvSpPr>
            <p:cNvPr id="75" name="Oval 74">
              <a:extLst>
                <a:ext uri="{FF2B5EF4-FFF2-40B4-BE49-F238E27FC236}">
                  <a16:creationId xmlns:a16="http://schemas.microsoft.com/office/drawing/2014/main" id="{14FF4BE3-7C4F-75A6-B053-B08D88C845BB}"/>
                </a:ext>
              </a:extLst>
            </p:cNvPr>
            <p:cNvSpPr/>
            <p:nvPr/>
          </p:nvSpPr>
          <p:spPr>
            <a:xfrm>
              <a:off x="5815176" y="2800350"/>
              <a:ext cx="628650" cy="6286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m1</a:t>
              </a:r>
            </a:p>
          </p:txBody>
        </p:sp>
        <p:sp>
          <p:nvSpPr>
            <p:cNvPr id="76" name="Oval 75">
              <a:extLst>
                <a:ext uri="{FF2B5EF4-FFF2-40B4-BE49-F238E27FC236}">
                  <a16:creationId xmlns:a16="http://schemas.microsoft.com/office/drawing/2014/main" id="{793688D8-4163-F16C-5233-0CA22F5DEB3A}"/>
                </a:ext>
              </a:extLst>
            </p:cNvPr>
            <p:cNvSpPr/>
            <p:nvPr/>
          </p:nvSpPr>
          <p:spPr>
            <a:xfrm>
              <a:off x="6928274" y="2800350"/>
              <a:ext cx="628650" cy="6286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m2</a:t>
              </a:r>
            </a:p>
          </p:txBody>
        </p:sp>
        <p:sp>
          <p:nvSpPr>
            <p:cNvPr id="77" name="Oval 76">
              <a:extLst>
                <a:ext uri="{FF2B5EF4-FFF2-40B4-BE49-F238E27FC236}">
                  <a16:creationId xmlns:a16="http://schemas.microsoft.com/office/drawing/2014/main" id="{323E14B3-33D8-57E7-47AB-1EADB58AAADD}"/>
                </a:ext>
              </a:extLst>
            </p:cNvPr>
            <p:cNvSpPr/>
            <p:nvPr/>
          </p:nvSpPr>
          <p:spPr>
            <a:xfrm>
              <a:off x="8525156" y="2800350"/>
              <a:ext cx="628650" cy="6286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m3</a:t>
              </a:r>
            </a:p>
          </p:txBody>
        </p:sp>
        <p:sp>
          <p:nvSpPr>
            <p:cNvPr id="78" name="Oval 77">
              <a:extLst>
                <a:ext uri="{FF2B5EF4-FFF2-40B4-BE49-F238E27FC236}">
                  <a16:creationId xmlns:a16="http://schemas.microsoft.com/office/drawing/2014/main" id="{514632DB-F29F-DA05-01E1-8EBD4BC0370C}"/>
                </a:ext>
              </a:extLst>
            </p:cNvPr>
            <p:cNvSpPr/>
            <p:nvPr/>
          </p:nvSpPr>
          <p:spPr>
            <a:xfrm>
              <a:off x="8041372" y="1671637"/>
              <a:ext cx="628650" cy="62865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1200" dirty="0"/>
                <a:t>f1</a:t>
              </a:r>
            </a:p>
          </p:txBody>
        </p:sp>
        <p:sp>
          <p:nvSpPr>
            <p:cNvPr id="79" name="Oval 78">
              <a:extLst>
                <a:ext uri="{FF2B5EF4-FFF2-40B4-BE49-F238E27FC236}">
                  <a16:creationId xmlns:a16="http://schemas.microsoft.com/office/drawing/2014/main" id="{87BB8A0B-9F65-182D-6A92-801BAD520B4B}"/>
                </a:ext>
              </a:extLst>
            </p:cNvPr>
            <p:cNvSpPr/>
            <p:nvPr/>
          </p:nvSpPr>
          <p:spPr>
            <a:xfrm>
              <a:off x="9096597" y="1671637"/>
              <a:ext cx="628650" cy="62865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1200" dirty="0"/>
                <a:t>f2</a:t>
              </a:r>
            </a:p>
          </p:txBody>
        </p:sp>
        <p:sp>
          <p:nvSpPr>
            <p:cNvPr id="80" name="Oval 79">
              <a:extLst>
                <a:ext uri="{FF2B5EF4-FFF2-40B4-BE49-F238E27FC236}">
                  <a16:creationId xmlns:a16="http://schemas.microsoft.com/office/drawing/2014/main" id="{56A659C3-9596-1EF7-89E1-9BB4AC02F944}"/>
                </a:ext>
              </a:extLst>
            </p:cNvPr>
            <p:cNvSpPr/>
            <p:nvPr/>
          </p:nvSpPr>
          <p:spPr>
            <a:xfrm>
              <a:off x="10151822" y="1671637"/>
              <a:ext cx="628650" cy="62865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1200" dirty="0"/>
                <a:t>f3</a:t>
              </a:r>
            </a:p>
          </p:txBody>
        </p:sp>
        <p:sp>
          <p:nvSpPr>
            <p:cNvPr id="81" name="Oval 80">
              <a:extLst>
                <a:ext uri="{FF2B5EF4-FFF2-40B4-BE49-F238E27FC236}">
                  <a16:creationId xmlns:a16="http://schemas.microsoft.com/office/drawing/2014/main" id="{F5501080-E8CA-EE9F-8C38-A9E84F592683}"/>
                </a:ext>
              </a:extLst>
            </p:cNvPr>
            <p:cNvSpPr/>
            <p:nvPr/>
          </p:nvSpPr>
          <p:spPr>
            <a:xfrm>
              <a:off x="10269257" y="2800350"/>
              <a:ext cx="628650" cy="6286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m4</a:t>
              </a:r>
            </a:p>
          </p:txBody>
        </p:sp>
        <p:cxnSp>
          <p:nvCxnSpPr>
            <p:cNvPr id="82" name="Straight Arrow Connector 81">
              <a:extLst>
                <a:ext uri="{FF2B5EF4-FFF2-40B4-BE49-F238E27FC236}">
                  <a16:creationId xmlns:a16="http://schemas.microsoft.com/office/drawing/2014/main" id="{554AB618-094F-B194-6CFC-1377F2A8AE56}"/>
                </a:ext>
              </a:extLst>
            </p:cNvPr>
            <p:cNvCxnSpPr>
              <a:cxnSpLocks/>
              <a:stCxn id="75" idx="6"/>
              <a:endCxn id="76" idx="2"/>
            </p:cNvCxnSpPr>
            <p:nvPr/>
          </p:nvCxnSpPr>
          <p:spPr>
            <a:xfrm>
              <a:off x="6443826" y="3114675"/>
              <a:ext cx="484448"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83" name="Straight Arrow Connector 82">
              <a:extLst>
                <a:ext uri="{FF2B5EF4-FFF2-40B4-BE49-F238E27FC236}">
                  <a16:creationId xmlns:a16="http://schemas.microsoft.com/office/drawing/2014/main" id="{F8BDD762-D242-DAB0-0FCA-D62C08955C1C}"/>
                </a:ext>
              </a:extLst>
            </p:cNvPr>
            <p:cNvCxnSpPr>
              <a:cxnSpLocks/>
              <a:stCxn id="76" idx="6"/>
              <a:endCxn id="77" idx="2"/>
            </p:cNvCxnSpPr>
            <p:nvPr/>
          </p:nvCxnSpPr>
          <p:spPr>
            <a:xfrm>
              <a:off x="7556924" y="3114675"/>
              <a:ext cx="968232"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84" name="Straight Arrow Connector 83">
              <a:extLst>
                <a:ext uri="{FF2B5EF4-FFF2-40B4-BE49-F238E27FC236}">
                  <a16:creationId xmlns:a16="http://schemas.microsoft.com/office/drawing/2014/main" id="{D37921B5-00A2-F955-0916-88149AF9788A}"/>
                </a:ext>
              </a:extLst>
            </p:cNvPr>
            <p:cNvCxnSpPr>
              <a:cxnSpLocks/>
              <a:stCxn id="77" idx="6"/>
              <a:endCxn id="81" idx="2"/>
            </p:cNvCxnSpPr>
            <p:nvPr/>
          </p:nvCxnSpPr>
          <p:spPr>
            <a:xfrm>
              <a:off x="9153806" y="3114675"/>
              <a:ext cx="1115451"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85" name="Elbow Connector 84">
              <a:extLst>
                <a:ext uri="{FF2B5EF4-FFF2-40B4-BE49-F238E27FC236}">
                  <a16:creationId xmlns:a16="http://schemas.microsoft.com/office/drawing/2014/main" id="{84039D86-9DCA-140E-917E-51144C36BBF6}"/>
                </a:ext>
              </a:extLst>
            </p:cNvPr>
            <p:cNvCxnSpPr>
              <a:cxnSpLocks/>
              <a:stCxn id="76" idx="0"/>
              <a:endCxn id="78" idx="2"/>
            </p:cNvCxnSpPr>
            <p:nvPr/>
          </p:nvCxnSpPr>
          <p:spPr>
            <a:xfrm rot="5400000" flipH="1" flipV="1">
              <a:off x="7234791" y="1993770"/>
              <a:ext cx="814388" cy="798773"/>
            </a:xfrm>
            <a:prstGeom prst="bentConnector2">
              <a:avLst/>
            </a:prstGeom>
            <a:ln w="38100">
              <a:tailEnd type="triangle"/>
            </a:ln>
          </p:spPr>
          <p:style>
            <a:lnRef idx="3">
              <a:schemeClr val="accent4"/>
            </a:lnRef>
            <a:fillRef idx="0">
              <a:schemeClr val="accent4"/>
            </a:fillRef>
            <a:effectRef idx="2">
              <a:schemeClr val="accent4"/>
            </a:effectRef>
            <a:fontRef idx="minor">
              <a:schemeClr val="tx1"/>
            </a:fontRef>
          </p:style>
        </p:cxnSp>
        <p:cxnSp>
          <p:nvCxnSpPr>
            <p:cNvPr id="86" name="Straight Arrow Connector 85">
              <a:extLst>
                <a:ext uri="{FF2B5EF4-FFF2-40B4-BE49-F238E27FC236}">
                  <a16:creationId xmlns:a16="http://schemas.microsoft.com/office/drawing/2014/main" id="{6849C91A-31B1-AB05-0CBC-AC9CE4F1CE04}"/>
                </a:ext>
              </a:extLst>
            </p:cNvPr>
            <p:cNvCxnSpPr>
              <a:cxnSpLocks/>
              <a:stCxn id="78" idx="6"/>
              <a:endCxn id="79" idx="2"/>
            </p:cNvCxnSpPr>
            <p:nvPr/>
          </p:nvCxnSpPr>
          <p:spPr>
            <a:xfrm>
              <a:off x="8670022" y="1985962"/>
              <a:ext cx="426575" cy="0"/>
            </a:xfrm>
            <a:prstGeom prst="straightConnector1">
              <a:avLst/>
            </a:prstGeom>
            <a:ln w="38100">
              <a:tailEnd type="triangle"/>
            </a:ln>
          </p:spPr>
          <p:style>
            <a:lnRef idx="3">
              <a:schemeClr val="accent4"/>
            </a:lnRef>
            <a:fillRef idx="0">
              <a:schemeClr val="accent4"/>
            </a:fillRef>
            <a:effectRef idx="2">
              <a:schemeClr val="accent4"/>
            </a:effectRef>
            <a:fontRef idx="minor">
              <a:schemeClr val="tx1"/>
            </a:fontRef>
          </p:style>
        </p:cxnSp>
        <p:cxnSp>
          <p:nvCxnSpPr>
            <p:cNvPr id="87" name="Straight Arrow Connector 86">
              <a:extLst>
                <a:ext uri="{FF2B5EF4-FFF2-40B4-BE49-F238E27FC236}">
                  <a16:creationId xmlns:a16="http://schemas.microsoft.com/office/drawing/2014/main" id="{9D1E86E2-BEC9-5E57-A0D7-F30E2BD219FC}"/>
                </a:ext>
              </a:extLst>
            </p:cNvPr>
            <p:cNvCxnSpPr>
              <a:cxnSpLocks/>
              <a:stCxn id="79" idx="6"/>
              <a:endCxn id="80" idx="2"/>
            </p:cNvCxnSpPr>
            <p:nvPr/>
          </p:nvCxnSpPr>
          <p:spPr>
            <a:xfrm>
              <a:off x="9725247" y="1985962"/>
              <a:ext cx="426575" cy="0"/>
            </a:xfrm>
            <a:prstGeom prst="straightConnector1">
              <a:avLst/>
            </a:prstGeom>
            <a:ln w="38100">
              <a:tailEnd type="triangle"/>
            </a:ln>
          </p:spPr>
          <p:style>
            <a:lnRef idx="3">
              <a:schemeClr val="accent4"/>
            </a:lnRef>
            <a:fillRef idx="0">
              <a:schemeClr val="accent4"/>
            </a:fillRef>
            <a:effectRef idx="2">
              <a:schemeClr val="accent4"/>
            </a:effectRef>
            <a:fontRef idx="minor">
              <a:schemeClr val="tx1"/>
            </a:fontRef>
          </p:style>
        </p:cxnSp>
        <p:sp>
          <p:nvSpPr>
            <p:cNvPr id="88" name="Oval 87">
              <a:extLst>
                <a:ext uri="{FF2B5EF4-FFF2-40B4-BE49-F238E27FC236}">
                  <a16:creationId xmlns:a16="http://schemas.microsoft.com/office/drawing/2014/main" id="{DA543410-5323-A25C-AECF-E2E17EB7AC14}"/>
                </a:ext>
              </a:extLst>
            </p:cNvPr>
            <p:cNvSpPr/>
            <p:nvPr/>
          </p:nvSpPr>
          <p:spPr>
            <a:xfrm>
              <a:off x="8041372" y="3743325"/>
              <a:ext cx="628650" cy="62865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1200" dirty="0"/>
                <a:t>g1</a:t>
              </a:r>
            </a:p>
          </p:txBody>
        </p:sp>
        <p:sp>
          <p:nvSpPr>
            <p:cNvPr id="89" name="Oval 88">
              <a:extLst>
                <a:ext uri="{FF2B5EF4-FFF2-40B4-BE49-F238E27FC236}">
                  <a16:creationId xmlns:a16="http://schemas.microsoft.com/office/drawing/2014/main" id="{DEEB8F5B-8466-6D65-BC6B-DDC36CCE50E6}"/>
                </a:ext>
              </a:extLst>
            </p:cNvPr>
            <p:cNvSpPr/>
            <p:nvPr/>
          </p:nvSpPr>
          <p:spPr>
            <a:xfrm>
              <a:off x="9096597" y="3743325"/>
              <a:ext cx="628650" cy="62865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1200" dirty="0"/>
                <a:t>g2</a:t>
              </a:r>
            </a:p>
          </p:txBody>
        </p:sp>
        <p:sp>
          <p:nvSpPr>
            <p:cNvPr id="90" name="Oval 89">
              <a:extLst>
                <a:ext uri="{FF2B5EF4-FFF2-40B4-BE49-F238E27FC236}">
                  <a16:creationId xmlns:a16="http://schemas.microsoft.com/office/drawing/2014/main" id="{76AC5EC1-66B5-77B1-D42F-6CDC62C3D98D}"/>
                </a:ext>
              </a:extLst>
            </p:cNvPr>
            <p:cNvSpPr/>
            <p:nvPr/>
          </p:nvSpPr>
          <p:spPr>
            <a:xfrm>
              <a:off x="10151822" y="3743325"/>
              <a:ext cx="628650" cy="62865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1200" dirty="0"/>
                <a:t>g3</a:t>
              </a:r>
            </a:p>
          </p:txBody>
        </p:sp>
        <p:cxnSp>
          <p:nvCxnSpPr>
            <p:cNvPr id="91" name="Straight Arrow Connector 90">
              <a:extLst>
                <a:ext uri="{FF2B5EF4-FFF2-40B4-BE49-F238E27FC236}">
                  <a16:creationId xmlns:a16="http://schemas.microsoft.com/office/drawing/2014/main" id="{F428FD2D-18EC-BA8C-A209-4E28ED88DD29}"/>
                </a:ext>
              </a:extLst>
            </p:cNvPr>
            <p:cNvCxnSpPr>
              <a:cxnSpLocks/>
              <a:stCxn id="88" idx="6"/>
              <a:endCxn id="89" idx="2"/>
            </p:cNvCxnSpPr>
            <p:nvPr/>
          </p:nvCxnSpPr>
          <p:spPr>
            <a:xfrm>
              <a:off x="8670022" y="4057649"/>
              <a:ext cx="426575" cy="0"/>
            </a:xfrm>
            <a:prstGeom prst="straightConnector1">
              <a:avLst/>
            </a:prstGeom>
            <a:ln w="38100">
              <a:tailEnd type="triangle"/>
            </a:ln>
          </p:spPr>
          <p:style>
            <a:lnRef idx="3">
              <a:schemeClr val="accent4"/>
            </a:lnRef>
            <a:fillRef idx="0">
              <a:schemeClr val="accent4"/>
            </a:fillRef>
            <a:effectRef idx="2">
              <a:schemeClr val="accent4"/>
            </a:effectRef>
            <a:fontRef idx="minor">
              <a:schemeClr val="tx1"/>
            </a:fontRef>
          </p:style>
        </p:cxnSp>
        <p:cxnSp>
          <p:nvCxnSpPr>
            <p:cNvPr id="92" name="Straight Arrow Connector 91">
              <a:extLst>
                <a:ext uri="{FF2B5EF4-FFF2-40B4-BE49-F238E27FC236}">
                  <a16:creationId xmlns:a16="http://schemas.microsoft.com/office/drawing/2014/main" id="{6C1D70D0-455F-99A7-BE01-F7A66E995984}"/>
                </a:ext>
              </a:extLst>
            </p:cNvPr>
            <p:cNvCxnSpPr>
              <a:cxnSpLocks/>
              <a:stCxn id="89" idx="6"/>
              <a:endCxn id="90" idx="2"/>
            </p:cNvCxnSpPr>
            <p:nvPr/>
          </p:nvCxnSpPr>
          <p:spPr>
            <a:xfrm>
              <a:off x="9725247" y="4057649"/>
              <a:ext cx="426575" cy="0"/>
            </a:xfrm>
            <a:prstGeom prst="straightConnector1">
              <a:avLst/>
            </a:prstGeom>
            <a:ln w="38100">
              <a:tailEnd type="triangle"/>
            </a:ln>
          </p:spPr>
          <p:style>
            <a:lnRef idx="3">
              <a:schemeClr val="accent4"/>
            </a:lnRef>
            <a:fillRef idx="0">
              <a:schemeClr val="accent4"/>
            </a:fillRef>
            <a:effectRef idx="2">
              <a:schemeClr val="accent4"/>
            </a:effectRef>
            <a:fontRef idx="minor">
              <a:schemeClr val="tx1"/>
            </a:fontRef>
          </p:style>
        </p:cxnSp>
        <p:cxnSp>
          <p:nvCxnSpPr>
            <p:cNvPr id="93" name="Elbow Connector 92">
              <a:extLst>
                <a:ext uri="{FF2B5EF4-FFF2-40B4-BE49-F238E27FC236}">
                  <a16:creationId xmlns:a16="http://schemas.microsoft.com/office/drawing/2014/main" id="{626D9DB4-8D36-79F0-E712-371F6619265E}"/>
                </a:ext>
              </a:extLst>
            </p:cNvPr>
            <p:cNvCxnSpPr>
              <a:cxnSpLocks/>
              <a:stCxn id="75" idx="4"/>
              <a:endCxn id="88" idx="2"/>
            </p:cNvCxnSpPr>
            <p:nvPr/>
          </p:nvCxnSpPr>
          <p:spPr>
            <a:xfrm rot="16200000" flipH="1">
              <a:off x="6771112" y="2787388"/>
              <a:ext cx="628649" cy="1911871"/>
            </a:xfrm>
            <a:prstGeom prst="bentConnector2">
              <a:avLst/>
            </a:prstGeom>
            <a:ln w="38100">
              <a:tailEnd type="triangle"/>
            </a:ln>
          </p:spPr>
          <p:style>
            <a:lnRef idx="1">
              <a:schemeClr val="accent4"/>
            </a:lnRef>
            <a:fillRef idx="0">
              <a:schemeClr val="accent4"/>
            </a:fillRef>
            <a:effectRef idx="0">
              <a:schemeClr val="accent4"/>
            </a:effectRef>
            <a:fontRef idx="minor">
              <a:schemeClr val="tx1"/>
            </a:fontRef>
          </p:style>
        </p:cxnSp>
        <p:sp>
          <p:nvSpPr>
            <p:cNvPr id="94" name="TextBox 93">
              <a:extLst>
                <a:ext uri="{FF2B5EF4-FFF2-40B4-BE49-F238E27FC236}">
                  <a16:creationId xmlns:a16="http://schemas.microsoft.com/office/drawing/2014/main" id="{FF3CA66B-19B1-CCEB-60DA-BAC420AD58F0}"/>
                </a:ext>
              </a:extLst>
            </p:cNvPr>
            <p:cNvSpPr txBox="1"/>
            <p:nvPr/>
          </p:nvSpPr>
          <p:spPr>
            <a:xfrm>
              <a:off x="6152299" y="4495794"/>
              <a:ext cx="4667600" cy="381002"/>
            </a:xfrm>
            <a:prstGeom prst="rect">
              <a:avLst/>
            </a:prstGeom>
            <a:noFill/>
          </p:spPr>
          <p:txBody>
            <a:bodyPr wrap="square" rtlCol="0">
              <a:spAutoFit/>
            </a:bodyPr>
            <a:lstStyle/>
            <a:p>
              <a:pPr algn="ctr"/>
              <a:r>
                <a:rPr lang="en-US" sz="1600" dirty="0"/>
                <a:t>Main Branch with 2 Feature Branches</a:t>
              </a:r>
            </a:p>
          </p:txBody>
        </p:sp>
      </p:grpSp>
    </p:spTree>
    <p:extLst>
      <p:ext uri="{BB962C8B-B14F-4D97-AF65-F5344CB8AC3E}">
        <p14:creationId xmlns:p14="http://schemas.microsoft.com/office/powerpoint/2010/main" val="28785162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212503F-B773-A738-6A37-5271ED07DC75}"/>
              </a:ext>
            </a:extLst>
          </p:cNvPr>
          <p:cNvSpPr>
            <a:spLocks noGrp="1"/>
          </p:cNvSpPr>
          <p:nvPr>
            <p:ph type="title"/>
          </p:nvPr>
        </p:nvSpPr>
        <p:spPr/>
        <p:txBody>
          <a:bodyPr/>
          <a:lstStyle/>
          <a:p>
            <a:r>
              <a:rPr lang="en-US" dirty="0"/>
              <a:t>Creating Branches</a:t>
            </a:r>
          </a:p>
        </p:txBody>
      </p:sp>
      <p:sp>
        <p:nvSpPr>
          <p:cNvPr id="2" name="Content Placeholder 1">
            <a:extLst>
              <a:ext uri="{FF2B5EF4-FFF2-40B4-BE49-F238E27FC236}">
                <a16:creationId xmlns:a16="http://schemas.microsoft.com/office/drawing/2014/main" id="{E855DDA8-9EA0-6A8D-7B18-E17E8CDDA463}"/>
              </a:ext>
            </a:extLst>
          </p:cNvPr>
          <p:cNvSpPr>
            <a:spLocks noGrp="1"/>
          </p:cNvSpPr>
          <p:nvPr>
            <p:ph idx="1"/>
          </p:nvPr>
        </p:nvSpPr>
        <p:spPr/>
        <p:txBody>
          <a:bodyPr/>
          <a:lstStyle/>
          <a:p>
            <a:r>
              <a:rPr lang="en-US" dirty="0"/>
              <a:t>Good practice to first pull any recent changes to the repository</a:t>
            </a:r>
          </a:p>
          <a:p>
            <a:endParaRPr lang="en-US" dirty="0"/>
          </a:p>
          <a:p>
            <a:pPr marL="0" indent="0">
              <a:buNone/>
            </a:pPr>
            <a:r>
              <a:rPr lang="en-US" dirty="0"/>
              <a:t> </a:t>
            </a:r>
          </a:p>
          <a:p>
            <a:r>
              <a:rPr lang="en-US" dirty="0"/>
              <a:t>Create a branch</a:t>
            </a:r>
          </a:p>
          <a:p>
            <a:endParaRPr lang="en-US" dirty="0"/>
          </a:p>
          <a:p>
            <a:endParaRPr lang="en-US" dirty="0"/>
          </a:p>
          <a:p>
            <a:pPr marL="0" indent="0">
              <a:buNone/>
            </a:pPr>
            <a:endParaRPr lang="en-US" dirty="0"/>
          </a:p>
          <a:p>
            <a:endParaRPr lang="en-US" dirty="0"/>
          </a:p>
          <a:p>
            <a:endParaRPr lang="en-US" dirty="0"/>
          </a:p>
        </p:txBody>
      </p:sp>
      <p:sp>
        <p:nvSpPr>
          <p:cNvPr id="4" name="TextBox 3">
            <a:extLst>
              <a:ext uri="{FF2B5EF4-FFF2-40B4-BE49-F238E27FC236}">
                <a16:creationId xmlns:a16="http://schemas.microsoft.com/office/drawing/2014/main" id="{020C255E-ED01-A0E6-BF14-E3D0A621879E}"/>
              </a:ext>
            </a:extLst>
          </p:cNvPr>
          <p:cNvSpPr txBox="1"/>
          <p:nvPr/>
        </p:nvSpPr>
        <p:spPr>
          <a:xfrm>
            <a:off x="1254037" y="3823791"/>
            <a:ext cx="4456547" cy="369332"/>
          </a:xfrm>
          <a:prstGeom prst="rect">
            <a:avLst/>
          </a:prstGeom>
          <a:noFill/>
        </p:spPr>
        <p:txBody>
          <a:bodyPr wrap="square" rtlCol="0">
            <a:spAutoFit/>
          </a:bodyPr>
          <a:lstStyle/>
          <a:p>
            <a:r>
              <a:rPr lang="en-US" b="0" dirty="0">
                <a:solidFill>
                  <a:srgbClr val="A0A07D"/>
                </a:solidFill>
                <a:effectLst/>
                <a:latin typeface="Menlo" panose="020B0609030804020204" pitchFamily="49" charset="0"/>
              </a:rPr>
              <a:t>git</a:t>
            </a:r>
            <a:r>
              <a:rPr lang="en-US" b="0" dirty="0">
                <a:solidFill>
                  <a:srgbClr val="D4D4D4"/>
                </a:solidFill>
                <a:effectLst/>
                <a:latin typeface="Menlo" panose="020B0609030804020204" pitchFamily="49" charset="0"/>
              </a:rPr>
              <a:t> </a:t>
            </a:r>
            <a:r>
              <a:rPr lang="en-US" b="0" dirty="0">
                <a:solidFill>
                  <a:srgbClr val="BC846B"/>
                </a:solidFill>
                <a:effectLst/>
                <a:latin typeface="Menlo" panose="020B0609030804020204" pitchFamily="49" charset="0"/>
              </a:rPr>
              <a:t>checkout</a:t>
            </a:r>
            <a:r>
              <a:rPr lang="en-US" b="0" dirty="0">
                <a:solidFill>
                  <a:srgbClr val="D4D4D4"/>
                </a:solidFill>
                <a:effectLst/>
                <a:latin typeface="Menlo" panose="020B0609030804020204" pitchFamily="49" charset="0"/>
              </a:rPr>
              <a:t> </a:t>
            </a:r>
            <a:r>
              <a:rPr lang="en-US" b="0" dirty="0">
                <a:solidFill>
                  <a:srgbClr val="4D8BBF"/>
                </a:solidFill>
                <a:effectLst/>
                <a:latin typeface="Menlo" panose="020B0609030804020204" pitchFamily="49" charset="0"/>
              </a:rPr>
              <a:t>-b</a:t>
            </a:r>
            <a:r>
              <a:rPr lang="en-US" b="0" dirty="0">
                <a:solidFill>
                  <a:srgbClr val="D4D4D4"/>
                </a:solidFill>
                <a:effectLst/>
                <a:latin typeface="Menlo" panose="020B0609030804020204" pitchFamily="49" charset="0"/>
              </a:rPr>
              <a:t> </a:t>
            </a:r>
            <a:r>
              <a:rPr lang="en-US" b="0" dirty="0" err="1">
                <a:solidFill>
                  <a:srgbClr val="BC846B"/>
                </a:solidFill>
                <a:effectLst/>
                <a:latin typeface="Menlo" panose="020B0609030804020204" pitchFamily="49" charset="0"/>
              </a:rPr>
              <a:t>my_new_branch</a:t>
            </a:r>
            <a:endParaRPr lang="en-US" b="0" dirty="0">
              <a:solidFill>
                <a:srgbClr val="BC846B"/>
              </a:solidFill>
              <a:effectLst/>
              <a:latin typeface="Menlo" panose="020B0609030804020204" pitchFamily="49" charset="0"/>
            </a:endParaRPr>
          </a:p>
        </p:txBody>
      </p:sp>
      <p:sp>
        <p:nvSpPr>
          <p:cNvPr id="6" name="TextBox 5">
            <a:extLst>
              <a:ext uri="{FF2B5EF4-FFF2-40B4-BE49-F238E27FC236}">
                <a16:creationId xmlns:a16="http://schemas.microsoft.com/office/drawing/2014/main" id="{E6349CF1-ADC7-547E-5567-C3DBD0DD831C}"/>
              </a:ext>
            </a:extLst>
          </p:cNvPr>
          <p:cNvSpPr txBox="1"/>
          <p:nvPr/>
        </p:nvSpPr>
        <p:spPr>
          <a:xfrm>
            <a:off x="1254037" y="2481499"/>
            <a:ext cx="6102926" cy="646331"/>
          </a:xfrm>
          <a:prstGeom prst="rect">
            <a:avLst/>
          </a:prstGeom>
          <a:noFill/>
        </p:spPr>
        <p:txBody>
          <a:bodyPr wrap="square">
            <a:spAutoFit/>
          </a:bodyPr>
          <a:lstStyle/>
          <a:p>
            <a:r>
              <a:rPr lang="en-US" b="0" dirty="0">
                <a:solidFill>
                  <a:srgbClr val="A0A07D"/>
                </a:solidFill>
                <a:effectLst/>
                <a:latin typeface="Menlo" panose="020B0609030804020204" pitchFamily="49" charset="0"/>
              </a:rPr>
              <a:t>git</a:t>
            </a:r>
            <a:r>
              <a:rPr lang="en-US" b="0" dirty="0">
                <a:solidFill>
                  <a:srgbClr val="D4D4D4"/>
                </a:solidFill>
                <a:effectLst/>
                <a:latin typeface="Menlo" panose="020B0609030804020204" pitchFamily="49" charset="0"/>
              </a:rPr>
              <a:t> </a:t>
            </a:r>
            <a:r>
              <a:rPr lang="en-US" b="0" dirty="0">
                <a:solidFill>
                  <a:srgbClr val="BC846B"/>
                </a:solidFill>
                <a:effectLst/>
                <a:latin typeface="Menlo" panose="020B0609030804020204" pitchFamily="49" charset="0"/>
              </a:rPr>
              <a:t>checkout main</a:t>
            </a:r>
          </a:p>
          <a:p>
            <a:r>
              <a:rPr lang="en-US" b="0" dirty="0">
                <a:solidFill>
                  <a:srgbClr val="A0A07D"/>
                </a:solidFill>
                <a:effectLst/>
                <a:latin typeface="Menlo" panose="020B0609030804020204" pitchFamily="49" charset="0"/>
              </a:rPr>
              <a:t>git</a:t>
            </a:r>
            <a:r>
              <a:rPr lang="en-US" b="0" dirty="0">
                <a:solidFill>
                  <a:srgbClr val="D4D4D4"/>
                </a:solidFill>
                <a:effectLst/>
                <a:latin typeface="Menlo" panose="020B0609030804020204" pitchFamily="49" charset="0"/>
              </a:rPr>
              <a:t> </a:t>
            </a:r>
            <a:r>
              <a:rPr lang="en-US" b="0" dirty="0">
                <a:solidFill>
                  <a:srgbClr val="BC846B"/>
                </a:solidFill>
                <a:effectLst/>
                <a:latin typeface="Menlo" panose="020B0609030804020204" pitchFamily="49" charset="0"/>
              </a:rPr>
              <a:t>pull</a:t>
            </a:r>
          </a:p>
        </p:txBody>
      </p:sp>
      <p:grpSp>
        <p:nvGrpSpPr>
          <p:cNvPr id="31" name="Group 30" descr="The process of creating a branch. From left to right: a repository with two commits on the main branch, followed by an arrow with the text &quot;git checkout -b my_branch&quot; followed by the same repository with the new feature branch added. A star is used on each repository to show which commit you are on, the first has it on the second commit in the main branch, the second on the first commit of the feature branch.">
            <a:extLst>
              <a:ext uri="{FF2B5EF4-FFF2-40B4-BE49-F238E27FC236}">
                <a16:creationId xmlns:a16="http://schemas.microsoft.com/office/drawing/2014/main" id="{A8A88281-C5F9-537A-9904-70574D953B9E}"/>
              </a:ext>
            </a:extLst>
          </p:cNvPr>
          <p:cNvGrpSpPr/>
          <p:nvPr/>
        </p:nvGrpSpPr>
        <p:grpSpPr>
          <a:xfrm>
            <a:off x="1625994" y="3429000"/>
            <a:ext cx="8807852" cy="2060078"/>
            <a:chOff x="1625994" y="3429000"/>
            <a:chExt cx="8807852" cy="2060078"/>
          </a:xfrm>
        </p:grpSpPr>
        <p:grpSp>
          <p:nvGrpSpPr>
            <p:cNvPr id="26" name="Group 25" descr="The process of creating a branch. From left to right: a repository with two commits on the main branch, followed by an arrow with the text &quot;git checkout -b my_branch&quot; followed by the same repository with the new feature branch added. A smiley face is used on each repository to show which commit you are on, the first has it on the second commit in the main branch, the second on the first commit of the feature branch.">
              <a:extLst>
                <a:ext uri="{FF2B5EF4-FFF2-40B4-BE49-F238E27FC236}">
                  <a16:creationId xmlns:a16="http://schemas.microsoft.com/office/drawing/2014/main" id="{6606E0C3-A099-D8CB-805B-BF394EF7919C}"/>
                </a:ext>
              </a:extLst>
            </p:cNvPr>
            <p:cNvGrpSpPr/>
            <p:nvPr/>
          </p:nvGrpSpPr>
          <p:grpSpPr>
            <a:xfrm>
              <a:off x="1625994" y="3564473"/>
              <a:ext cx="8769324" cy="1924605"/>
              <a:chOff x="1254036" y="2873949"/>
              <a:chExt cx="8769324" cy="1924605"/>
            </a:xfrm>
          </p:grpSpPr>
          <p:grpSp>
            <p:nvGrpSpPr>
              <p:cNvPr id="12" name="Group 11">
                <a:extLst>
                  <a:ext uri="{FF2B5EF4-FFF2-40B4-BE49-F238E27FC236}">
                    <a16:creationId xmlns:a16="http://schemas.microsoft.com/office/drawing/2014/main" id="{B0A305F2-1E18-23B6-D038-59891E82970F}"/>
                  </a:ext>
                </a:extLst>
              </p:cNvPr>
              <p:cNvGrpSpPr/>
              <p:nvPr/>
            </p:nvGrpSpPr>
            <p:grpSpPr>
              <a:xfrm>
                <a:off x="7168514" y="2873949"/>
                <a:ext cx="2854846" cy="1757363"/>
                <a:chOff x="265176" y="253556"/>
                <a:chExt cx="2854846" cy="1757363"/>
              </a:xfrm>
            </p:grpSpPr>
            <p:sp>
              <p:nvSpPr>
                <p:cNvPr id="14" name="Oval 13">
                  <a:extLst>
                    <a:ext uri="{FF2B5EF4-FFF2-40B4-BE49-F238E27FC236}">
                      <a16:creationId xmlns:a16="http://schemas.microsoft.com/office/drawing/2014/main" id="{069384CE-34D6-6975-8850-0D2407CE7F8F}"/>
                    </a:ext>
                  </a:extLst>
                </p:cNvPr>
                <p:cNvSpPr/>
                <p:nvPr/>
              </p:nvSpPr>
              <p:spPr>
                <a:xfrm>
                  <a:off x="265176" y="1382269"/>
                  <a:ext cx="628650" cy="6286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m1</a:t>
                  </a:r>
                </a:p>
              </p:txBody>
            </p:sp>
            <p:sp>
              <p:nvSpPr>
                <p:cNvPr id="15" name="Oval 14">
                  <a:extLst>
                    <a:ext uri="{FF2B5EF4-FFF2-40B4-BE49-F238E27FC236}">
                      <a16:creationId xmlns:a16="http://schemas.microsoft.com/office/drawing/2014/main" id="{C8A5AD6A-1EFB-94EF-8D65-4AA9FE9EC1E9}"/>
                    </a:ext>
                  </a:extLst>
                </p:cNvPr>
                <p:cNvSpPr/>
                <p:nvPr/>
              </p:nvSpPr>
              <p:spPr>
                <a:xfrm>
                  <a:off x="1378274" y="1382269"/>
                  <a:ext cx="628650" cy="6286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m2</a:t>
                  </a:r>
                </a:p>
              </p:txBody>
            </p:sp>
            <p:sp>
              <p:nvSpPr>
                <p:cNvPr id="16" name="Oval 15">
                  <a:extLst>
                    <a:ext uri="{FF2B5EF4-FFF2-40B4-BE49-F238E27FC236}">
                      <a16:creationId xmlns:a16="http://schemas.microsoft.com/office/drawing/2014/main" id="{CE792B1C-F2E6-6905-9FFD-69CDD63E839E}"/>
                    </a:ext>
                  </a:extLst>
                </p:cNvPr>
                <p:cNvSpPr/>
                <p:nvPr/>
              </p:nvSpPr>
              <p:spPr>
                <a:xfrm>
                  <a:off x="2491372" y="253556"/>
                  <a:ext cx="628650" cy="62865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1400" dirty="0"/>
                    <a:t>f1</a:t>
                  </a:r>
                </a:p>
              </p:txBody>
            </p:sp>
            <p:cxnSp>
              <p:nvCxnSpPr>
                <p:cNvPr id="17" name="Straight Arrow Connector 16">
                  <a:extLst>
                    <a:ext uri="{FF2B5EF4-FFF2-40B4-BE49-F238E27FC236}">
                      <a16:creationId xmlns:a16="http://schemas.microsoft.com/office/drawing/2014/main" id="{C73A975A-2FAB-8505-7649-9559866F924A}"/>
                    </a:ext>
                  </a:extLst>
                </p:cNvPr>
                <p:cNvCxnSpPr>
                  <a:stCxn id="14" idx="6"/>
                  <a:endCxn id="15" idx="2"/>
                </p:cNvCxnSpPr>
                <p:nvPr/>
              </p:nvCxnSpPr>
              <p:spPr>
                <a:xfrm>
                  <a:off x="893826" y="1696594"/>
                  <a:ext cx="484448"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8" name="Elbow Connector 17">
                  <a:extLst>
                    <a:ext uri="{FF2B5EF4-FFF2-40B4-BE49-F238E27FC236}">
                      <a16:creationId xmlns:a16="http://schemas.microsoft.com/office/drawing/2014/main" id="{A0A6C386-7265-A805-E981-83D3D28C4DBA}"/>
                    </a:ext>
                  </a:extLst>
                </p:cNvPr>
                <p:cNvCxnSpPr>
                  <a:stCxn id="15" idx="0"/>
                  <a:endCxn id="16" idx="2"/>
                </p:cNvCxnSpPr>
                <p:nvPr/>
              </p:nvCxnSpPr>
              <p:spPr>
                <a:xfrm rot="5400000" flipH="1" flipV="1">
                  <a:off x="1684791" y="575689"/>
                  <a:ext cx="814388" cy="798773"/>
                </a:xfrm>
                <a:prstGeom prst="bentConnector2">
                  <a:avLst/>
                </a:prstGeom>
                <a:ln w="38100">
                  <a:tailEnd type="triangle"/>
                </a:ln>
              </p:spPr>
              <p:style>
                <a:lnRef idx="3">
                  <a:schemeClr val="accent4"/>
                </a:lnRef>
                <a:fillRef idx="0">
                  <a:schemeClr val="accent4"/>
                </a:fillRef>
                <a:effectRef idx="2">
                  <a:schemeClr val="accent4"/>
                </a:effectRef>
                <a:fontRef idx="minor">
                  <a:schemeClr val="tx1"/>
                </a:fontRef>
              </p:style>
            </p:cxnSp>
          </p:grpSp>
          <p:grpSp>
            <p:nvGrpSpPr>
              <p:cNvPr id="20" name="Group 19">
                <a:extLst>
                  <a:ext uri="{FF2B5EF4-FFF2-40B4-BE49-F238E27FC236}">
                    <a16:creationId xmlns:a16="http://schemas.microsoft.com/office/drawing/2014/main" id="{0310C295-1977-B6C9-F1E9-CB69FE5DAE86}"/>
                  </a:ext>
                </a:extLst>
              </p:cNvPr>
              <p:cNvGrpSpPr/>
              <p:nvPr/>
            </p:nvGrpSpPr>
            <p:grpSpPr>
              <a:xfrm>
                <a:off x="1254036" y="4002662"/>
                <a:ext cx="1741748" cy="628650"/>
                <a:chOff x="265176" y="1382269"/>
                <a:chExt cx="1741748" cy="628650"/>
              </a:xfrm>
            </p:grpSpPr>
            <p:sp>
              <p:nvSpPr>
                <p:cNvPr id="22" name="Oval 21">
                  <a:extLst>
                    <a:ext uri="{FF2B5EF4-FFF2-40B4-BE49-F238E27FC236}">
                      <a16:creationId xmlns:a16="http://schemas.microsoft.com/office/drawing/2014/main" id="{5D840E6E-EB11-46FB-C6A1-FDEB506A4B1E}"/>
                    </a:ext>
                  </a:extLst>
                </p:cNvPr>
                <p:cNvSpPr/>
                <p:nvPr/>
              </p:nvSpPr>
              <p:spPr>
                <a:xfrm>
                  <a:off x="265176" y="1382269"/>
                  <a:ext cx="628650" cy="6286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m1</a:t>
                  </a:r>
                </a:p>
              </p:txBody>
            </p:sp>
            <p:sp>
              <p:nvSpPr>
                <p:cNvPr id="23" name="Oval 22">
                  <a:extLst>
                    <a:ext uri="{FF2B5EF4-FFF2-40B4-BE49-F238E27FC236}">
                      <a16:creationId xmlns:a16="http://schemas.microsoft.com/office/drawing/2014/main" id="{77C3E256-FD77-73F6-BB0F-D5A4FB2708E2}"/>
                    </a:ext>
                  </a:extLst>
                </p:cNvPr>
                <p:cNvSpPr/>
                <p:nvPr/>
              </p:nvSpPr>
              <p:spPr>
                <a:xfrm>
                  <a:off x="1378274" y="1382269"/>
                  <a:ext cx="628650" cy="6286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m2</a:t>
                  </a:r>
                </a:p>
              </p:txBody>
            </p:sp>
            <p:cxnSp>
              <p:nvCxnSpPr>
                <p:cNvPr id="24" name="Straight Arrow Connector 23">
                  <a:extLst>
                    <a:ext uri="{FF2B5EF4-FFF2-40B4-BE49-F238E27FC236}">
                      <a16:creationId xmlns:a16="http://schemas.microsoft.com/office/drawing/2014/main" id="{17363123-CCD7-0D50-B01C-A92302AAEEA0}"/>
                    </a:ext>
                  </a:extLst>
                </p:cNvPr>
                <p:cNvCxnSpPr>
                  <a:cxnSpLocks/>
                  <a:stCxn id="22" idx="6"/>
                  <a:endCxn id="23" idx="2"/>
                </p:cNvCxnSpPr>
                <p:nvPr/>
              </p:nvCxnSpPr>
              <p:spPr>
                <a:xfrm>
                  <a:off x="893826" y="1696594"/>
                  <a:ext cx="484448"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grpSp>
          <p:sp>
            <p:nvSpPr>
              <p:cNvPr id="25" name="Right Arrow 24">
                <a:extLst>
                  <a:ext uri="{FF2B5EF4-FFF2-40B4-BE49-F238E27FC236}">
                    <a16:creationId xmlns:a16="http://schemas.microsoft.com/office/drawing/2014/main" id="{567E4BB7-9A6F-D427-3FD5-BE97A5B58E73}"/>
                  </a:ext>
                </a:extLst>
              </p:cNvPr>
              <p:cNvSpPr/>
              <p:nvPr/>
            </p:nvSpPr>
            <p:spPr>
              <a:xfrm>
                <a:off x="3368645" y="3835419"/>
                <a:ext cx="3427008" cy="96313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latin typeface="Consolas" panose="020B0609020204030204" pitchFamily="49" charset="0"/>
                    <a:cs typeface="Consolas" panose="020B0609020204030204" pitchFamily="49" charset="0"/>
                  </a:rPr>
                  <a:t>git checkout -b </a:t>
                </a:r>
                <a:r>
                  <a:rPr lang="en-US" sz="1600" dirty="0" err="1">
                    <a:latin typeface="Consolas" panose="020B0609020204030204" pitchFamily="49" charset="0"/>
                    <a:cs typeface="Consolas" panose="020B0609020204030204" pitchFamily="49" charset="0"/>
                  </a:rPr>
                  <a:t>my_branch</a:t>
                </a:r>
                <a:r>
                  <a:rPr lang="en-US" sz="1600" dirty="0"/>
                  <a:t> </a:t>
                </a:r>
              </a:p>
            </p:txBody>
          </p:sp>
        </p:grpSp>
        <p:sp>
          <p:nvSpPr>
            <p:cNvPr id="27" name="5-Point Star 26">
              <a:extLst>
                <a:ext uri="{FF2B5EF4-FFF2-40B4-BE49-F238E27FC236}">
                  <a16:creationId xmlns:a16="http://schemas.microsoft.com/office/drawing/2014/main" id="{E61483A1-8722-A5BF-ED4E-9CE08A2F914F}"/>
                </a:ext>
              </a:extLst>
            </p:cNvPr>
            <p:cNvSpPr/>
            <p:nvPr/>
          </p:nvSpPr>
          <p:spPr>
            <a:xfrm>
              <a:off x="3076575" y="4608241"/>
              <a:ext cx="337911" cy="280843"/>
            </a:xfrm>
            <a:prstGeom prst="star5">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5-Point Star 29">
              <a:extLst>
                <a:ext uri="{FF2B5EF4-FFF2-40B4-BE49-F238E27FC236}">
                  <a16:creationId xmlns:a16="http://schemas.microsoft.com/office/drawing/2014/main" id="{DE4D4389-3C95-5A8A-5D13-FA469CF32076}"/>
                </a:ext>
              </a:extLst>
            </p:cNvPr>
            <p:cNvSpPr/>
            <p:nvPr/>
          </p:nvSpPr>
          <p:spPr>
            <a:xfrm>
              <a:off x="10095935" y="3429000"/>
              <a:ext cx="337911" cy="280843"/>
            </a:xfrm>
            <a:prstGeom prst="star5">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6193085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212503F-B773-A738-6A37-5271ED07DC75}"/>
              </a:ext>
            </a:extLst>
          </p:cNvPr>
          <p:cNvSpPr>
            <a:spLocks noGrp="1"/>
          </p:cNvSpPr>
          <p:nvPr>
            <p:ph type="title"/>
          </p:nvPr>
        </p:nvSpPr>
        <p:spPr/>
        <p:txBody>
          <a:bodyPr/>
          <a:lstStyle/>
          <a:p>
            <a:r>
              <a:rPr lang="en-US" dirty="0"/>
              <a:t>Creating Branches</a:t>
            </a:r>
          </a:p>
        </p:txBody>
      </p:sp>
      <p:sp>
        <p:nvSpPr>
          <p:cNvPr id="2" name="Content Placeholder 1">
            <a:extLst>
              <a:ext uri="{FF2B5EF4-FFF2-40B4-BE49-F238E27FC236}">
                <a16:creationId xmlns:a16="http://schemas.microsoft.com/office/drawing/2014/main" id="{E855DDA8-9EA0-6A8D-7B18-E17E8CDDA463}"/>
              </a:ext>
            </a:extLst>
          </p:cNvPr>
          <p:cNvSpPr>
            <a:spLocks noGrp="1"/>
          </p:cNvSpPr>
          <p:nvPr>
            <p:ph idx="1"/>
          </p:nvPr>
        </p:nvSpPr>
        <p:spPr>
          <a:xfrm>
            <a:off x="838200" y="1825624"/>
            <a:ext cx="10515600" cy="2309157"/>
          </a:xfrm>
        </p:spPr>
        <p:txBody>
          <a:bodyPr>
            <a:normAutofit fontScale="85000" lnSpcReduction="20000"/>
          </a:bodyPr>
          <a:lstStyle/>
          <a:p>
            <a:r>
              <a:rPr lang="en-US" dirty="0"/>
              <a:t>Good practice to first pull any recent changes to the repository</a:t>
            </a:r>
          </a:p>
          <a:p>
            <a:endParaRPr lang="en-US" dirty="0"/>
          </a:p>
          <a:p>
            <a:pPr marL="0" indent="0">
              <a:buNone/>
            </a:pPr>
            <a:r>
              <a:rPr lang="en-US" dirty="0"/>
              <a:t> </a:t>
            </a:r>
          </a:p>
          <a:p>
            <a:r>
              <a:rPr lang="en-US" dirty="0"/>
              <a:t>Create a branch</a:t>
            </a:r>
          </a:p>
          <a:p>
            <a:endParaRPr lang="en-US" dirty="0"/>
          </a:p>
          <a:p>
            <a:r>
              <a:rPr lang="en-US" dirty="0"/>
              <a:t>New commits will be added to this branch</a:t>
            </a:r>
          </a:p>
          <a:p>
            <a:endParaRPr lang="en-US" dirty="0"/>
          </a:p>
          <a:p>
            <a:endParaRPr lang="en-US" dirty="0"/>
          </a:p>
          <a:p>
            <a:pPr marL="0" indent="0">
              <a:buNone/>
            </a:pPr>
            <a:endParaRPr lang="en-US" dirty="0"/>
          </a:p>
          <a:p>
            <a:endParaRPr lang="en-US" dirty="0"/>
          </a:p>
          <a:p>
            <a:endParaRPr lang="en-US" dirty="0"/>
          </a:p>
        </p:txBody>
      </p:sp>
      <p:sp>
        <p:nvSpPr>
          <p:cNvPr id="4" name="TextBox 3">
            <a:extLst>
              <a:ext uri="{FF2B5EF4-FFF2-40B4-BE49-F238E27FC236}">
                <a16:creationId xmlns:a16="http://schemas.microsoft.com/office/drawing/2014/main" id="{020C255E-ED01-A0E6-BF14-E3D0A621879E}"/>
              </a:ext>
            </a:extLst>
          </p:cNvPr>
          <p:cNvSpPr txBox="1"/>
          <p:nvPr/>
        </p:nvSpPr>
        <p:spPr>
          <a:xfrm>
            <a:off x="1254037" y="3298022"/>
            <a:ext cx="4456547" cy="369332"/>
          </a:xfrm>
          <a:prstGeom prst="rect">
            <a:avLst/>
          </a:prstGeom>
          <a:noFill/>
        </p:spPr>
        <p:txBody>
          <a:bodyPr wrap="square" rtlCol="0">
            <a:spAutoFit/>
          </a:bodyPr>
          <a:lstStyle/>
          <a:p>
            <a:r>
              <a:rPr lang="en-US" b="0" dirty="0">
                <a:solidFill>
                  <a:srgbClr val="A0A07D"/>
                </a:solidFill>
                <a:effectLst/>
                <a:latin typeface="Menlo" panose="020B0609030804020204" pitchFamily="49" charset="0"/>
              </a:rPr>
              <a:t>git</a:t>
            </a:r>
            <a:r>
              <a:rPr lang="en-US" b="0" dirty="0">
                <a:solidFill>
                  <a:srgbClr val="D4D4D4"/>
                </a:solidFill>
                <a:effectLst/>
                <a:latin typeface="Menlo" panose="020B0609030804020204" pitchFamily="49" charset="0"/>
              </a:rPr>
              <a:t> </a:t>
            </a:r>
            <a:r>
              <a:rPr lang="en-US" b="0" dirty="0">
                <a:solidFill>
                  <a:srgbClr val="BC846B"/>
                </a:solidFill>
                <a:effectLst/>
                <a:latin typeface="Menlo" panose="020B0609030804020204" pitchFamily="49" charset="0"/>
              </a:rPr>
              <a:t>checkout</a:t>
            </a:r>
            <a:r>
              <a:rPr lang="en-US" b="0" dirty="0">
                <a:solidFill>
                  <a:srgbClr val="D4D4D4"/>
                </a:solidFill>
                <a:effectLst/>
                <a:latin typeface="Menlo" panose="020B0609030804020204" pitchFamily="49" charset="0"/>
              </a:rPr>
              <a:t> </a:t>
            </a:r>
            <a:r>
              <a:rPr lang="en-US" b="0" dirty="0">
                <a:solidFill>
                  <a:srgbClr val="4D8BBF"/>
                </a:solidFill>
                <a:effectLst/>
                <a:latin typeface="Menlo" panose="020B0609030804020204" pitchFamily="49" charset="0"/>
              </a:rPr>
              <a:t>-b</a:t>
            </a:r>
            <a:r>
              <a:rPr lang="en-US" b="0" dirty="0">
                <a:solidFill>
                  <a:srgbClr val="D4D4D4"/>
                </a:solidFill>
                <a:effectLst/>
                <a:latin typeface="Menlo" panose="020B0609030804020204" pitchFamily="49" charset="0"/>
              </a:rPr>
              <a:t> </a:t>
            </a:r>
            <a:r>
              <a:rPr lang="en-US" b="0" dirty="0" err="1">
                <a:solidFill>
                  <a:srgbClr val="BC846B"/>
                </a:solidFill>
                <a:effectLst/>
                <a:latin typeface="Menlo" panose="020B0609030804020204" pitchFamily="49" charset="0"/>
              </a:rPr>
              <a:t>my_new_branch</a:t>
            </a:r>
            <a:endParaRPr lang="en-US" b="0" dirty="0">
              <a:solidFill>
                <a:srgbClr val="BC846B"/>
              </a:solidFill>
              <a:effectLst/>
              <a:latin typeface="Menlo" panose="020B0609030804020204" pitchFamily="49" charset="0"/>
            </a:endParaRPr>
          </a:p>
        </p:txBody>
      </p:sp>
      <p:sp>
        <p:nvSpPr>
          <p:cNvPr id="6" name="TextBox 5">
            <a:extLst>
              <a:ext uri="{FF2B5EF4-FFF2-40B4-BE49-F238E27FC236}">
                <a16:creationId xmlns:a16="http://schemas.microsoft.com/office/drawing/2014/main" id="{E6349CF1-ADC7-547E-5567-C3DBD0DD831C}"/>
              </a:ext>
            </a:extLst>
          </p:cNvPr>
          <p:cNvSpPr txBox="1"/>
          <p:nvPr/>
        </p:nvSpPr>
        <p:spPr>
          <a:xfrm>
            <a:off x="1254037" y="2222027"/>
            <a:ext cx="6102926" cy="646331"/>
          </a:xfrm>
          <a:prstGeom prst="rect">
            <a:avLst/>
          </a:prstGeom>
          <a:noFill/>
        </p:spPr>
        <p:txBody>
          <a:bodyPr wrap="square">
            <a:spAutoFit/>
          </a:bodyPr>
          <a:lstStyle/>
          <a:p>
            <a:r>
              <a:rPr lang="en-US" b="0" dirty="0">
                <a:solidFill>
                  <a:srgbClr val="A0A07D"/>
                </a:solidFill>
                <a:effectLst/>
                <a:latin typeface="Menlo" panose="020B0609030804020204" pitchFamily="49" charset="0"/>
              </a:rPr>
              <a:t>git</a:t>
            </a:r>
            <a:r>
              <a:rPr lang="en-US" b="0" dirty="0">
                <a:solidFill>
                  <a:srgbClr val="D4D4D4"/>
                </a:solidFill>
                <a:effectLst/>
                <a:latin typeface="Menlo" panose="020B0609030804020204" pitchFamily="49" charset="0"/>
              </a:rPr>
              <a:t> </a:t>
            </a:r>
            <a:r>
              <a:rPr lang="en-US" b="0" dirty="0">
                <a:solidFill>
                  <a:srgbClr val="BC846B"/>
                </a:solidFill>
                <a:effectLst/>
                <a:latin typeface="Menlo" panose="020B0609030804020204" pitchFamily="49" charset="0"/>
              </a:rPr>
              <a:t>checkout main</a:t>
            </a:r>
          </a:p>
          <a:p>
            <a:r>
              <a:rPr lang="en-US" b="0" dirty="0">
                <a:solidFill>
                  <a:srgbClr val="A0A07D"/>
                </a:solidFill>
                <a:effectLst/>
                <a:latin typeface="Menlo" panose="020B0609030804020204" pitchFamily="49" charset="0"/>
              </a:rPr>
              <a:t>git</a:t>
            </a:r>
            <a:r>
              <a:rPr lang="en-US" b="0" dirty="0">
                <a:solidFill>
                  <a:srgbClr val="D4D4D4"/>
                </a:solidFill>
                <a:effectLst/>
                <a:latin typeface="Menlo" panose="020B0609030804020204" pitchFamily="49" charset="0"/>
              </a:rPr>
              <a:t> </a:t>
            </a:r>
            <a:r>
              <a:rPr lang="en-US" b="0" dirty="0">
                <a:solidFill>
                  <a:srgbClr val="BC846B"/>
                </a:solidFill>
                <a:effectLst/>
                <a:latin typeface="Menlo" panose="020B0609030804020204" pitchFamily="49" charset="0"/>
              </a:rPr>
              <a:t>pull</a:t>
            </a:r>
          </a:p>
        </p:txBody>
      </p:sp>
      <p:grpSp>
        <p:nvGrpSpPr>
          <p:cNvPr id="13" name="Group 12" descr="Creating commits on a branch. From left to right: a repository with two commits on the main branch and one on a feature branch, followed by an arrow with the text &quot;git commit (x2)&quot;, followed by the same repository with to additional commits on the feature branch. A smiley face is used on each diagram to show where you are in the repository, each on the last commit on the feature branch.&#13;&#10;">
            <a:extLst>
              <a:ext uri="{FF2B5EF4-FFF2-40B4-BE49-F238E27FC236}">
                <a16:creationId xmlns:a16="http://schemas.microsoft.com/office/drawing/2014/main" id="{1DD87ADD-48C5-2459-4E53-076A1FE0D8D9}"/>
              </a:ext>
            </a:extLst>
          </p:cNvPr>
          <p:cNvGrpSpPr/>
          <p:nvPr/>
        </p:nvGrpSpPr>
        <p:grpSpPr>
          <a:xfrm>
            <a:off x="633248" y="4044200"/>
            <a:ext cx="10764884" cy="2108699"/>
            <a:chOff x="633248" y="4044200"/>
            <a:chExt cx="10764884" cy="2108699"/>
          </a:xfrm>
        </p:grpSpPr>
        <p:grpSp>
          <p:nvGrpSpPr>
            <p:cNvPr id="43" name="Group 42" descr="Creating commits on a branch. From left to right: a repository with two commits on the main branch and one on a feature branch, followed by an arrow with the text &quot;git commit (x2)&quot;, followed by the same repository with to additional commits on the feature branch. A smiley face is used on each diagram to show where you are in the repository, each on the last commit on the feature branch.">
              <a:extLst>
                <a:ext uri="{FF2B5EF4-FFF2-40B4-BE49-F238E27FC236}">
                  <a16:creationId xmlns:a16="http://schemas.microsoft.com/office/drawing/2014/main" id="{967D1C4E-5E11-F9D5-E95A-BB7299998768}"/>
                </a:ext>
              </a:extLst>
            </p:cNvPr>
            <p:cNvGrpSpPr/>
            <p:nvPr/>
          </p:nvGrpSpPr>
          <p:grpSpPr>
            <a:xfrm>
              <a:off x="633248" y="4200982"/>
              <a:ext cx="10681335" cy="1951917"/>
              <a:chOff x="633248" y="3876538"/>
              <a:chExt cx="10681335" cy="1951917"/>
            </a:xfrm>
          </p:grpSpPr>
          <p:grpSp>
            <p:nvGrpSpPr>
              <p:cNvPr id="7" name="Group 6">
                <a:extLst>
                  <a:ext uri="{FF2B5EF4-FFF2-40B4-BE49-F238E27FC236}">
                    <a16:creationId xmlns:a16="http://schemas.microsoft.com/office/drawing/2014/main" id="{93905586-F558-10F9-5A46-503A75E69AAB}"/>
                  </a:ext>
                </a:extLst>
              </p:cNvPr>
              <p:cNvGrpSpPr/>
              <p:nvPr/>
            </p:nvGrpSpPr>
            <p:grpSpPr>
              <a:xfrm>
                <a:off x="6349287" y="3876538"/>
                <a:ext cx="4965296" cy="1757363"/>
                <a:chOff x="265176" y="253556"/>
                <a:chExt cx="4965296" cy="1757363"/>
              </a:xfrm>
            </p:grpSpPr>
            <p:sp>
              <p:nvSpPr>
                <p:cNvPr id="9" name="Oval 8">
                  <a:extLst>
                    <a:ext uri="{FF2B5EF4-FFF2-40B4-BE49-F238E27FC236}">
                      <a16:creationId xmlns:a16="http://schemas.microsoft.com/office/drawing/2014/main" id="{37430D59-9755-35FB-7753-6D4D30A7D15D}"/>
                    </a:ext>
                  </a:extLst>
                </p:cNvPr>
                <p:cNvSpPr/>
                <p:nvPr/>
              </p:nvSpPr>
              <p:spPr>
                <a:xfrm>
                  <a:off x="265176" y="1382269"/>
                  <a:ext cx="628650" cy="6286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m1</a:t>
                  </a:r>
                </a:p>
              </p:txBody>
            </p:sp>
            <p:sp>
              <p:nvSpPr>
                <p:cNvPr id="10" name="Oval 9">
                  <a:extLst>
                    <a:ext uri="{FF2B5EF4-FFF2-40B4-BE49-F238E27FC236}">
                      <a16:creationId xmlns:a16="http://schemas.microsoft.com/office/drawing/2014/main" id="{19494847-6117-99DB-82E4-386E3DE066B1}"/>
                    </a:ext>
                  </a:extLst>
                </p:cNvPr>
                <p:cNvSpPr/>
                <p:nvPr/>
              </p:nvSpPr>
              <p:spPr>
                <a:xfrm>
                  <a:off x="1378274" y="1382269"/>
                  <a:ext cx="628650" cy="6286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m2</a:t>
                  </a:r>
                </a:p>
              </p:txBody>
            </p:sp>
            <p:sp>
              <p:nvSpPr>
                <p:cNvPr id="27" name="Oval 26">
                  <a:extLst>
                    <a:ext uri="{FF2B5EF4-FFF2-40B4-BE49-F238E27FC236}">
                      <a16:creationId xmlns:a16="http://schemas.microsoft.com/office/drawing/2014/main" id="{F8FFB5CE-03A2-5C4E-2968-A03E0EF83BC0}"/>
                    </a:ext>
                  </a:extLst>
                </p:cNvPr>
                <p:cNvSpPr/>
                <p:nvPr/>
              </p:nvSpPr>
              <p:spPr>
                <a:xfrm>
                  <a:off x="2491372" y="253556"/>
                  <a:ext cx="628650" cy="62865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1400" dirty="0"/>
                    <a:t>f1</a:t>
                  </a:r>
                </a:p>
              </p:txBody>
            </p:sp>
            <p:sp>
              <p:nvSpPr>
                <p:cNvPr id="28" name="Oval 27">
                  <a:extLst>
                    <a:ext uri="{FF2B5EF4-FFF2-40B4-BE49-F238E27FC236}">
                      <a16:creationId xmlns:a16="http://schemas.microsoft.com/office/drawing/2014/main" id="{672FAE58-BF9F-F6B4-ECDE-B16ECA20FAA1}"/>
                    </a:ext>
                  </a:extLst>
                </p:cNvPr>
                <p:cNvSpPr/>
                <p:nvPr/>
              </p:nvSpPr>
              <p:spPr>
                <a:xfrm>
                  <a:off x="3546597" y="253556"/>
                  <a:ext cx="628650" cy="62865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1400" dirty="0"/>
                    <a:t>f2</a:t>
                  </a:r>
                </a:p>
              </p:txBody>
            </p:sp>
            <p:sp>
              <p:nvSpPr>
                <p:cNvPr id="29" name="Oval 28">
                  <a:extLst>
                    <a:ext uri="{FF2B5EF4-FFF2-40B4-BE49-F238E27FC236}">
                      <a16:creationId xmlns:a16="http://schemas.microsoft.com/office/drawing/2014/main" id="{8B609063-EF8B-654A-CAC3-05E720D3083C}"/>
                    </a:ext>
                  </a:extLst>
                </p:cNvPr>
                <p:cNvSpPr/>
                <p:nvPr/>
              </p:nvSpPr>
              <p:spPr>
                <a:xfrm>
                  <a:off x="4601822" y="253556"/>
                  <a:ext cx="628650" cy="62865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1400" dirty="0"/>
                    <a:t>f3</a:t>
                  </a:r>
                </a:p>
              </p:txBody>
            </p:sp>
            <p:cxnSp>
              <p:nvCxnSpPr>
                <p:cNvPr id="30" name="Straight Arrow Connector 29">
                  <a:extLst>
                    <a:ext uri="{FF2B5EF4-FFF2-40B4-BE49-F238E27FC236}">
                      <a16:creationId xmlns:a16="http://schemas.microsoft.com/office/drawing/2014/main" id="{6D72B078-7812-5502-6593-0DCC5AB61F6A}"/>
                    </a:ext>
                  </a:extLst>
                </p:cNvPr>
                <p:cNvCxnSpPr>
                  <a:stCxn id="9" idx="6"/>
                  <a:endCxn id="10" idx="2"/>
                </p:cNvCxnSpPr>
                <p:nvPr/>
              </p:nvCxnSpPr>
              <p:spPr>
                <a:xfrm>
                  <a:off x="893826" y="1696594"/>
                  <a:ext cx="484448"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31" name="Elbow Connector 30">
                  <a:extLst>
                    <a:ext uri="{FF2B5EF4-FFF2-40B4-BE49-F238E27FC236}">
                      <a16:creationId xmlns:a16="http://schemas.microsoft.com/office/drawing/2014/main" id="{AF2DA14C-EF08-3FFF-418E-007F0A18A533}"/>
                    </a:ext>
                  </a:extLst>
                </p:cNvPr>
                <p:cNvCxnSpPr>
                  <a:stCxn id="10" idx="0"/>
                  <a:endCxn id="27" idx="2"/>
                </p:cNvCxnSpPr>
                <p:nvPr/>
              </p:nvCxnSpPr>
              <p:spPr>
                <a:xfrm rot="5400000" flipH="1" flipV="1">
                  <a:off x="1684791" y="575689"/>
                  <a:ext cx="814388" cy="798773"/>
                </a:xfrm>
                <a:prstGeom prst="bentConnector2">
                  <a:avLst/>
                </a:prstGeom>
                <a:ln w="38100">
                  <a:tailEnd type="triangle"/>
                </a:ln>
              </p:spPr>
              <p:style>
                <a:lnRef idx="3">
                  <a:schemeClr val="accent4"/>
                </a:lnRef>
                <a:fillRef idx="0">
                  <a:schemeClr val="accent4"/>
                </a:fillRef>
                <a:effectRef idx="2">
                  <a:schemeClr val="accent4"/>
                </a:effectRef>
                <a:fontRef idx="minor">
                  <a:schemeClr val="tx1"/>
                </a:fontRef>
              </p:style>
            </p:cxnSp>
            <p:cxnSp>
              <p:nvCxnSpPr>
                <p:cNvPr id="32" name="Straight Arrow Connector 31">
                  <a:extLst>
                    <a:ext uri="{FF2B5EF4-FFF2-40B4-BE49-F238E27FC236}">
                      <a16:creationId xmlns:a16="http://schemas.microsoft.com/office/drawing/2014/main" id="{91CEAC11-2ABF-F354-9B1D-FFCEAAB1619B}"/>
                    </a:ext>
                  </a:extLst>
                </p:cNvPr>
                <p:cNvCxnSpPr>
                  <a:cxnSpLocks/>
                  <a:stCxn id="27" idx="6"/>
                  <a:endCxn id="28" idx="2"/>
                </p:cNvCxnSpPr>
                <p:nvPr/>
              </p:nvCxnSpPr>
              <p:spPr>
                <a:xfrm>
                  <a:off x="3120022" y="567881"/>
                  <a:ext cx="426575" cy="0"/>
                </a:xfrm>
                <a:prstGeom prst="straightConnector1">
                  <a:avLst/>
                </a:prstGeom>
                <a:ln w="38100">
                  <a:tailEnd type="triangle"/>
                </a:ln>
              </p:spPr>
              <p:style>
                <a:lnRef idx="3">
                  <a:schemeClr val="accent4"/>
                </a:lnRef>
                <a:fillRef idx="0">
                  <a:schemeClr val="accent4"/>
                </a:fillRef>
                <a:effectRef idx="2">
                  <a:schemeClr val="accent4"/>
                </a:effectRef>
                <a:fontRef idx="minor">
                  <a:schemeClr val="tx1"/>
                </a:fontRef>
              </p:style>
            </p:cxnSp>
            <p:cxnSp>
              <p:nvCxnSpPr>
                <p:cNvPr id="33" name="Straight Arrow Connector 32">
                  <a:extLst>
                    <a:ext uri="{FF2B5EF4-FFF2-40B4-BE49-F238E27FC236}">
                      <a16:creationId xmlns:a16="http://schemas.microsoft.com/office/drawing/2014/main" id="{C717788C-DE3F-C259-1C9D-82A3B80F5B46}"/>
                    </a:ext>
                  </a:extLst>
                </p:cNvPr>
                <p:cNvCxnSpPr>
                  <a:cxnSpLocks/>
                  <a:stCxn id="28" idx="6"/>
                  <a:endCxn id="29" idx="2"/>
                </p:cNvCxnSpPr>
                <p:nvPr/>
              </p:nvCxnSpPr>
              <p:spPr>
                <a:xfrm>
                  <a:off x="4175247" y="567881"/>
                  <a:ext cx="426575" cy="0"/>
                </a:xfrm>
                <a:prstGeom prst="straightConnector1">
                  <a:avLst/>
                </a:prstGeom>
                <a:ln w="38100">
                  <a:tailEnd type="triangle"/>
                </a:ln>
              </p:spPr>
              <p:style>
                <a:lnRef idx="3">
                  <a:schemeClr val="accent4"/>
                </a:lnRef>
                <a:fillRef idx="0">
                  <a:schemeClr val="accent4"/>
                </a:fillRef>
                <a:effectRef idx="2">
                  <a:schemeClr val="accent4"/>
                </a:effectRef>
                <a:fontRef idx="minor">
                  <a:schemeClr val="tx1"/>
                </a:fontRef>
              </p:style>
            </p:cxnSp>
          </p:grpSp>
          <p:sp>
            <p:nvSpPr>
              <p:cNvPr id="34" name="Right Arrow 33">
                <a:extLst>
                  <a:ext uri="{FF2B5EF4-FFF2-40B4-BE49-F238E27FC236}">
                    <a16:creationId xmlns:a16="http://schemas.microsoft.com/office/drawing/2014/main" id="{79CC965C-67F1-9595-7883-25C66AC056A1}"/>
                  </a:ext>
                </a:extLst>
              </p:cNvPr>
              <p:cNvSpPr/>
              <p:nvPr/>
            </p:nvSpPr>
            <p:spPr>
              <a:xfrm>
                <a:off x="3740399" y="4798758"/>
                <a:ext cx="2350123" cy="102969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Consolas" panose="020B0609020204030204" pitchFamily="49" charset="0"/>
                    <a:cs typeface="Consolas" panose="020B0609020204030204" pitchFamily="49" charset="0"/>
                  </a:rPr>
                  <a:t>git commit</a:t>
                </a:r>
              </a:p>
              <a:p>
                <a:pPr algn="ctr"/>
                <a:r>
                  <a:rPr lang="en-US" dirty="0">
                    <a:latin typeface="Consolas" panose="020B0609020204030204" pitchFamily="49" charset="0"/>
                    <a:cs typeface="Consolas" panose="020B0609020204030204" pitchFamily="49" charset="0"/>
                  </a:rPr>
                  <a:t>(x2)</a:t>
                </a:r>
              </a:p>
            </p:txBody>
          </p:sp>
          <p:grpSp>
            <p:nvGrpSpPr>
              <p:cNvPr id="36" name="Group 35">
                <a:extLst>
                  <a:ext uri="{FF2B5EF4-FFF2-40B4-BE49-F238E27FC236}">
                    <a16:creationId xmlns:a16="http://schemas.microsoft.com/office/drawing/2014/main" id="{D77ABE55-202F-213C-2BDB-337F7B13CC31}"/>
                  </a:ext>
                </a:extLst>
              </p:cNvPr>
              <p:cNvGrpSpPr/>
              <p:nvPr/>
            </p:nvGrpSpPr>
            <p:grpSpPr>
              <a:xfrm>
                <a:off x="633248" y="3876538"/>
                <a:ext cx="2854846" cy="1757363"/>
                <a:chOff x="265176" y="253556"/>
                <a:chExt cx="2854846" cy="1757363"/>
              </a:xfrm>
            </p:grpSpPr>
            <p:sp>
              <p:nvSpPr>
                <p:cNvPr id="38" name="Oval 37">
                  <a:extLst>
                    <a:ext uri="{FF2B5EF4-FFF2-40B4-BE49-F238E27FC236}">
                      <a16:creationId xmlns:a16="http://schemas.microsoft.com/office/drawing/2014/main" id="{5521F6CE-7834-4BC7-08EE-C2FE7F8E62A0}"/>
                    </a:ext>
                  </a:extLst>
                </p:cNvPr>
                <p:cNvSpPr/>
                <p:nvPr/>
              </p:nvSpPr>
              <p:spPr>
                <a:xfrm>
                  <a:off x="265176" y="1382269"/>
                  <a:ext cx="628650" cy="6286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m1</a:t>
                  </a:r>
                </a:p>
              </p:txBody>
            </p:sp>
            <p:sp>
              <p:nvSpPr>
                <p:cNvPr id="39" name="Oval 38">
                  <a:extLst>
                    <a:ext uri="{FF2B5EF4-FFF2-40B4-BE49-F238E27FC236}">
                      <a16:creationId xmlns:a16="http://schemas.microsoft.com/office/drawing/2014/main" id="{E9F647EE-4E77-CE00-6605-441B2BDBF0B7}"/>
                    </a:ext>
                  </a:extLst>
                </p:cNvPr>
                <p:cNvSpPr/>
                <p:nvPr/>
              </p:nvSpPr>
              <p:spPr>
                <a:xfrm>
                  <a:off x="1378274" y="1382269"/>
                  <a:ext cx="628650" cy="6286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m2</a:t>
                  </a:r>
                </a:p>
              </p:txBody>
            </p:sp>
            <p:sp>
              <p:nvSpPr>
                <p:cNvPr id="40" name="Oval 39">
                  <a:extLst>
                    <a:ext uri="{FF2B5EF4-FFF2-40B4-BE49-F238E27FC236}">
                      <a16:creationId xmlns:a16="http://schemas.microsoft.com/office/drawing/2014/main" id="{26DB872F-7571-0EBB-3525-EE843F149360}"/>
                    </a:ext>
                  </a:extLst>
                </p:cNvPr>
                <p:cNvSpPr/>
                <p:nvPr/>
              </p:nvSpPr>
              <p:spPr>
                <a:xfrm>
                  <a:off x="2491372" y="253556"/>
                  <a:ext cx="628650" cy="62865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1400" dirty="0"/>
                    <a:t>f1</a:t>
                  </a:r>
                </a:p>
              </p:txBody>
            </p:sp>
            <p:cxnSp>
              <p:nvCxnSpPr>
                <p:cNvPr id="41" name="Straight Arrow Connector 40">
                  <a:extLst>
                    <a:ext uri="{FF2B5EF4-FFF2-40B4-BE49-F238E27FC236}">
                      <a16:creationId xmlns:a16="http://schemas.microsoft.com/office/drawing/2014/main" id="{FC04F3B7-C05E-0FFA-7A99-5E46883744D7}"/>
                    </a:ext>
                  </a:extLst>
                </p:cNvPr>
                <p:cNvCxnSpPr>
                  <a:stCxn id="38" idx="6"/>
                  <a:endCxn id="39" idx="2"/>
                </p:cNvCxnSpPr>
                <p:nvPr/>
              </p:nvCxnSpPr>
              <p:spPr>
                <a:xfrm>
                  <a:off x="893826" y="1696594"/>
                  <a:ext cx="484448"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42" name="Elbow Connector 41">
                  <a:extLst>
                    <a:ext uri="{FF2B5EF4-FFF2-40B4-BE49-F238E27FC236}">
                      <a16:creationId xmlns:a16="http://schemas.microsoft.com/office/drawing/2014/main" id="{6F5C0E95-A0C8-9FDF-B242-C11B8498FA11}"/>
                    </a:ext>
                  </a:extLst>
                </p:cNvPr>
                <p:cNvCxnSpPr>
                  <a:stCxn id="39" idx="0"/>
                  <a:endCxn id="40" idx="2"/>
                </p:cNvCxnSpPr>
                <p:nvPr/>
              </p:nvCxnSpPr>
              <p:spPr>
                <a:xfrm rot="5400000" flipH="1" flipV="1">
                  <a:off x="1684791" y="575689"/>
                  <a:ext cx="814388" cy="798773"/>
                </a:xfrm>
                <a:prstGeom prst="bentConnector2">
                  <a:avLst/>
                </a:prstGeom>
                <a:ln w="38100">
                  <a:tailEnd type="triangle"/>
                </a:ln>
              </p:spPr>
              <p:style>
                <a:lnRef idx="3">
                  <a:schemeClr val="accent4"/>
                </a:lnRef>
                <a:fillRef idx="0">
                  <a:schemeClr val="accent4"/>
                </a:fillRef>
                <a:effectRef idx="2">
                  <a:schemeClr val="accent4"/>
                </a:effectRef>
                <a:fontRef idx="minor">
                  <a:schemeClr val="tx1"/>
                </a:fontRef>
              </p:style>
            </p:cxnSp>
          </p:grpSp>
        </p:grpSp>
        <p:sp>
          <p:nvSpPr>
            <p:cNvPr id="11" name="5-Point Star 10">
              <a:extLst>
                <a:ext uri="{FF2B5EF4-FFF2-40B4-BE49-F238E27FC236}">
                  <a16:creationId xmlns:a16="http://schemas.microsoft.com/office/drawing/2014/main" id="{7548DB9D-6F14-0E02-F161-D1F3B115A7B2}"/>
                </a:ext>
              </a:extLst>
            </p:cNvPr>
            <p:cNvSpPr/>
            <p:nvPr/>
          </p:nvSpPr>
          <p:spPr>
            <a:xfrm>
              <a:off x="3194515" y="4129295"/>
              <a:ext cx="337911" cy="280843"/>
            </a:xfrm>
            <a:prstGeom prst="star5">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5-Point Star 11">
              <a:extLst>
                <a:ext uri="{FF2B5EF4-FFF2-40B4-BE49-F238E27FC236}">
                  <a16:creationId xmlns:a16="http://schemas.microsoft.com/office/drawing/2014/main" id="{DF4B6F06-0742-B85E-3657-7ED52C9E5C5E}"/>
                </a:ext>
              </a:extLst>
            </p:cNvPr>
            <p:cNvSpPr/>
            <p:nvPr/>
          </p:nvSpPr>
          <p:spPr>
            <a:xfrm>
              <a:off x="11060221" y="4044200"/>
              <a:ext cx="337911" cy="280843"/>
            </a:xfrm>
            <a:prstGeom prst="star5">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3738436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212503F-B773-A738-6A37-5271ED07DC75}"/>
              </a:ext>
            </a:extLst>
          </p:cNvPr>
          <p:cNvSpPr>
            <a:spLocks noGrp="1"/>
          </p:cNvSpPr>
          <p:nvPr>
            <p:ph type="title"/>
          </p:nvPr>
        </p:nvSpPr>
        <p:spPr/>
        <p:txBody>
          <a:bodyPr/>
          <a:lstStyle/>
          <a:p>
            <a:r>
              <a:rPr lang="en-US" dirty="0"/>
              <a:t>Creating Branches</a:t>
            </a:r>
          </a:p>
        </p:txBody>
      </p:sp>
      <p:sp>
        <p:nvSpPr>
          <p:cNvPr id="2" name="Content Placeholder 1">
            <a:extLst>
              <a:ext uri="{FF2B5EF4-FFF2-40B4-BE49-F238E27FC236}">
                <a16:creationId xmlns:a16="http://schemas.microsoft.com/office/drawing/2014/main" id="{E855DDA8-9EA0-6A8D-7B18-E17E8CDDA463}"/>
              </a:ext>
            </a:extLst>
          </p:cNvPr>
          <p:cNvSpPr>
            <a:spLocks noGrp="1"/>
          </p:cNvSpPr>
          <p:nvPr>
            <p:ph idx="1"/>
          </p:nvPr>
        </p:nvSpPr>
        <p:spPr/>
        <p:txBody>
          <a:bodyPr>
            <a:normAutofit lnSpcReduction="10000"/>
          </a:bodyPr>
          <a:lstStyle/>
          <a:p>
            <a:r>
              <a:rPr lang="en-US" dirty="0"/>
              <a:t>Good practice to first pull any recent changes to the repository</a:t>
            </a:r>
          </a:p>
          <a:p>
            <a:endParaRPr lang="en-US" dirty="0"/>
          </a:p>
          <a:p>
            <a:pPr marL="0" indent="0">
              <a:buNone/>
            </a:pPr>
            <a:r>
              <a:rPr lang="en-US" dirty="0"/>
              <a:t> </a:t>
            </a:r>
          </a:p>
          <a:p>
            <a:r>
              <a:rPr lang="en-US" dirty="0"/>
              <a:t>Create a branch</a:t>
            </a:r>
          </a:p>
          <a:p>
            <a:endParaRPr lang="en-US" dirty="0"/>
          </a:p>
          <a:p>
            <a:r>
              <a:rPr lang="en-US" dirty="0"/>
              <a:t>New commits will be added to this branch</a:t>
            </a:r>
          </a:p>
          <a:p>
            <a:r>
              <a:rPr lang="en-US" dirty="0"/>
              <a:t>Publish your branch</a:t>
            </a:r>
          </a:p>
          <a:p>
            <a:endParaRPr lang="en-US" dirty="0"/>
          </a:p>
          <a:p>
            <a:r>
              <a:rPr lang="en-US" dirty="0"/>
              <a:t>Add new commits to the remote repository</a:t>
            </a:r>
          </a:p>
          <a:p>
            <a:endParaRPr lang="en-US" dirty="0"/>
          </a:p>
        </p:txBody>
      </p:sp>
      <p:sp>
        <p:nvSpPr>
          <p:cNvPr id="4" name="TextBox 3">
            <a:extLst>
              <a:ext uri="{FF2B5EF4-FFF2-40B4-BE49-F238E27FC236}">
                <a16:creationId xmlns:a16="http://schemas.microsoft.com/office/drawing/2014/main" id="{020C255E-ED01-A0E6-BF14-E3D0A621879E}"/>
              </a:ext>
            </a:extLst>
          </p:cNvPr>
          <p:cNvSpPr txBox="1"/>
          <p:nvPr/>
        </p:nvSpPr>
        <p:spPr>
          <a:xfrm>
            <a:off x="1254037" y="3666626"/>
            <a:ext cx="4456547" cy="369332"/>
          </a:xfrm>
          <a:prstGeom prst="rect">
            <a:avLst/>
          </a:prstGeom>
          <a:noFill/>
        </p:spPr>
        <p:txBody>
          <a:bodyPr wrap="square" rtlCol="0">
            <a:spAutoFit/>
          </a:bodyPr>
          <a:lstStyle/>
          <a:p>
            <a:r>
              <a:rPr lang="en-US" b="0" dirty="0">
                <a:solidFill>
                  <a:srgbClr val="A0A07D"/>
                </a:solidFill>
                <a:effectLst/>
                <a:latin typeface="Menlo" panose="020B0609030804020204" pitchFamily="49" charset="0"/>
              </a:rPr>
              <a:t>git</a:t>
            </a:r>
            <a:r>
              <a:rPr lang="en-US" b="0" dirty="0">
                <a:solidFill>
                  <a:srgbClr val="D4D4D4"/>
                </a:solidFill>
                <a:effectLst/>
                <a:latin typeface="Menlo" panose="020B0609030804020204" pitchFamily="49" charset="0"/>
              </a:rPr>
              <a:t> </a:t>
            </a:r>
            <a:r>
              <a:rPr lang="en-US" b="0" dirty="0">
                <a:solidFill>
                  <a:srgbClr val="BC846B"/>
                </a:solidFill>
                <a:effectLst/>
                <a:latin typeface="Menlo" panose="020B0609030804020204" pitchFamily="49" charset="0"/>
              </a:rPr>
              <a:t>checkout</a:t>
            </a:r>
            <a:r>
              <a:rPr lang="en-US" b="0" dirty="0">
                <a:solidFill>
                  <a:srgbClr val="D4D4D4"/>
                </a:solidFill>
                <a:effectLst/>
                <a:latin typeface="Menlo" panose="020B0609030804020204" pitchFamily="49" charset="0"/>
              </a:rPr>
              <a:t> </a:t>
            </a:r>
            <a:r>
              <a:rPr lang="en-US" b="0" dirty="0">
                <a:solidFill>
                  <a:srgbClr val="4D8BBF"/>
                </a:solidFill>
                <a:effectLst/>
                <a:latin typeface="Menlo" panose="020B0609030804020204" pitchFamily="49" charset="0"/>
              </a:rPr>
              <a:t>-b</a:t>
            </a:r>
            <a:r>
              <a:rPr lang="en-US" b="0" dirty="0">
                <a:solidFill>
                  <a:srgbClr val="D4D4D4"/>
                </a:solidFill>
                <a:effectLst/>
                <a:latin typeface="Menlo" panose="020B0609030804020204" pitchFamily="49" charset="0"/>
              </a:rPr>
              <a:t> </a:t>
            </a:r>
            <a:r>
              <a:rPr lang="en-US" b="0" dirty="0" err="1">
                <a:solidFill>
                  <a:srgbClr val="BC846B"/>
                </a:solidFill>
                <a:effectLst/>
                <a:latin typeface="Menlo" panose="020B0609030804020204" pitchFamily="49" charset="0"/>
              </a:rPr>
              <a:t>my_new_branch</a:t>
            </a:r>
            <a:endParaRPr lang="en-US" b="0" dirty="0">
              <a:solidFill>
                <a:srgbClr val="BC846B"/>
              </a:solidFill>
              <a:effectLst/>
              <a:latin typeface="Menlo" panose="020B0609030804020204" pitchFamily="49" charset="0"/>
            </a:endParaRPr>
          </a:p>
        </p:txBody>
      </p:sp>
      <p:sp>
        <p:nvSpPr>
          <p:cNvPr id="6" name="TextBox 5">
            <a:extLst>
              <a:ext uri="{FF2B5EF4-FFF2-40B4-BE49-F238E27FC236}">
                <a16:creationId xmlns:a16="http://schemas.microsoft.com/office/drawing/2014/main" id="{E6349CF1-ADC7-547E-5567-C3DBD0DD831C}"/>
              </a:ext>
            </a:extLst>
          </p:cNvPr>
          <p:cNvSpPr txBox="1"/>
          <p:nvPr/>
        </p:nvSpPr>
        <p:spPr>
          <a:xfrm>
            <a:off x="1254037" y="2278484"/>
            <a:ext cx="6102926" cy="646331"/>
          </a:xfrm>
          <a:prstGeom prst="rect">
            <a:avLst/>
          </a:prstGeom>
          <a:noFill/>
        </p:spPr>
        <p:txBody>
          <a:bodyPr wrap="square">
            <a:spAutoFit/>
          </a:bodyPr>
          <a:lstStyle/>
          <a:p>
            <a:r>
              <a:rPr lang="en-US" b="0" dirty="0">
                <a:solidFill>
                  <a:srgbClr val="A0A07D"/>
                </a:solidFill>
                <a:effectLst/>
                <a:latin typeface="Menlo" panose="020B0609030804020204" pitchFamily="49" charset="0"/>
              </a:rPr>
              <a:t>git</a:t>
            </a:r>
            <a:r>
              <a:rPr lang="en-US" b="0" dirty="0">
                <a:solidFill>
                  <a:srgbClr val="D4D4D4"/>
                </a:solidFill>
                <a:effectLst/>
                <a:latin typeface="Menlo" panose="020B0609030804020204" pitchFamily="49" charset="0"/>
              </a:rPr>
              <a:t> </a:t>
            </a:r>
            <a:r>
              <a:rPr lang="en-US" b="0" dirty="0">
                <a:solidFill>
                  <a:srgbClr val="BC846B"/>
                </a:solidFill>
                <a:effectLst/>
                <a:latin typeface="Menlo" panose="020B0609030804020204" pitchFamily="49" charset="0"/>
              </a:rPr>
              <a:t>checkout main</a:t>
            </a:r>
          </a:p>
          <a:p>
            <a:r>
              <a:rPr lang="en-US" b="0" dirty="0">
                <a:solidFill>
                  <a:srgbClr val="A0A07D"/>
                </a:solidFill>
                <a:effectLst/>
                <a:latin typeface="Menlo" panose="020B0609030804020204" pitchFamily="49" charset="0"/>
              </a:rPr>
              <a:t>git</a:t>
            </a:r>
            <a:r>
              <a:rPr lang="en-US" b="0" dirty="0">
                <a:solidFill>
                  <a:srgbClr val="D4D4D4"/>
                </a:solidFill>
                <a:effectLst/>
                <a:latin typeface="Menlo" panose="020B0609030804020204" pitchFamily="49" charset="0"/>
              </a:rPr>
              <a:t> </a:t>
            </a:r>
            <a:r>
              <a:rPr lang="en-US" b="0" dirty="0">
                <a:solidFill>
                  <a:srgbClr val="BC846B"/>
                </a:solidFill>
                <a:effectLst/>
                <a:latin typeface="Menlo" panose="020B0609030804020204" pitchFamily="49" charset="0"/>
              </a:rPr>
              <a:t>pull</a:t>
            </a:r>
          </a:p>
        </p:txBody>
      </p:sp>
      <p:sp>
        <p:nvSpPr>
          <p:cNvPr id="8" name="TextBox 7">
            <a:extLst>
              <a:ext uri="{FF2B5EF4-FFF2-40B4-BE49-F238E27FC236}">
                <a16:creationId xmlns:a16="http://schemas.microsoft.com/office/drawing/2014/main" id="{1A0AE83E-963A-CBE9-E7E3-8838E984DF31}"/>
              </a:ext>
            </a:extLst>
          </p:cNvPr>
          <p:cNvSpPr txBox="1"/>
          <p:nvPr/>
        </p:nvSpPr>
        <p:spPr>
          <a:xfrm>
            <a:off x="1254037" y="5130289"/>
            <a:ext cx="7020791" cy="369332"/>
          </a:xfrm>
          <a:prstGeom prst="rect">
            <a:avLst/>
          </a:prstGeom>
          <a:noFill/>
        </p:spPr>
        <p:txBody>
          <a:bodyPr wrap="square">
            <a:spAutoFit/>
          </a:bodyPr>
          <a:lstStyle/>
          <a:p>
            <a:r>
              <a:rPr lang="en-US" b="0" dirty="0">
                <a:solidFill>
                  <a:srgbClr val="A0A07D"/>
                </a:solidFill>
                <a:effectLst/>
                <a:latin typeface="Menlo" panose="020B0609030804020204" pitchFamily="49" charset="0"/>
              </a:rPr>
              <a:t>git</a:t>
            </a:r>
            <a:r>
              <a:rPr lang="en-US" b="0" dirty="0">
                <a:solidFill>
                  <a:srgbClr val="D4D4D4"/>
                </a:solidFill>
                <a:effectLst/>
                <a:latin typeface="Menlo" panose="020B0609030804020204" pitchFamily="49" charset="0"/>
              </a:rPr>
              <a:t> </a:t>
            </a:r>
            <a:r>
              <a:rPr lang="en-US" b="0" dirty="0">
                <a:solidFill>
                  <a:srgbClr val="BC846B"/>
                </a:solidFill>
                <a:effectLst/>
                <a:latin typeface="Menlo" panose="020B0609030804020204" pitchFamily="49" charset="0"/>
              </a:rPr>
              <a:t>push</a:t>
            </a:r>
            <a:r>
              <a:rPr lang="en-US" b="0" dirty="0">
                <a:solidFill>
                  <a:srgbClr val="D4D4D4"/>
                </a:solidFill>
                <a:effectLst/>
                <a:latin typeface="Menlo" panose="020B0609030804020204" pitchFamily="49" charset="0"/>
              </a:rPr>
              <a:t> </a:t>
            </a:r>
            <a:r>
              <a:rPr lang="en-US" b="0" dirty="0">
                <a:solidFill>
                  <a:srgbClr val="4D8BBF"/>
                </a:solidFill>
                <a:effectLst/>
                <a:latin typeface="Menlo" panose="020B0609030804020204" pitchFamily="49" charset="0"/>
              </a:rPr>
              <a:t>--set-upstream </a:t>
            </a:r>
            <a:r>
              <a:rPr lang="en-US" b="0" dirty="0">
                <a:solidFill>
                  <a:srgbClr val="BC846B"/>
                </a:solidFill>
                <a:effectLst/>
                <a:latin typeface="Menlo" panose="020B0609030804020204" pitchFamily="49" charset="0"/>
              </a:rPr>
              <a:t>origin </a:t>
            </a:r>
            <a:r>
              <a:rPr lang="en-US" b="0" dirty="0" err="1">
                <a:solidFill>
                  <a:srgbClr val="BC846B"/>
                </a:solidFill>
                <a:effectLst/>
                <a:latin typeface="Menlo" panose="020B0609030804020204" pitchFamily="49" charset="0"/>
              </a:rPr>
              <a:t>my_new_branch</a:t>
            </a:r>
            <a:endParaRPr lang="en-US" b="0" dirty="0">
              <a:solidFill>
                <a:srgbClr val="BC846B"/>
              </a:solidFill>
              <a:effectLst/>
              <a:latin typeface="Menlo" panose="020B0609030804020204" pitchFamily="49" charset="0"/>
            </a:endParaRPr>
          </a:p>
        </p:txBody>
      </p:sp>
      <p:sp>
        <p:nvSpPr>
          <p:cNvPr id="10" name="TextBox 9">
            <a:extLst>
              <a:ext uri="{FF2B5EF4-FFF2-40B4-BE49-F238E27FC236}">
                <a16:creationId xmlns:a16="http://schemas.microsoft.com/office/drawing/2014/main" id="{8EAE2CC2-32D5-732A-1DBB-2B48483A8B9F}"/>
              </a:ext>
            </a:extLst>
          </p:cNvPr>
          <p:cNvSpPr txBox="1"/>
          <p:nvPr/>
        </p:nvSpPr>
        <p:spPr>
          <a:xfrm>
            <a:off x="1254037" y="6031831"/>
            <a:ext cx="6102926" cy="369332"/>
          </a:xfrm>
          <a:prstGeom prst="rect">
            <a:avLst/>
          </a:prstGeom>
          <a:noFill/>
        </p:spPr>
        <p:txBody>
          <a:bodyPr wrap="square">
            <a:spAutoFit/>
          </a:bodyPr>
          <a:lstStyle/>
          <a:p>
            <a:r>
              <a:rPr lang="en-US" b="0" dirty="0">
                <a:solidFill>
                  <a:srgbClr val="A0A07D"/>
                </a:solidFill>
                <a:effectLst/>
                <a:latin typeface="Menlo" panose="020B0609030804020204" pitchFamily="49" charset="0"/>
              </a:rPr>
              <a:t>git</a:t>
            </a:r>
            <a:r>
              <a:rPr lang="en-US" b="0" dirty="0">
                <a:solidFill>
                  <a:srgbClr val="D4D4D4"/>
                </a:solidFill>
                <a:effectLst/>
                <a:latin typeface="Menlo" panose="020B0609030804020204" pitchFamily="49" charset="0"/>
              </a:rPr>
              <a:t> </a:t>
            </a:r>
            <a:r>
              <a:rPr lang="en-US" b="0" dirty="0">
                <a:solidFill>
                  <a:srgbClr val="BC846B"/>
                </a:solidFill>
                <a:effectLst/>
                <a:latin typeface="Menlo" panose="020B0609030804020204" pitchFamily="49" charset="0"/>
              </a:rPr>
              <a:t>push</a:t>
            </a:r>
          </a:p>
        </p:txBody>
      </p:sp>
    </p:spTree>
    <p:extLst>
      <p:ext uri="{BB962C8B-B14F-4D97-AF65-F5344CB8AC3E}">
        <p14:creationId xmlns:p14="http://schemas.microsoft.com/office/powerpoint/2010/main" val="128636878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212503F-B773-A738-6A37-5271ED07DC75}"/>
              </a:ext>
            </a:extLst>
          </p:cNvPr>
          <p:cNvSpPr>
            <a:spLocks noGrp="1"/>
          </p:cNvSpPr>
          <p:nvPr>
            <p:ph type="title"/>
          </p:nvPr>
        </p:nvSpPr>
        <p:spPr/>
        <p:txBody>
          <a:bodyPr/>
          <a:lstStyle/>
          <a:p>
            <a:r>
              <a:rPr lang="en-US" dirty="0"/>
              <a:t>Changing Branches</a:t>
            </a:r>
          </a:p>
        </p:txBody>
      </p:sp>
      <p:sp>
        <p:nvSpPr>
          <p:cNvPr id="2" name="Content Placeholder 1">
            <a:extLst>
              <a:ext uri="{FF2B5EF4-FFF2-40B4-BE49-F238E27FC236}">
                <a16:creationId xmlns:a16="http://schemas.microsoft.com/office/drawing/2014/main" id="{E855DDA8-9EA0-6A8D-7B18-E17E8CDDA463}"/>
              </a:ext>
            </a:extLst>
          </p:cNvPr>
          <p:cNvSpPr>
            <a:spLocks noGrp="1"/>
          </p:cNvSpPr>
          <p:nvPr>
            <p:ph idx="1"/>
          </p:nvPr>
        </p:nvSpPr>
        <p:spPr/>
        <p:txBody>
          <a:bodyPr/>
          <a:lstStyle/>
          <a:p>
            <a:r>
              <a:rPr lang="en-US" dirty="0"/>
              <a:t>Changing branches using the command git checkout</a:t>
            </a:r>
          </a:p>
          <a:p>
            <a:r>
              <a:rPr lang="en-US" dirty="0"/>
              <a:t>For example, to change to the main branch, run</a:t>
            </a:r>
          </a:p>
          <a:p>
            <a:endParaRPr lang="en-US" dirty="0"/>
          </a:p>
          <a:p>
            <a:r>
              <a:rPr lang="en-US" dirty="0"/>
              <a:t>The </a:t>
            </a:r>
            <a:r>
              <a:rPr lang="en-US" sz="2000" b="0" dirty="0">
                <a:solidFill>
                  <a:srgbClr val="A0A07D"/>
                </a:solidFill>
                <a:effectLst/>
                <a:latin typeface="Menlo" panose="020B0609030804020204" pitchFamily="49" charset="0"/>
              </a:rPr>
              <a:t>git</a:t>
            </a:r>
            <a:r>
              <a:rPr lang="en-US" sz="2000" b="0" dirty="0">
                <a:solidFill>
                  <a:srgbClr val="D4D4D4"/>
                </a:solidFill>
                <a:effectLst/>
                <a:latin typeface="Menlo" panose="020B0609030804020204" pitchFamily="49" charset="0"/>
              </a:rPr>
              <a:t> </a:t>
            </a:r>
            <a:r>
              <a:rPr lang="en-US" sz="2000" b="0" dirty="0">
                <a:solidFill>
                  <a:srgbClr val="BC846B"/>
                </a:solidFill>
                <a:effectLst/>
                <a:latin typeface="Menlo" panose="020B0609030804020204" pitchFamily="49" charset="0"/>
              </a:rPr>
              <a:t>status</a:t>
            </a:r>
            <a:r>
              <a:rPr lang="en-US" dirty="0"/>
              <a:t> command will display which branch you are on</a:t>
            </a:r>
          </a:p>
        </p:txBody>
      </p:sp>
      <p:sp>
        <p:nvSpPr>
          <p:cNvPr id="5" name="TextBox 4">
            <a:extLst>
              <a:ext uri="{FF2B5EF4-FFF2-40B4-BE49-F238E27FC236}">
                <a16:creationId xmlns:a16="http://schemas.microsoft.com/office/drawing/2014/main" id="{3C957ED2-E808-CDE7-432C-2A05E1D7E4B2}"/>
              </a:ext>
            </a:extLst>
          </p:cNvPr>
          <p:cNvSpPr txBox="1"/>
          <p:nvPr/>
        </p:nvSpPr>
        <p:spPr>
          <a:xfrm>
            <a:off x="1254037" y="2828989"/>
            <a:ext cx="6102926" cy="369332"/>
          </a:xfrm>
          <a:prstGeom prst="rect">
            <a:avLst/>
          </a:prstGeom>
          <a:noFill/>
        </p:spPr>
        <p:txBody>
          <a:bodyPr wrap="square">
            <a:spAutoFit/>
          </a:bodyPr>
          <a:lstStyle/>
          <a:p>
            <a:r>
              <a:rPr lang="en-US" b="0" dirty="0">
                <a:solidFill>
                  <a:srgbClr val="A0A07D"/>
                </a:solidFill>
                <a:effectLst/>
                <a:latin typeface="Menlo" panose="020B0609030804020204" pitchFamily="49" charset="0"/>
              </a:rPr>
              <a:t>git</a:t>
            </a:r>
            <a:r>
              <a:rPr lang="en-US" b="0" dirty="0">
                <a:solidFill>
                  <a:srgbClr val="D4D4D4"/>
                </a:solidFill>
                <a:effectLst/>
                <a:latin typeface="Menlo" panose="020B0609030804020204" pitchFamily="49" charset="0"/>
              </a:rPr>
              <a:t> </a:t>
            </a:r>
            <a:r>
              <a:rPr lang="en-US" b="0" dirty="0">
                <a:solidFill>
                  <a:srgbClr val="BC846B"/>
                </a:solidFill>
                <a:effectLst/>
                <a:latin typeface="Menlo" panose="020B0609030804020204" pitchFamily="49" charset="0"/>
              </a:rPr>
              <a:t>checkout main</a:t>
            </a:r>
          </a:p>
        </p:txBody>
      </p:sp>
      <p:grpSp>
        <p:nvGrpSpPr>
          <p:cNvPr id="33" name="Group 32" descr="The process of changing, or checking out a branch. From left to right: a repository with two commits on the main branch and three on the feature branch with current location on the third commit of the feature branch, followed by an arrow with the text &quot;git checkout main”, followed by the same repository with the current location now on the second commit in the main branch.&#13;&#10;">
            <a:extLst>
              <a:ext uri="{FF2B5EF4-FFF2-40B4-BE49-F238E27FC236}">
                <a16:creationId xmlns:a16="http://schemas.microsoft.com/office/drawing/2014/main" id="{D42F671E-FB08-4FA3-6C86-9FB4BAD723C6}"/>
              </a:ext>
            </a:extLst>
          </p:cNvPr>
          <p:cNvGrpSpPr/>
          <p:nvPr/>
        </p:nvGrpSpPr>
        <p:grpSpPr>
          <a:xfrm>
            <a:off x="262676" y="4212476"/>
            <a:ext cx="11666648" cy="1923355"/>
            <a:chOff x="262676" y="4212476"/>
            <a:chExt cx="11666648" cy="1923355"/>
          </a:xfrm>
        </p:grpSpPr>
        <p:grpSp>
          <p:nvGrpSpPr>
            <p:cNvPr id="31" name="Group 30" descr="The process of changing, or checking out a branch. From left to right: a repository with two commits on the main branch and three on the feature branch with current location on the third commit of the feature branch, followed by an arrow with the text &quot;git checkout main”, followed by the same repository with the current location now on the second commit in the main branch.">
              <a:extLst>
                <a:ext uri="{FF2B5EF4-FFF2-40B4-BE49-F238E27FC236}">
                  <a16:creationId xmlns:a16="http://schemas.microsoft.com/office/drawing/2014/main" id="{D403F84A-731D-46B2-F465-A4C791F71AA0}"/>
                </a:ext>
              </a:extLst>
            </p:cNvPr>
            <p:cNvGrpSpPr/>
            <p:nvPr/>
          </p:nvGrpSpPr>
          <p:grpSpPr>
            <a:xfrm>
              <a:off x="262676" y="4319415"/>
              <a:ext cx="11666648" cy="1816416"/>
              <a:chOff x="76577" y="3922236"/>
              <a:chExt cx="11666648" cy="1816416"/>
            </a:xfrm>
          </p:grpSpPr>
          <p:grpSp>
            <p:nvGrpSpPr>
              <p:cNvPr id="7" name="Group 6">
                <a:extLst>
                  <a:ext uri="{FF2B5EF4-FFF2-40B4-BE49-F238E27FC236}">
                    <a16:creationId xmlns:a16="http://schemas.microsoft.com/office/drawing/2014/main" id="{E91D652A-33A0-1CFC-F3B4-ED53CB74B716}"/>
                  </a:ext>
                </a:extLst>
              </p:cNvPr>
              <p:cNvGrpSpPr/>
              <p:nvPr/>
            </p:nvGrpSpPr>
            <p:grpSpPr>
              <a:xfrm>
                <a:off x="76577" y="3922236"/>
                <a:ext cx="4965296" cy="1757363"/>
                <a:chOff x="265176" y="253556"/>
                <a:chExt cx="4965296" cy="1757363"/>
              </a:xfrm>
            </p:grpSpPr>
            <p:sp>
              <p:nvSpPr>
                <p:cNvPr id="9" name="Oval 8">
                  <a:extLst>
                    <a:ext uri="{FF2B5EF4-FFF2-40B4-BE49-F238E27FC236}">
                      <a16:creationId xmlns:a16="http://schemas.microsoft.com/office/drawing/2014/main" id="{F939BB41-7123-415B-CA38-E1F2809EBBF8}"/>
                    </a:ext>
                  </a:extLst>
                </p:cNvPr>
                <p:cNvSpPr/>
                <p:nvPr/>
              </p:nvSpPr>
              <p:spPr>
                <a:xfrm>
                  <a:off x="265176" y="1382269"/>
                  <a:ext cx="628650" cy="6286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m1</a:t>
                  </a:r>
                </a:p>
              </p:txBody>
            </p:sp>
            <p:sp>
              <p:nvSpPr>
                <p:cNvPr id="10" name="Oval 9">
                  <a:extLst>
                    <a:ext uri="{FF2B5EF4-FFF2-40B4-BE49-F238E27FC236}">
                      <a16:creationId xmlns:a16="http://schemas.microsoft.com/office/drawing/2014/main" id="{9B3817E6-5012-4A47-13A0-1426AB680434}"/>
                    </a:ext>
                  </a:extLst>
                </p:cNvPr>
                <p:cNvSpPr/>
                <p:nvPr/>
              </p:nvSpPr>
              <p:spPr>
                <a:xfrm>
                  <a:off x="1378274" y="1382269"/>
                  <a:ext cx="628650" cy="6286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m2</a:t>
                  </a:r>
                </a:p>
              </p:txBody>
            </p:sp>
            <p:sp>
              <p:nvSpPr>
                <p:cNvPr id="11" name="Oval 10">
                  <a:extLst>
                    <a:ext uri="{FF2B5EF4-FFF2-40B4-BE49-F238E27FC236}">
                      <a16:creationId xmlns:a16="http://schemas.microsoft.com/office/drawing/2014/main" id="{C1171D93-B44F-6C30-7842-0ACFD5C1AC0D}"/>
                    </a:ext>
                  </a:extLst>
                </p:cNvPr>
                <p:cNvSpPr/>
                <p:nvPr/>
              </p:nvSpPr>
              <p:spPr>
                <a:xfrm>
                  <a:off x="2491372" y="253556"/>
                  <a:ext cx="628650" cy="62865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1400" dirty="0"/>
                    <a:t>f1</a:t>
                  </a:r>
                </a:p>
              </p:txBody>
            </p:sp>
            <p:sp>
              <p:nvSpPr>
                <p:cNvPr id="12" name="Oval 11">
                  <a:extLst>
                    <a:ext uri="{FF2B5EF4-FFF2-40B4-BE49-F238E27FC236}">
                      <a16:creationId xmlns:a16="http://schemas.microsoft.com/office/drawing/2014/main" id="{C7294629-54D1-E02A-3AD5-3CA0993D6B26}"/>
                    </a:ext>
                  </a:extLst>
                </p:cNvPr>
                <p:cNvSpPr/>
                <p:nvPr/>
              </p:nvSpPr>
              <p:spPr>
                <a:xfrm>
                  <a:off x="3546597" y="253556"/>
                  <a:ext cx="628650" cy="62865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1400" dirty="0"/>
                    <a:t>f2</a:t>
                  </a:r>
                </a:p>
              </p:txBody>
            </p:sp>
            <p:sp>
              <p:nvSpPr>
                <p:cNvPr id="13" name="Oval 12">
                  <a:extLst>
                    <a:ext uri="{FF2B5EF4-FFF2-40B4-BE49-F238E27FC236}">
                      <a16:creationId xmlns:a16="http://schemas.microsoft.com/office/drawing/2014/main" id="{6E393931-54FA-DA1F-C454-40F34F20BA34}"/>
                    </a:ext>
                  </a:extLst>
                </p:cNvPr>
                <p:cNvSpPr/>
                <p:nvPr/>
              </p:nvSpPr>
              <p:spPr>
                <a:xfrm>
                  <a:off x="4601822" y="253556"/>
                  <a:ext cx="628650" cy="62865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1400" dirty="0"/>
                    <a:t>f3</a:t>
                  </a:r>
                </a:p>
              </p:txBody>
            </p:sp>
            <p:cxnSp>
              <p:nvCxnSpPr>
                <p:cNvPr id="14" name="Straight Arrow Connector 13">
                  <a:extLst>
                    <a:ext uri="{FF2B5EF4-FFF2-40B4-BE49-F238E27FC236}">
                      <a16:creationId xmlns:a16="http://schemas.microsoft.com/office/drawing/2014/main" id="{725A47A7-0C98-5243-7B17-9E65CA33060B}"/>
                    </a:ext>
                  </a:extLst>
                </p:cNvPr>
                <p:cNvCxnSpPr>
                  <a:stCxn id="9" idx="6"/>
                  <a:endCxn id="10" idx="2"/>
                </p:cNvCxnSpPr>
                <p:nvPr/>
              </p:nvCxnSpPr>
              <p:spPr>
                <a:xfrm>
                  <a:off x="893826" y="1696594"/>
                  <a:ext cx="484448"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5" name="Elbow Connector 14">
                  <a:extLst>
                    <a:ext uri="{FF2B5EF4-FFF2-40B4-BE49-F238E27FC236}">
                      <a16:creationId xmlns:a16="http://schemas.microsoft.com/office/drawing/2014/main" id="{25D34B3D-BC7F-20F8-D4C3-D04375086D00}"/>
                    </a:ext>
                  </a:extLst>
                </p:cNvPr>
                <p:cNvCxnSpPr>
                  <a:stCxn id="10" idx="0"/>
                  <a:endCxn id="11" idx="2"/>
                </p:cNvCxnSpPr>
                <p:nvPr/>
              </p:nvCxnSpPr>
              <p:spPr>
                <a:xfrm rot="5400000" flipH="1" flipV="1">
                  <a:off x="1684791" y="575689"/>
                  <a:ext cx="814388" cy="798773"/>
                </a:xfrm>
                <a:prstGeom prst="bentConnector2">
                  <a:avLst/>
                </a:prstGeom>
                <a:ln w="38100">
                  <a:tailEnd type="triangle"/>
                </a:ln>
              </p:spPr>
              <p:style>
                <a:lnRef idx="3">
                  <a:schemeClr val="accent4"/>
                </a:lnRef>
                <a:fillRef idx="0">
                  <a:schemeClr val="accent4"/>
                </a:fillRef>
                <a:effectRef idx="2">
                  <a:schemeClr val="accent4"/>
                </a:effectRef>
                <a:fontRef idx="minor">
                  <a:schemeClr val="tx1"/>
                </a:fontRef>
              </p:style>
            </p:cxnSp>
            <p:cxnSp>
              <p:nvCxnSpPr>
                <p:cNvPr id="16" name="Straight Arrow Connector 15">
                  <a:extLst>
                    <a:ext uri="{FF2B5EF4-FFF2-40B4-BE49-F238E27FC236}">
                      <a16:creationId xmlns:a16="http://schemas.microsoft.com/office/drawing/2014/main" id="{1E533D3B-CB2B-2084-6473-FC291EA1A695}"/>
                    </a:ext>
                  </a:extLst>
                </p:cNvPr>
                <p:cNvCxnSpPr>
                  <a:cxnSpLocks/>
                  <a:stCxn id="11" idx="6"/>
                  <a:endCxn id="12" idx="2"/>
                </p:cNvCxnSpPr>
                <p:nvPr/>
              </p:nvCxnSpPr>
              <p:spPr>
                <a:xfrm>
                  <a:off x="3120022" y="567881"/>
                  <a:ext cx="426575" cy="0"/>
                </a:xfrm>
                <a:prstGeom prst="straightConnector1">
                  <a:avLst/>
                </a:prstGeom>
                <a:ln w="38100">
                  <a:tailEnd type="triangle"/>
                </a:ln>
              </p:spPr>
              <p:style>
                <a:lnRef idx="3">
                  <a:schemeClr val="accent4"/>
                </a:lnRef>
                <a:fillRef idx="0">
                  <a:schemeClr val="accent4"/>
                </a:fillRef>
                <a:effectRef idx="2">
                  <a:schemeClr val="accent4"/>
                </a:effectRef>
                <a:fontRef idx="minor">
                  <a:schemeClr val="tx1"/>
                </a:fontRef>
              </p:style>
            </p:cxnSp>
            <p:cxnSp>
              <p:nvCxnSpPr>
                <p:cNvPr id="17" name="Straight Arrow Connector 16">
                  <a:extLst>
                    <a:ext uri="{FF2B5EF4-FFF2-40B4-BE49-F238E27FC236}">
                      <a16:creationId xmlns:a16="http://schemas.microsoft.com/office/drawing/2014/main" id="{CBBBCA1A-3DF7-961C-41D5-6417E4163F46}"/>
                    </a:ext>
                  </a:extLst>
                </p:cNvPr>
                <p:cNvCxnSpPr>
                  <a:cxnSpLocks/>
                  <a:stCxn id="12" idx="6"/>
                  <a:endCxn id="13" idx="2"/>
                </p:cNvCxnSpPr>
                <p:nvPr/>
              </p:nvCxnSpPr>
              <p:spPr>
                <a:xfrm>
                  <a:off x="4175247" y="567881"/>
                  <a:ext cx="426575" cy="0"/>
                </a:xfrm>
                <a:prstGeom prst="straightConnector1">
                  <a:avLst/>
                </a:prstGeom>
                <a:ln w="38100">
                  <a:tailEnd type="triangle"/>
                </a:ln>
              </p:spPr>
              <p:style>
                <a:lnRef idx="3">
                  <a:schemeClr val="accent4"/>
                </a:lnRef>
                <a:fillRef idx="0">
                  <a:schemeClr val="accent4"/>
                </a:fillRef>
                <a:effectRef idx="2">
                  <a:schemeClr val="accent4"/>
                </a:effectRef>
                <a:fontRef idx="minor">
                  <a:schemeClr val="tx1"/>
                </a:fontRef>
              </p:style>
            </p:cxnSp>
          </p:grpSp>
          <p:grpSp>
            <p:nvGrpSpPr>
              <p:cNvPr id="19" name="Group 18">
                <a:extLst>
                  <a:ext uri="{FF2B5EF4-FFF2-40B4-BE49-F238E27FC236}">
                    <a16:creationId xmlns:a16="http://schemas.microsoft.com/office/drawing/2014/main" id="{B8584CD3-C7A1-D75B-ECE4-F539A25FF23F}"/>
                  </a:ext>
                </a:extLst>
              </p:cNvPr>
              <p:cNvGrpSpPr/>
              <p:nvPr/>
            </p:nvGrpSpPr>
            <p:grpSpPr>
              <a:xfrm>
                <a:off x="6777929" y="3981289"/>
                <a:ext cx="4965296" cy="1757363"/>
                <a:chOff x="265176" y="253556"/>
                <a:chExt cx="4965296" cy="1757363"/>
              </a:xfrm>
            </p:grpSpPr>
            <p:sp>
              <p:nvSpPr>
                <p:cNvPr id="21" name="Oval 20">
                  <a:extLst>
                    <a:ext uri="{FF2B5EF4-FFF2-40B4-BE49-F238E27FC236}">
                      <a16:creationId xmlns:a16="http://schemas.microsoft.com/office/drawing/2014/main" id="{0192712C-44B9-EB68-363E-E38D496CBB91}"/>
                    </a:ext>
                  </a:extLst>
                </p:cNvPr>
                <p:cNvSpPr/>
                <p:nvPr/>
              </p:nvSpPr>
              <p:spPr>
                <a:xfrm>
                  <a:off x="265176" y="1382269"/>
                  <a:ext cx="628650" cy="6286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m1</a:t>
                  </a:r>
                </a:p>
              </p:txBody>
            </p:sp>
            <p:sp>
              <p:nvSpPr>
                <p:cNvPr id="22" name="Oval 21">
                  <a:extLst>
                    <a:ext uri="{FF2B5EF4-FFF2-40B4-BE49-F238E27FC236}">
                      <a16:creationId xmlns:a16="http://schemas.microsoft.com/office/drawing/2014/main" id="{A903A0CD-7503-FE17-B401-D76A2EF9CECB}"/>
                    </a:ext>
                  </a:extLst>
                </p:cNvPr>
                <p:cNvSpPr/>
                <p:nvPr/>
              </p:nvSpPr>
              <p:spPr>
                <a:xfrm>
                  <a:off x="1378274" y="1382269"/>
                  <a:ext cx="628650" cy="6286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m2</a:t>
                  </a:r>
                </a:p>
              </p:txBody>
            </p:sp>
            <p:sp>
              <p:nvSpPr>
                <p:cNvPr id="23" name="Oval 22">
                  <a:extLst>
                    <a:ext uri="{FF2B5EF4-FFF2-40B4-BE49-F238E27FC236}">
                      <a16:creationId xmlns:a16="http://schemas.microsoft.com/office/drawing/2014/main" id="{2CDCC000-7DD6-C1D8-F6EE-D0BCBFDCC833}"/>
                    </a:ext>
                  </a:extLst>
                </p:cNvPr>
                <p:cNvSpPr/>
                <p:nvPr/>
              </p:nvSpPr>
              <p:spPr>
                <a:xfrm>
                  <a:off x="2491372" y="253556"/>
                  <a:ext cx="628650" cy="62865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1400" dirty="0"/>
                    <a:t>f1</a:t>
                  </a:r>
                </a:p>
              </p:txBody>
            </p:sp>
            <p:sp>
              <p:nvSpPr>
                <p:cNvPr id="24" name="Oval 23">
                  <a:extLst>
                    <a:ext uri="{FF2B5EF4-FFF2-40B4-BE49-F238E27FC236}">
                      <a16:creationId xmlns:a16="http://schemas.microsoft.com/office/drawing/2014/main" id="{1B032590-0A3D-3C03-13F7-D47F3FEBF7CE}"/>
                    </a:ext>
                  </a:extLst>
                </p:cNvPr>
                <p:cNvSpPr/>
                <p:nvPr/>
              </p:nvSpPr>
              <p:spPr>
                <a:xfrm>
                  <a:off x="3546597" y="253556"/>
                  <a:ext cx="628650" cy="62865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1400" dirty="0"/>
                    <a:t>f2</a:t>
                  </a:r>
                </a:p>
              </p:txBody>
            </p:sp>
            <p:sp>
              <p:nvSpPr>
                <p:cNvPr id="25" name="Oval 24">
                  <a:extLst>
                    <a:ext uri="{FF2B5EF4-FFF2-40B4-BE49-F238E27FC236}">
                      <a16:creationId xmlns:a16="http://schemas.microsoft.com/office/drawing/2014/main" id="{CF50FA88-D7AF-F57C-D0FA-A5F29B2446C7}"/>
                    </a:ext>
                  </a:extLst>
                </p:cNvPr>
                <p:cNvSpPr/>
                <p:nvPr/>
              </p:nvSpPr>
              <p:spPr>
                <a:xfrm>
                  <a:off x="4601822" y="253556"/>
                  <a:ext cx="628650" cy="62865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1400" dirty="0"/>
                    <a:t>f3</a:t>
                  </a:r>
                </a:p>
              </p:txBody>
            </p:sp>
            <p:cxnSp>
              <p:nvCxnSpPr>
                <p:cNvPr id="26" name="Straight Arrow Connector 25">
                  <a:extLst>
                    <a:ext uri="{FF2B5EF4-FFF2-40B4-BE49-F238E27FC236}">
                      <a16:creationId xmlns:a16="http://schemas.microsoft.com/office/drawing/2014/main" id="{27BB50B1-D4A4-7939-DD4F-A5E33CE5D78E}"/>
                    </a:ext>
                  </a:extLst>
                </p:cNvPr>
                <p:cNvCxnSpPr>
                  <a:stCxn id="21" idx="6"/>
                  <a:endCxn id="22" idx="2"/>
                </p:cNvCxnSpPr>
                <p:nvPr/>
              </p:nvCxnSpPr>
              <p:spPr>
                <a:xfrm>
                  <a:off x="893826" y="1696594"/>
                  <a:ext cx="484448"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7" name="Elbow Connector 26">
                  <a:extLst>
                    <a:ext uri="{FF2B5EF4-FFF2-40B4-BE49-F238E27FC236}">
                      <a16:creationId xmlns:a16="http://schemas.microsoft.com/office/drawing/2014/main" id="{57DED37F-AC79-1927-38C5-46CC11A2ECEF}"/>
                    </a:ext>
                  </a:extLst>
                </p:cNvPr>
                <p:cNvCxnSpPr>
                  <a:stCxn id="22" idx="0"/>
                  <a:endCxn id="23" idx="2"/>
                </p:cNvCxnSpPr>
                <p:nvPr/>
              </p:nvCxnSpPr>
              <p:spPr>
                <a:xfrm rot="5400000" flipH="1" flipV="1">
                  <a:off x="1684791" y="575689"/>
                  <a:ext cx="814388" cy="798773"/>
                </a:xfrm>
                <a:prstGeom prst="bentConnector2">
                  <a:avLst/>
                </a:prstGeom>
                <a:ln w="38100">
                  <a:tailEnd type="triangle"/>
                </a:ln>
              </p:spPr>
              <p:style>
                <a:lnRef idx="3">
                  <a:schemeClr val="accent4"/>
                </a:lnRef>
                <a:fillRef idx="0">
                  <a:schemeClr val="accent4"/>
                </a:fillRef>
                <a:effectRef idx="2">
                  <a:schemeClr val="accent4"/>
                </a:effectRef>
                <a:fontRef idx="minor">
                  <a:schemeClr val="tx1"/>
                </a:fontRef>
              </p:style>
            </p:cxnSp>
            <p:cxnSp>
              <p:nvCxnSpPr>
                <p:cNvPr id="28" name="Straight Arrow Connector 27">
                  <a:extLst>
                    <a:ext uri="{FF2B5EF4-FFF2-40B4-BE49-F238E27FC236}">
                      <a16:creationId xmlns:a16="http://schemas.microsoft.com/office/drawing/2014/main" id="{9340A18C-415E-B327-0FDD-73C0ACD9BF0F}"/>
                    </a:ext>
                  </a:extLst>
                </p:cNvPr>
                <p:cNvCxnSpPr>
                  <a:cxnSpLocks/>
                  <a:stCxn id="23" idx="6"/>
                  <a:endCxn id="24" idx="2"/>
                </p:cNvCxnSpPr>
                <p:nvPr/>
              </p:nvCxnSpPr>
              <p:spPr>
                <a:xfrm>
                  <a:off x="3120022" y="567881"/>
                  <a:ext cx="426575" cy="0"/>
                </a:xfrm>
                <a:prstGeom prst="straightConnector1">
                  <a:avLst/>
                </a:prstGeom>
                <a:ln w="38100">
                  <a:tailEnd type="triangle"/>
                </a:ln>
              </p:spPr>
              <p:style>
                <a:lnRef idx="3">
                  <a:schemeClr val="accent4"/>
                </a:lnRef>
                <a:fillRef idx="0">
                  <a:schemeClr val="accent4"/>
                </a:fillRef>
                <a:effectRef idx="2">
                  <a:schemeClr val="accent4"/>
                </a:effectRef>
                <a:fontRef idx="minor">
                  <a:schemeClr val="tx1"/>
                </a:fontRef>
              </p:style>
            </p:cxnSp>
            <p:cxnSp>
              <p:nvCxnSpPr>
                <p:cNvPr id="29" name="Straight Arrow Connector 28">
                  <a:extLst>
                    <a:ext uri="{FF2B5EF4-FFF2-40B4-BE49-F238E27FC236}">
                      <a16:creationId xmlns:a16="http://schemas.microsoft.com/office/drawing/2014/main" id="{62BBF61B-31BE-9643-3588-F53855F08A7D}"/>
                    </a:ext>
                  </a:extLst>
                </p:cNvPr>
                <p:cNvCxnSpPr>
                  <a:cxnSpLocks/>
                  <a:stCxn id="24" idx="6"/>
                  <a:endCxn id="25" idx="2"/>
                </p:cNvCxnSpPr>
                <p:nvPr/>
              </p:nvCxnSpPr>
              <p:spPr>
                <a:xfrm>
                  <a:off x="4175247" y="567881"/>
                  <a:ext cx="426575" cy="0"/>
                </a:xfrm>
                <a:prstGeom prst="straightConnector1">
                  <a:avLst/>
                </a:prstGeom>
                <a:ln w="38100">
                  <a:tailEnd type="triangle"/>
                </a:ln>
              </p:spPr>
              <p:style>
                <a:lnRef idx="3">
                  <a:schemeClr val="accent4"/>
                </a:lnRef>
                <a:fillRef idx="0">
                  <a:schemeClr val="accent4"/>
                </a:fillRef>
                <a:effectRef idx="2">
                  <a:schemeClr val="accent4"/>
                </a:effectRef>
                <a:fontRef idx="minor">
                  <a:schemeClr val="tx1"/>
                </a:fontRef>
              </p:style>
            </p:cxnSp>
          </p:grpSp>
          <p:sp>
            <p:nvSpPr>
              <p:cNvPr id="30" name="Right Arrow 29">
                <a:extLst>
                  <a:ext uri="{FF2B5EF4-FFF2-40B4-BE49-F238E27FC236}">
                    <a16:creationId xmlns:a16="http://schemas.microsoft.com/office/drawing/2014/main" id="{7A605265-AA56-C638-4E65-1C7238A905C9}"/>
                  </a:ext>
                </a:extLst>
              </p:cNvPr>
              <p:cNvSpPr/>
              <p:nvPr/>
            </p:nvSpPr>
            <p:spPr>
              <a:xfrm>
                <a:off x="4516478" y="4550886"/>
                <a:ext cx="2342154" cy="96313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latin typeface="Consolas" panose="020B0609020204030204" pitchFamily="49" charset="0"/>
                    <a:cs typeface="Consolas" panose="020B0609020204030204" pitchFamily="49" charset="0"/>
                  </a:rPr>
                  <a:t>git checkout main</a:t>
                </a:r>
                <a:endParaRPr lang="en-US" sz="1600" dirty="0"/>
              </a:p>
            </p:txBody>
          </p:sp>
        </p:grpSp>
        <p:sp>
          <p:nvSpPr>
            <p:cNvPr id="4" name="5-Point Star 3">
              <a:extLst>
                <a:ext uri="{FF2B5EF4-FFF2-40B4-BE49-F238E27FC236}">
                  <a16:creationId xmlns:a16="http://schemas.microsoft.com/office/drawing/2014/main" id="{25DD4713-A077-103E-5825-9D701F7698D1}"/>
                </a:ext>
              </a:extLst>
            </p:cNvPr>
            <p:cNvSpPr/>
            <p:nvPr/>
          </p:nvSpPr>
          <p:spPr>
            <a:xfrm>
              <a:off x="5008867" y="4212476"/>
              <a:ext cx="337911" cy="280843"/>
            </a:xfrm>
            <a:prstGeom prst="star5">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5-Point Star 31">
              <a:extLst>
                <a:ext uri="{FF2B5EF4-FFF2-40B4-BE49-F238E27FC236}">
                  <a16:creationId xmlns:a16="http://schemas.microsoft.com/office/drawing/2014/main" id="{B17CD9BB-EEF8-0681-D3A2-5BCDF8BA59B5}"/>
                </a:ext>
              </a:extLst>
            </p:cNvPr>
            <p:cNvSpPr/>
            <p:nvPr/>
          </p:nvSpPr>
          <p:spPr>
            <a:xfrm>
              <a:off x="8496517" y="5507180"/>
              <a:ext cx="337911" cy="280843"/>
            </a:xfrm>
            <a:prstGeom prst="star5">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402195337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212503F-B773-A738-6A37-5271ED07DC75}"/>
              </a:ext>
            </a:extLst>
          </p:cNvPr>
          <p:cNvSpPr>
            <a:spLocks noGrp="1"/>
          </p:cNvSpPr>
          <p:nvPr>
            <p:ph type="title"/>
          </p:nvPr>
        </p:nvSpPr>
        <p:spPr/>
        <p:txBody>
          <a:bodyPr/>
          <a:lstStyle/>
          <a:p>
            <a:r>
              <a:rPr lang="en-US" dirty="0"/>
              <a:t>Merging Branches</a:t>
            </a:r>
          </a:p>
        </p:txBody>
      </p:sp>
      <p:sp>
        <p:nvSpPr>
          <p:cNvPr id="2" name="Content Placeholder 1">
            <a:extLst>
              <a:ext uri="{FF2B5EF4-FFF2-40B4-BE49-F238E27FC236}">
                <a16:creationId xmlns:a16="http://schemas.microsoft.com/office/drawing/2014/main" id="{E855DDA8-9EA0-6A8D-7B18-E17E8CDDA463}"/>
              </a:ext>
            </a:extLst>
          </p:cNvPr>
          <p:cNvSpPr>
            <a:spLocks noGrp="1"/>
          </p:cNvSpPr>
          <p:nvPr>
            <p:ph idx="1"/>
          </p:nvPr>
        </p:nvSpPr>
        <p:spPr>
          <a:xfrm>
            <a:off x="838200" y="1825625"/>
            <a:ext cx="4780973" cy="3829921"/>
          </a:xfrm>
        </p:spPr>
        <p:txBody>
          <a:bodyPr>
            <a:normAutofit lnSpcReduction="10000"/>
          </a:bodyPr>
          <a:lstStyle/>
          <a:p>
            <a:r>
              <a:rPr lang="en-US" dirty="0"/>
              <a:t>Bring changes from one branch into another with a merge</a:t>
            </a:r>
          </a:p>
          <a:p>
            <a:endParaRPr lang="en-US" dirty="0"/>
          </a:p>
          <a:p>
            <a:r>
              <a:rPr lang="en-US" dirty="0"/>
              <a:t>This command brings changes from </a:t>
            </a:r>
            <a:r>
              <a:rPr lang="en-US" sz="2400" b="0" dirty="0" err="1">
                <a:solidFill>
                  <a:srgbClr val="BC846B"/>
                </a:solidFill>
                <a:effectLst/>
                <a:latin typeface="Menlo" panose="020B0609030804020204" pitchFamily="49" charset="0"/>
              </a:rPr>
              <a:t>branch_name</a:t>
            </a:r>
            <a:r>
              <a:rPr lang="en-US" sz="2400" dirty="0">
                <a:solidFill>
                  <a:srgbClr val="BC846B"/>
                </a:solidFill>
              </a:rPr>
              <a:t> </a:t>
            </a:r>
            <a:r>
              <a:rPr lang="en-US" dirty="0"/>
              <a:t>to the current branch</a:t>
            </a:r>
          </a:p>
          <a:p>
            <a:r>
              <a:rPr lang="en-US" dirty="0"/>
              <a:t>To merge new changes from main into </a:t>
            </a:r>
            <a:r>
              <a:rPr lang="en-US" dirty="0" err="1"/>
              <a:t>my_new_branch</a:t>
            </a:r>
            <a:endParaRPr lang="en-US" dirty="0"/>
          </a:p>
          <a:p>
            <a:endParaRPr lang="en-US" dirty="0"/>
          </a:p>
        </p:txBody>
      </p:sp>
      <p:sp>
        <p:nvSpPr>
          <p:cNvPr id="5" name="TextBox 4">
            <a:extLst>
              <a:ext uri="{FF2B5EF4-FFF2-40B4-BE49-F238E27FC236}">
                <a16:creationId xmlns:a16="http://schemas.microsoft.com/office/drawing/2014/main" id="{A6DEB9B5-7813-3E78-F231-9386D8D3BAC3}"/>
              </a:ext>
            </a:extLst>
          </p:cNvPr>
          <p:cNvSpPr txBox="1"/>
          <p:nvPr/>
        </p:nvSpPr>
        <p:spPr>
          <a:xfrm>
            <a:off x="1254037" y="2986792"/>
            <a:ext cx="6106884" cy="369332"/>
          </a:xfrm>
          <a:prstGeom prst="rect">
            <a:avLst/>
          </a:prstGeom>
          <a:noFill/>
        </p:spPr>
        <p:txBody>
          <a:bodyPr wrap="square">
            <a:spAutoFit/>
          </a:bodyPr>
          <a:lstStyle/>
          <a:p>
            <a:r>
              <a:rPr lang="en-US" b="0" dirty="0">
                <a:solidFill>
                  <a:srgbClr val="A0A07D"/>
                </a:solidFill>
                <a:effectLst/>
                <a:latin typeface="Menlo" panose="020B0609030804020204" pitchFamily="49" charset="0"/>
              </a:rPr>
              <a:t>git</a:t>
            </a:r>
            <a:r>
              <a:rPr lang="en-US" b="0" dirty="0">
                <a:solidFill>
                  <a:srgbClr val="D4D4D4"/>
                </a:solidFill>
                <a:effectLst/>
                <a:latin typeface="Menlo" panose="020B0609030804020204" pitchFamily="49" charset="0"/>
              </a:rPr>
              <a:t> </a:t>
            </a:r>
            <a:r>
              <a:rPr lang="en-US" b="0" dirty="0">
                <a:solidFill>
                  <a:srgbClr val="BC846B"/>
                </a:solidFill>
                <a:effectLst/>
                <a:latin typeface="Menlo" panose="020B0609030804020204" pitchFamily="49" charset="0"/>
              </a:rPr>
              <a:t>merge </a:t>
            </a:r>
            <a:r>
              <a:rPr lang="en-US" b="0" dirty="0" err="1">
                <a:solidFill>
                  <a:srgbClr val="BC846B"/>
                </a:solidFill>
                <a:effectLst/>
                <a:latin typeface="Menlo" panose="020B0609030804020204" pitchFamily="49" charset="0"/>
              </a:rPr>
              <a:t>branch_name</a:t>
            </a:r>
            <a:endParaRPr lang="en-US" b="0" dirty="0">
              <a:solidFill>
                <a:srgbClr val="BC846B"/>
              </a:solidFill>
              <a:effectLst/>
              <a:latin typeface="Menlo" panose="020B0609030804020204" pitchFamily="49" charset="0"/>
            </a:endParaRPr>
          </a:p>
        </p:txBody>
      </p:sp>
      <p:sp>
        <p:nvSpPr>
          <p:cNvPr id="7" name="TextBox 6">
            <a:extLst>
              <a:ext uri="{FF2B5EF4-FFF2-40B4-BE49-F238E27FC236}">
                <a16:creationId xmlns:a16="http://schemas.microsoft.com/office/drawing/2014/main" id="{CBEEB423-8D3B-18E6-219B-87F0E0C49988}"/>
              </a:ext>
            </a:extLst>
          </p:cNvPr>
          <p:cNvSpPr txBox="1"/>
          <p:nvPr/>
        </p:nvSpPr>
        <p:spPr>
          <a:xfrm>
            <a:off x="1254037" y="5449221"/>
            <a:ext cx="6106884" cy="646331"/>
          </a:xfrm>
          <a:prstGeom prst="rect">
            <a:avLst/>
          </a:prstGeom>
          <a:noFill/>
        </p:spPr>
        <p:txBody>
          <a:bodyPr wrap="square">
            <a:spAutoFit/>
          </a:bodyPr>
          <a:lstStyle/>
          <a:p>
            <a:r>
              <a:rPr lang="en-US" b="0" dirty="0">
                <a:solidFill>
                  <a:srgbClr val="A0A07D"/>
                </a:solidFill>
                <a:effectLst/>
                <a:latin typeface="Menlo" panose="020B0609030804020204" pitchFamily="49" charset="0"/>
              </a:rPr>
              <a:t>git</a:t>
            </a:r>
            <a:r>
              <a:rPr lang="en-US" b="0" dirty="0">
                <a:solidFill>
                  <a:srgbClr val="D4D4D4"/>
                </a:solidFill>
                <a:effectLst/>
                <a:latin typeface="Menlo" panose="020B0609030804020204" pitchFamily="49" charset="0"/>
              </a:rPr>
              <a:t> </a:t>
            </a:r>
            <a:r>
              <a:rPr lang="en-US" b="0" dirty="0">
                <a:solidFill>
                  <a:srgbClr val="BC846B"/>
                </a:solidFill>
                <a:effectLst/>
                <a:latin typeface="Menlo" panose="020B0609030804020204" pitchFamily="49" charset="0"/>
              </a:rPr>
              <a:t>checkout </a:t>
            </a:r>
            <a:r>
              <a:rPr lang="en-US" b="0" dirty="0" err="1">
                <a:solidFill>
                  <a:srgbClr val="BC846B"/>
                </a:solidFill>
                <a:effectLst/>
                <a:latin typeface="Menlo" panose="020B0609030804020204" pitchFamily="49" charset="0"/>
              </a:rPr>
              <a:t>my_new_branch</a:t>
            </a:r>
            <a:endParaRPr lang="en-US" b="0" dirty="0">
              <a:solidFill>
                <a:srgbClr val="BC846B"/>
              </a:solidFill>
              <a:effectLst/>
              <a:latin typeface="Menlo" panose="020B0609030804020204" pitchFamily="49" charset="0"/>
            </a:endParaRPr>
          </a:p>
          <a:p>
            <a:r>
              <a:rPr lang="en-US" b="0" dirty="0">
                <a:solidFill>
                  <a:srgbClr val="A0A07D"/>
                </a:solidFill>
                <a:effectLst/>
                <a:latin typeface="Menlo" panose="020B0609030804020204" pitchFamily="49" charset="0"/>
              </a:rPr>
              <a:t>git</a:t>
            </a:r>
            <a:r>
              <a:rPr lang="en-US" b="0" dirty="0">
                <a:solidFill>
                  <a:srgbClr val="D4D4D4"/>
                </a:solidFill>
                <a:effectLst/>
                <a:latin typeface="Menlo" panose="020B0609030804020204" pitchFamily="49" charset="0"/>
              </a:rPr>
              <a:t> </a:t>
            </a:r>
            <a:r>
              <a:rPr lang="en-US" b="0" dirty="0">
                <a:solidFill>
                  <a:srgbClr val="BC846B"/>
                </a:solidFill>
                <a:effectLst/>
                <a:latin typeface="Menlo" panose="020B0609030804020204" pitchFamily="49" charset="0"/>
              </a:rPr>
              <a:t>merge main</a:t>
            </a:r>
          </a:p>
        </p:txBody>
      </p:sp>
      <p:grpSp>
        <p:nvGrpSpPr>
          <p:cNvPr id="8" name="Group 7" descr="Figure showing the process of merging the main branch into the feature branch. On the top is a repository with a main and feature branch. The feature branch starts at the second commit on the main branch and has three commits, and the main branch has an additional two commits after the split. The current location is the third commit of the feature branch. Below is an arrow with the text &quot;git merge main&quot; followed by the same repository with a new arrow from the last commit on the main branch to a new commit on the feature branch, showing the changes from the main branch have been merged into the changes on the feature branch.">
            <a:extLst>
              <a:ext uri="{FF2B5EF4-FFF2-40B4-BE49-F238E27FC236}">
                <a16:creationId xmlns:a16="http://schemas.microsoft.com/office/drawing/2014/main" id="{9B5F5235-F7DB-B935-8BD2-1C30BCB3E9EC}"/>
              </a:ext>
            </a:extLst>
          </p:cNvPr>
          <p:cNvGrpSpPr/>
          <p:nvPr/>
        </p:nvGrpSpPr>
        <p:grpSpPr>
          <a:xfrm>
            <a:off x="5256669" y="1027906"/>
            <a:ext cx="6977906" cy="5256290"/>
            <a:chOff x="5256669" y="1027906"/>
            <a:chExt cx="6977906" cy="5256290"/>
          </a:xfrm>
        </p:grpSpPr>
        <p:grpSp>
          <p:nvGrpSpPr>
            <p:cNvPr id="73" name="Group 72" descr="Figure showing the process of merging the main branch into the feature branch. On the top is a repository with a main and feature branch. The feature branch starts at the second commit on the main branch and has three commits, and the main branch has an additional two commits after the split. The current location is the third commit of the feature branch. Below is an arrow with the text &quot;git merge main&quot; followed by the same repository with a new arrow from the last commit on the main branch to a new commit on the feature branch, showing the changes from the main branch have been merged into the changes on the feature branch.">
              <a:extLst>
                <a:ext uri="{FF2B5EF4-FFF2-40B4-BE49-F238E27FC236}">
                  <a16:creationId xmlns:a16="http://schemas.microsoft.com/office/drawing/2014/main" id="{4E48C2FF-7A2C-D386-2212-89F74574526B}"/>
                </a:ext>
              </a:extLst>
            </p:cNvPr>
            <p:cNvGrpSpPr/>
            <p:nvPr/>
          </p:nvGrpSpPr>
          <p:grpSpPr>
            <a:xfrm>
              <a:off x="5256669" y="1145224"/>
              <a:ext cx="6908280" cy="5138972"/>
              <a:chOff x="5256669" y="1145224"/>
              <a:chExt cx="6908280" cy="5138972"/>
            </a:xfrm>
          </p:grpSpPr>
          <p:grpSp>
            <p:nvGrpSpPr>
              <p:cNvPr id="74" name="Group 73">
                <a:extLst>
                  <a:ext uri="{FF2B5EF4-FFF2-40B4-BE49-F238E27FC236}">
                    <a16:creationId xmlns:a16="http://schemas.microsoft.com/office/drawing/2014/main" id="{0D053FD2-C23A-9ACE-D692-AA1B550DB4E1}"/>
                  </a:ext>
                </a:extLst>
              </p:cNvPr>
              <p:cNvGrpSpPr/>
              <p:nvPr/>
            </p:nvGrpSpPr>
            <p:grpSpPr>
              <a:xfrm>
                <a:off x="5256669" y="4526833"/>
                <a:ext cx="6908280" cy="1757363"/>
                <a:chOff x="1528763" y="3114675"/>
                <a:chExt cx="6908280" cy="1757363"/>
              </a:xfrm>
            </p:grpSpPr>
            <p:sp>
              <p:nvSpPr>
                <p:cNvPr id="92" name="Oval 91">
                  <a:extLst>
                    <a:ext uri="{FF2B5EF4-FFF2-40B4-BE49-F238E27FC236}">
                      <a16:creationId xmlns:a16="http://schemas.microsoft.com/office/drawing/2014/main" id="{75D68A72-A13A-F8EA-2543-C645E761D3BA}"/>
                    </a:ext>
                  </a:extLst>
                </p:cNvPr>
                <p:cNvSpPr/>
                <p:nvPr/>
              </p:nvSpPr>
              <p:spPr>
                <a:xfrm>
                  <a:off x="1528763" y="4243388"/>
                  <a:ext cx="628650" cy="6286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m1</a:t>
                  </a:r>
                </a:p>
              </p:txBody>
            </p:sp>
            <p:sp>
              <p:nvSpPr>
                <p:cNvPr id="93" name="Oval 92">
                  <a:extLst>
                    <a:ext uri="{FF2B5EF4-FFF2-40B4-BE49-F238E27FC236}">
                      <a16:creationId xmlns:a16="http://schemas.microsoft.com/office/drawing/2014/main" id="{1D671970-E94B-8197-4E13-B4B65A3E7280}"/>
                    </a:ext>
                  </a:extLst>
                </p:cNvPr>
                <p:cNvSpPr/>
                <p:nvPr/>
              </p:nvSpPr>
              <p:spPr>
                <a:xfrm>
                  <a:off x="2641861" y="4243388"/>
                  <a:ext cx="628650" cy="6286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m2</a:t>
                  </a:r>
                </a:p>
              </p:txBody>
            </p:sp>
            <p:sp>
              <p:nvSpPr>
                <p:cNvPr id="94" name="Oval 93">
                  <a:extLst>
                    <a:ext uri="{FF2B5EF4-FFF2-40B4-BE49-F238E27FC236}">
                      <a16:creationId xmlns:a16="http://schemas.microsoft.com/office/drawing/2014/main" id="{237F0FFC-370A-DC0C-9CEC-15A57F9E5D99}"/>
                    </a:ext>
                  </a:extLst>
                </p:cNvPr>
                <p:cNvSpPr/>
                <p:nvPr/>
              </p:nvSpPr>
              <p:spPr>
                <a:xfrm>
                  <a:off x="4238743" y="4243388"/>
                  <a:ext cx="628650" cy="6286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m3</a:t>
                  </a:r>
                </a:p>
              </p:txBody>
            </p:sp>
            <p:sp>
              <p:nvSpPr>
                <p:cNvPr id="95" name="Oval 94">
                  <a:extLst>
                    <a:ext uri="{FF2B5EF4-FFF2-40B4-BE49-F238E27FC236}">
                      <a16:creationId xmlns:a16="http://schemas.microsoft.com/office/drawing/2014/main" id="{FC69C8AC-7870-062C-0441-611FC4A03965}"/>
                    </a:ext>
                  </a:extLst>
                </p:cNvPr>
                <p:cNvSpPr/>
                <p:nvPr/>
              </p:nvSpPr>
              <p:spPr>
                <a:xfrm>
                  <a:off x="3754959" y="3114675"/>
                  <a:ext cx="628650" cy="62865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1400" dirty="0"/>
                    <a:t>f1</a:t>
                  </a:r>
                </a:p>
              </p:txBody>
            </p:sp>
            <p:sp>
              <p:nvSpPr>
                <p:cNvPr id="96" name="Oval 95">
                  <a:extLst>
                    <a:ext uri="{FF2B5EF4-FFF2-40B4-BE49-F238E27FC236}">
                      <a16:creationId xmlns:a16="http://schemas.microsoft.com/office/drawing/2014/main" id="{D4BF9D11-2740-DB46-2068-7024A4D02D7E}"/>
                    </a:ext>
                  </a:extLst>
                </p:cNvPr>
                <p:cNvSpPr/>
                <p:nvPr/>
              </p:nvSpPr>
              <p:spPr>
                <a:xfrm>
                  <a:off x="4810184" y="3114675"/>
                  <a:ext cx="628650" cy="62865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1400" dirty="0"/>
                    <a:t>f2</a:t>
                  </a:r>
                </a:p>
              </p:txBody>
            </p:sp>
            <p:sp>
              <p:nvSpPr>
                <p:cNvPr id="97" name="Oval 96">
                  <a:extLst>
                    <a:ext uri="{FF2B5EF4-FFF2-40B4-BE49-F238E27FC236}">
                      <a16:creationId xmlns:a16="http://schemas.microsoft.com/office/drawing/2014/main" id="{52C1203A-7FCA-6BC1-FE8D-0D4CB9146096}"/>
                    </a:ext>
                  </a:extLst>
                </p:cNvPr>
                <p:cNvSpPr/>
                <p:nvPr/>
              </p:nvSpPr>
              <p:spPr>
                <a:xfrm>
                  <a:off x="5865409" y="3114675"/>
                  <a:ext cx="628650" cy="62865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1400" dirty="0"/>
                    <a:t>f3</a:t>
                  </a:r>
                </a:p>
              </p:txBody>
            </p:sp>
            <p:sp>
              <p:nvSpPr>
                <p:cNvPr id="98" name="Oval 97">
                  <a:extLst>
                    <a:ext uri="{FF2B5EF4-FFF2-40B4-BE49-F238E27FC236}">
                      <a16:creationId xmlns:a16="http://schemas.microsoft.com/office/drawing/2014/main" id="{EE2D9070-8592-AE50-C408-F39E70E56940}"/>
                    </a:ext>
                  </a:extLst>
                </p:cNvPr>
                <p:cNvSpPr/>
                <p:nvPr/>
              </p:nvSpPr>
              <p:spPr>
                <a:xfrm>
                  <a:off x="5982844" y="4243388"/>
                  <a:ext cx="628650" cy="6286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m4</a:t>
                  </a:r>
                </a:p>
              </p:txBody>
            </p:sp>
            <p:sp>
              <p:nvSpPr>
                <p:cNvPr id="99" name="Oval 98">
                  <a:extLst>
                    <a:ext uri="{FF2B5EF4-FFF2-40B4-BE49-F238E27FC236}">
                      <a16:creationId xmlns:a16="http://schemas.microsoft.com/office/drawing/2014/main" id="{2A1DACFB-5140-E6D3-315B-4EB04395E2B4}"/>
                    </a:ext>
                  </a:extLst>
                </p:cNvPr>
                <p:cNvSpPr/>
                <p:nvPr/>
              </p:nvSpPr>
              <p:spPr>
                <a:xfrm>
                  <a:off x="7808393" y="3117569"/>
                  <a:ext cx="628650" cy="62865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1400" dirty="0"/>
                    <a:t>f4</a:t>
                  </a:r>
                </a:p>
              </p:txBody>
            </p:sp>
            <p:cxnSp>
              <p:nvCxnSpPr>
                <p:cNvPr id="100" name="Straight Arrow Connector 99">
                  <a:extLst>
                    <a:ext uri="{FF2B5EF4-FFF2-40B4-BE49-F238E27FC236}">
                      <a16:creationId xmlns:a16="http://schemas.microsoft.com/office/drawing/2014/main" id="{1FF6179C-6CD2-1ECC-7CD7-C2E528D3FE5C}"/>
                    </a:ext>
                  </a:extLst>
                </p:cNvPr>
                <p:cNvCxnSpPr>
                  <a:cxnSpLocks/>
                  <a:stCxn id="92" idx="6"/>
                  <a:endCxn id="93" idx="2"/>
                </p:cNvCxnSpPr>
                <p:nvPr/>
              </p:nvCxnSpPr>
              <p:spPr>
                <a:xfrm>
                  <a:off x="2157413" y="4557713"/>
                  <a:ext cx="484448"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01" name="Straight Arrow Connector 100">
                  <a:extLst>
                    <a:ext uri="{FF2B5EF4-FFF2-40B4-BE49-F238E27FC236}">
                      <a16:creationId xmlns:a16="http://schemas.microsoft.com/office/drawing/2014/main" id="{BF9AD00D-8431-A95E-6F29-4AB7C3326A4E}"/>
                    </a:ext>
                  </a:extLst>
                </p:cNvPr>
                <p:cNvCxnSpPr>
                  <a:cxnSpLocks/>
                  <a:stCxn id="93" idx="6"/>
                  <a:endCxn id="94" idx="2"/>
                </p:cNvCxnSpPr>
                <p:nvPr/>
              </p:nvCxnSpPr>
              <p:spPr>
                <a:xfrm>
                  <a:off x="3270511" y="4557713"/>
                  <a:ext cx="968232"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02" name="Straight Arrow Connector 101">
                  <a:extLst>
                    <a:ext uri="{FF2B5EF4-FFF2-40B4-BE49-F238E27FC236}">
                      <a16:creationId xmlns:a16="http://schemas.microsoft.com/office/drawing/2014/main" id="{709C3C01-1581-96B9-80D8-6ABB3387DAA7}"/>
                    </a:ext>
                  </a:extLst>
                </p:cNvPr>
                <p:cNvCxnSpPr>
                  <a:cxnSpLocks/>
                  <a:stCxn id="94" idx="6"/>
                  <a:endCxn id="98" idx="2"/>
                </p:cNvCxnSpPr>
                <p:nvPr/>
              </p:nvCxnSpPr>
              <p:spPr>
                <a:xfrm>
                  <a:off x="4867393" y="4557713"/>
                  <a:ext cx="1115451"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03" name="Elbow Connector 102">
                  <a:extLst>
                    <a:ext uri="{FF2B5EF4-FFF2-40B4-BE49-F238E27FC236}">
                      <a16:creationId xmlns:a16="http://schemas.microsoft.com/office/drawing/2014/main" id="{11B239A5-4F57-F3B5-4ECC-C2BF079E8FDD}"/>
                    </a:ext>
                  </a:extLst>
                </p:cNvPr>
                <p:cNvCxnSpPr>
                  <a:cxnSpLocks/>
                  <a:stCxn id="93" idx="0"/>
                  <a:endCxn id="95" idx="2"/>
                </p:cNvCxnSpPr>
                <p:nvPr/>
              </p:nvCxnSpPr>
              <p:spPr>
                <a:xfrm rot="5400000" flipH="1" flipV="1">
                  <a:off x="2948378" y="3436808"/>
                  <a:ext cx="814388" cy="798773"/>
                </a:xfrm>
                <a:prstGeom prst="bentConnector2">
                  <a:avLst/>
                </a:prstGeom>
                <a:ln w="38100">
                  <a:tailEnd type="triangle"/>
                </a:ln>
              </p:spPr>
              <p:style>
                <a:lnRef idx="3">
                  <a:schemeClr val="accent4"/>
                </a:lnRef>
                <a:fillRef idx="0">
                  <a:schemeClr val="accent4"/>
                </a:fillRef>
                <a:effectRef idx="2">
                  <a:schemeClr val="accent4"/>
                </a:effectRef>
                <a:fontRef idx="minor">
                  <a:schemeClr val="tx1"/>
                </a:fontRef>
              </p:style>
            </p:cxnSp>
            <p:cxnSp>
              <p:nvCxnSpPr>
                <p:cNvPr id="104" name="Straight Arrow Connector 103">
                  <a:extLst>
                    <a:ext uri="{FF2B5EF4-FFF2-40B4-BE49-F238E27FC236}">
                      <a16:creationId xmlns:a16="http://schemas.microsoft.com/office/drawing/2014/main" id="{9F947F6D-CDE1-006F-24A9-74251EEC7A75}"/>
                    </a:ext>
                  </a:extLst>
                </p:cNvPr>
                <p:cNvCxnSpPr>
                  <a:cxnSpLocks/>
                  <a:stCxn id="95" idx="6"/>
                  <a:endCxn id="96" idx="2"/>
                </p:cNvCxnSpPr>
                <p:nvPr/>
              </p:nvCxnSpPr>
              <p:spPr>
                <a:xfrm>
                  <a:off x="4383609" y="3429000"/>
                  <a:ext cx="426575" cy="0"/>
                </a:xfrm>
                <a:prstGeom prst="straightConnector1">
                  <a:avLst/>
                </a:prstGeom>
                <a:ln w="38100">
                  <a:tailEnd type="triangle"/>
                </a:ln>
              </p:spPr>
              <p:style>
                <a:lnRef idx="3">
                  <a:schemeClr val="accent4"/>
                </a:lnRef>
                <a:fillRef idx="0">
                  <a:schemeClr val="accent4"/>
                </a:fillRef>
                <a:effectRef idx="2">
                  <a:schemeClr val="accent4"/>
                </a:effectRef>
                <a:fontRef idx="minor">
                  <a:schemeClr val="tx1"/>
                </a:fontRef>
              </p:style>
            </p:cxnSp>
            <p:cxnSp>
              <p:nvCxnSpPr>
                <p:cNvPr id="105" name="Straight Arrow Connector 104">
                  <a:extLst>
                    <a:ext uri="{FF2B5EF4-FFF2-40B4-BE49-F238E27FC236}">
                      <a16:creationId xmlns:a16="http://schemas.microsoft.com/office/drawing/2014/main" id="{FB7001AA-3DEE-520B-E7F7-B89757EE2A17}"/>
                    </a:ext>
                  </a:extLst>
                </p:cNvPr>
                <p:cNvCxnSpPr>
                  <a:cxnSpLocks/>
                  <a:stCxn id="96" idx="6"/>
                  <a:endCxn id="97" idx="2"/>
                </p:cNvCxnSpPr>
                <p:nvPr/>
              </p:nvCxnSpPr>
              <p:spPr>
                <a:xfrm>
                  <a:off x="5438834" y="3429000"/>
                  <a:ext cx="426575" cy="0"/>
                </a:xfrm>
                <a:prstGeom prst="straightConnector1">
                  <a:avLst/>
                </a:prstGeom>
                <a:ln w="38100">
                  <a:tailEnd type="triangle"/>
                </a:ln>
              </p:spPr>
              <p:style>
                <a:lnRef idx="3">
                  <a:schemeClr val="accent4"/>
                </a:lnRef>
                <a:fillRef idx="0">
                  <a:schemeClr val="accent4"/>
                </a:fillRef>
                <a:effectRef idx="2">
                  <a:schemeClr val="accent4"/>
                </a:effectRef>
                <a:fontRef idx="minor">
                  <a:schemeClr val="tx1"/>
                </a:fontRef>
              </p:style>
            </p:cxnSp>
            <p:cxnSp>
              <p:nvCxnSpPr>
                <p:cNvPr id="106" name="Straight Arrow Connector 105">
                  <a:extLst>
                    <a:ext uri="{FF2B5EF4-FFF2-40B4-BE49-F238E27FC236}">
                      <a16:creationId xmlns:a16="http://schemas.microsoft.com/office/drawing/2014/main" id="{43E0EF4F-3935-191E-04DA-547C37B29C8B}"/>
                    </a:ext>
                  </a:extLst>
                </p:cNvPr>
                <p:cNvCxnSpPr>
                  <a:cxnSpLocks/>
                  <a:stCxn id="97" idx="6"/>
                  <a:endCxn id="99" idx="2"/>
                </p:cNvCxnSpPr>
                <p:nvPr/>
              </p:nvCxnSpPr>
              <p:spPr>
                <a:xfrm>
                  <a:off x="6494059" y="3429000"/>
                  <a:ext cx="1314334" cy="2894"/>
                </a:xfrm>
                <a:prstGeom prst="straightConnector1">
                  <a:avLst/>
                </a:prstGeom>
                <a:ln w="38100">
                  <a:tailEnd type="triangle"/>
                </a:ln>
              </p:spPr>
              <p:style>
                <a:lnRef idx="3">
                  <a:schemeClr val="accent4"/>
                </a:lnRef>
                <a:fillRef idx="0">
                  <a:schemeClr val="accent4"/>
                </a:fillRef>
                <a:effectRef idx="2">
                  <a:schemeClr val="accent4"/>
                </a:effectRef>
                <a:fontRef idx="minor">
                  <a:schemeClr val="tx1"/>
                </a:fontRef>
              </p:style>
            </p:cxnSp>
            <p:cxnSp>
              <p:nvCxnSpPr>
                <p:cNvPr id="107" name="Elbow Connector 106">
                  <a:extLst>
                    <a:ext uri="{FF2B5EF4-FFF2-40B4-BE49-F238E27FC236}">
                      <a16:creationId xmlns:a16="http://schemas.microsoft.com/office/drawing/2014/main" id="{3119FB5B-AEE4-391B-A099-F16E93F426E3}"/>
                    </a:ext>
                  </a:extLst>
                </p:cNvPr>
                <p:cNvCxnSpPr>
                  <a:cxnSpLocks/>
                  <a:stCxn id="98" idx="6"/>
                  <a:endCxn id="99" idx="2"/>
                </p:cNvCxnSpPr>
                <p:nvPr/>
              </p:nvCxnSpPr>
              <p:spPr>
                <a:xfrm flipV="1">
                  <a:off x="6611494" y="3431894"/>
                  <a:ext cx="1196899" cy="1125819"/>
                </a:xfrm>
                <a:prstGeom prst="bentConnector3">
                  <a:avLst>
                    <a:gd name="adj1" fmla="val 50000"/>
                  </a:avLst>
                </a:prstGeom>
                <a:ln w="38100">
                  <a:tailEnd type="triangle"/>
                </a:ln>
              </p:spPr>
              <p:style>
                <a:lnRef idx="1">
                  <a:schemeClr val="accent1"/>
                </a:lnRef>
                <a:fillRef idx="0">
                  <a:schemeClr val="accent1"/>
                </a:fillRef>
                <a:effectRef idx="0">
                  <a:schemeClr val="accent1"/>
                </a:effectRef>
                <a:fontRef idx="minor">
                  <a:schemeClr val="tx1"/>
                </a:fontRef>
              </p:style>
            </p:cxnSp>
          </p:grpSp>
          <p:grpSp>
            <p:nvGrpSpPr>
              <p:cNvPr id="75" name="Group 74">
                <a:extLst>
                  <a:ext uri="{FF2B5EF4-FFF2-40B4-BE49-F238E27FC236}">
                    <a16:creationId xmlns:a16="http://schemas.microsoft.com/office/drawing/2014/main" id="{EA1C63DC-1F89-CA06-55EC-67A6ACE127D4}"/>
                  </a:ext>
                </a:extLst>
              </p:cNvPr>
              <p:cNvGrpSpPr/>
              <p:nvPr/>
            </p:nvGrpSpPr>
            <p:grpSpPr>
              <a:xfrm>
                <a:off x="5900207" y="1145224"/>
                <a:ext cx="5082731" cy="1757363"/>
                <a:chOff x="1528763" y="3114675"/>
                <a:chExt cx="5082731" cy="1757363"/>
              </a:xfrm>
            </p:grpSpPr>
            <p:sp>
              <p:nvSpPr>
                <p:cNvPr id="78" name="Oval 77">
                  <a:extLst>
                    <a:ext uri="{FF2B5EF4-FFF2-40B4-BE49-F238E27FC236}">
                      <a16:creationId xmlns:a16="http://schemas.microsoft.com/office/drawing/2014/main" id="{6ACEF234-9EC6-9590-D5B0-100445B8EA2C}"/>
                    </a:ext>
                  </a:extLst>
                </p:cNvPr>
                <p:cNvSpPr/>
                <p:nvPr/>
              </p:nvSpPr>
              <p:spPr>
                <a:xfrm>
                  <a:off x="1528763" y="4243388"/>
                  <a:ext cx="628650" cy="6286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m1</a:t>
                  </a:r>
                </a:p>
              </p:txBody>
            </p:sp>
            <p:sp>
              <p:nvSpPr>
                <p:cNvPr id="79" name="Oval 78">
                  <a:extLst>
                    <a:ext uri="{FF2B5EF4-FFF2-40B4-BE49-F238E27FC236}">
                      <a16:creationId xmlns:a16="http://schemas.microsoft.com/office/drawing/2014/main" id="{35BBB13E-626D-D136-D7E4-7CB89BB38EF2}"/>
                    </a:ext>
                  </a:extLst>
                </p:cNvPr>
                <p:cNvSpPr/>
                <p:nvPr/>
              </p:nvSpPr>
              <p:spPr>
                <a:xfrm>
                  <a:off x="2641861" y="4243388"/>
                  <a:ext cx="628650" cy="6286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m2</a:t>
                  </a:r>
                </a:p>
              </p:txBody>
            </p:sp>
            <p:sp>
              <p:nvSpPr>
                <p:cNvPr id="80" name="Oval 79">
                  <a:extLst>
                    <a:ext uri="{FF2B5EF4-FFF2-40B4-BE49-F238E27FC236}">
                      <a16:creationId xmlns:a16="http://schemas.microsoft.com/office/drawing/2014/main" id="{43DD2749-EB28-8E96-C1B9-89073C88DB03}"/>
                    </a:ext>
                  </a:extLst>
                </p:cNvPr>
                <p:cNvSpPr/>
                <p:nvPr/>
              </p:nvSpPr>
              <p:spPr>
                <a:xfrm>
                  <a:off x="4238743" y="4243388"/>
                  <a:ext cx="628650" cy="6286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m3</a:t>
                  </a:r>
                </a:p>
              </p:txBody>
            </p:sp>
            <p:sp>
              <p:nvSpPr>
                <p:cNvPr id="81" name="Oval 80">
                  <a:extLst>
                    <a:ext uri="{FF2B5EF4-FFF2-40B4-BE49-F238E27FC236}">
                      <a16:creationId xmlns:a16="http://schemas.microsoft.com/office/drawing/2014/main" id="{538743E1-7641-F7A1-019A-70DF1F5B7900}"/>
                    </a:ext>
                  </a:extLst>
                </p:cNvPr>
                <p:cNvSpPr/>
                <p:nvPr/>
              </p:nvSpPr>
              <p:spPr>
                <a:xfrm>
                  <a:off x="3754959" y="3114675"/>
                  <a:ext cx="628650" cy="62865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1400" dirty="0"/>
                    <a:t>f1</a:t>
                  </a:r>
                </a:p>
              </p:txBody>
            </p:sp>
            <p:sp>
              <p:nvSpPr>
                <p:cNvPr id="82" name="Oval 81">
                  <a:extLst>
                    <a:ext uri="{FF2B5EF4-FFF2-40B4-BE49-F238E27FC236}">
                      <a16:creationId xmlns:a16="http://schemas.microsoft.com/office/drawing/2014/main" id="{C1CEFFC6-D64D-3787-9108-4368CEEA2CC3}"/>
                    </a:ext>
                  </a:extLst>
                </p:cNvPr>
                <p:cNvSpPr/>
                <p:nvPr/>
              </p:nvSpPr>
              <p:spPr>
                <a:xfrm>
                  <a:off x="4810184" y="3114675"/>
                  <a:ext cx="628650" cy="62865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1400" dirty="0"/>
                    <a:t>f2</a:t>
                  </a:r>
                </a:p>
              </p:txBody>
            </p:sp>
            <p:sp>
              <p:nvSpPr>
                <p:cNvPr id="83" name="Oval 82">
                  <a:extLst>
                    <a:ext uri="{FF2B5EF4-FFF2-40B4-BE49-F238E27FC236}">
                      <a16:creationId xmlns:a16="http://schemas.microsoft.com/office/drawing/2014/main" id="{A1DDD221-4023-6C44-4B55-4CD90246994B}"/>
                    </a:ext>
                  </a:extLst>
                </p:cNvPr>
                <p:cNvSpPr/>
                <p:nvPr/>
              </p:nvSpPr>
              <p:spPr>
                <a:xfrm>
                  <a:off x="5865409" y="3114675"/>
                  <a:ext cx="628650" cy="62865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1400" dirty="0"/>
                    <a:t>f3</a:t>
                  </a:r>
                </a:p>
              </p:txBody>
            </p:sp>
            <p:sp>
              <p:nvSpPr>
                <p:cNvPr id="84" name="Oval 83">
                  <a:extLst>
                    <a:ext uri="{FF2B5EF4-FFF2-40B4-BE49-F238E27FC236}">
                      <a16:creationId xmlns:a16="http://schemas.microsoft.com/office/drawing/2014/main" id="{9B87F398-CF34-1C9F-4C8B-27A023BB5827}"/>
                    </a:ext>
                  </a:extLst>
                </p:cNvPr>
                <p:cNvSpPr/>
                <p:nvPr/>
              </p:nvSpPr>
              <p:spPr>
                <a:xfrm>
                  <a:off x="5982844" y="4243388"/>
                  <a:ext cx="628650" cy="6286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m4</a:t>
                  </a:r>
                </a:p>
              </p:txBody>
            </p:sp>
            <p:cxnSp>
              <p:nvCxnSpPr>
                <p:cNvPr id="85" name="Straight Arrow Connector 84">
                  <a:extLst>
                    <a:ext uri="{FF2B5EF4-FFF2-40B4-BE49-F238E27FC236}">
                      <a16:creationId xmlns:a16="http://schemas.microsoft.com/office/drawing/2014/main" id="{5174D74A-BE9A-6F81-DD03-2D3482E093F4}"/>
                    </a:ext>
                  </a:extLst>
                </p:cNvPr>
                <p:cNvCxnSpPr>
                  <a:cxnSpLocks/>
                  <a:stCxn id="78" idx="6"/>
                  <a:endCxn id="79" idx="2"/>
                </p:cNvCxnSpPr>
                <p:nvPr/>
              </p:nvCxnSpPr>
              <p:spPr>
                <a:xfrm>
                  <a:off x="2157413" y="4557713"/>
                  <a:ext cx="484448"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86" name="Straight Arrow Connector 85">
                  <a:extLst>
                    <a:ext uri="{FF2B5EF4-FFF2-40B4-BE49-F238E27FC236}">
                      <a16:creationId xmlns:a16="http://schemas.microsoft.com/office/drawing/2014/main" id="{6E738258-29BB-CA94-CBE0-49A2A9AA997B}"/>
                    </a:ext>
                  </a:extLst>
                </p:cNvPr>
                <p:cNvCxnSpPr>
                  <a:cxnSpLocks/>
                  <a:stCxn id="79" idx="6"/>
                  <a:endCxn id="80" idx="2"/>
                </p:cNvCxnSpPr>
                <p:nvPr/>
              </p:nvCxnSpPr>
              <p:spPr>
                <a:xfrm>
                  <a:off x="3270511" y="4557713"/>
                  <a:ext cx="968232"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87" name="Straight Arrow Connector 86">
                  <a:extLst>
                    <a:ext uri="{FF2B5EF4-FFF2-40B4-BE49-F238E27FC236}">
                      <a16:creationId xmlns:a16="http://schemas.microsoft.com/office/drawing/2014/main" id="{238CEED1-BCD3-9B9A-AAB5-7B5BA327C128}"/>
                    </a:ext>
                  </a:extLst>
                </p:cNvPr>
                <p:cNvCxnSpPr>
                  <a:cxnSpLocks/>
                  <a:stCxn id="80" idx="6"/>
                  <a:endCxn id="84" idx="2"/>
                </p:cNvCxnSpPr>
                <p:nvPr/>
              </p:nvCxnSpPr>
              <p:spPr>
                <a:xfrm>
                  <a:off x="4867393" y="4557713"/>
                  <a:ext cx="1115451"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88" name="Elbow Connector 87">
                  <a:extLst>
                    <a:ext uri="{FF2B5EF4-FFF2-40B4-BE49-F238E27FC236}">
                      <a16:creationId xmlns:a16="http://schemas.microsoft.com/office/drawing/2014/main" id="{B97ADBFD-459A-CBA7-F10A-E3EDA4F82F62}"/>
                    </a:ext>
                  </a:extLst>
                </p:cNvPr>
                <p:cNvCxnSpPr>
                  <a:cxnSpLocks/>
                  <a:stCxn id="79" idx="0"/>
                  <a:endCxn id="81" idx="2"/>
                </p:cNvCxnSpPr>
                <p:nvPr/>
              </p:nvCxnSpPr>
              <p:spPr>
                <a:xfrm rot="5400000" flipH="1" flipV="1">
                  <a:off x="2948378" y="3436808"/>
                  <a:ext cx="814388" cy="798773"/>
                </a:xfrm>
                <a:prstGeom prst="bentConnector2">
                  <a:avLst/>
                </a:prstGeom>
                <a:ln w="38100">
                  <a:tailEnd type="triangle"/>
                </a:ln>
              </p:spPr>
              <p:style>
                <a:lnRef idx="3">
                  <a:schemeClr val="accent4"/>
                </a:lnRef>
                <a:fillRef idx="0">
                  <a:schemeClr val="accent4"/>
                </a:fillRef>
                <a:effectRef idx="2">
                  <a:schemeClr val="accent4"/>
                </a:effectRef>
                <a:fontRef idx="minor">
                  <a:schemeClr val="tx1"/>
                </a:fontRef>
              </p:style>
            </p:cxnSp>
            <p:cxnSp>
              <p:nvCxnSpPr>
                <p:cNvPr id="89" name="Straight Arrow Connector 88">
                  <a:extLst>
                    <a:ext uri="{FF2B5EF4-FFF2-40B4-BE49-F238E27FC236}">
                      <a16:creationId xmlns:a16="http://schemas.microsoft.com/office/drawing/2014/main" id="{E1151425-E97F-7D09-9DCF-CBF06FB78F52}"/>
                    </a:ext>
                  </a:extLst>
                </p:cNvPr>
                <p:cNvCxnSpPr>
                  <a:cxnSpLocks/>
                  <a:stCxn id="81" idx="6"/>
                  <a:endCxn id="82" idx="2"/>
                </p:cNvCxnSpPr>
                <p:nvPr/>
              </p:nvCxnSpPr>
              <p:spPr>
                <a:xfrm>
                  <a:off x="4383609" y="3429000"/>
                  <a:ext cx="426575" cy="0"/>
                </a:xfrm>
                <a:prstGeom prst="straightConnector1">
                  <a:avLst/>
                </a:prstGeom>
                <a:ln w="38100">
                  <a:tailEnd type="triangle"/>
                </a:ln>
              </p:spPr>
              <p:style>
                <a:lnRef idx="3">
                  <a:schemeClr val="accent4"/>
                </a:lnRef>
                <a:fillRef idx="0">
                  <a:schemeClr val="accent4"/>
                </a:fillRef>
                <a:effectRef idx="2">
                  <a:schemeClr val="accent4"/>
                </a:effectRef>
                <a:fontRef idx="minor">
                  <a:schemeClr val="tx1"/>
                </a:fontRef>
              </p:style>
            </p:cxnSp>
            <p:cxnSp>
              <p:nvCxnSpPr>
                <p:cNvPr id="90" name="Straight Arrow Connector 89">
                  <a:extLst>
                    <a:ext uri="{FF2B5EF4-FFF2-40B4-BE49-F238E27FC236}">
                      <a16:creationId xmlns:a16="http://schemas.microsoft.com/office/drawing/2014/main" id="{4519791D-B6A0-92B9-3156-C7D77BA4F63A}"/>
                    </a:ext>
                  </a:extLst>
                </p:cNvPr>
                <p:cNvCxnSpPr>
                  <a:cxnSpLocks/>
                  <a:stCxn id="82" idx="6"/>
                  <a:endCxn id="83" idx="2"/>
                </p:cNvCxnSpPr>
                <p:nvPr/>
              </p:nvCxnSpPr>
              <p:spPr>
                <a:xfrm>
                  <a:off x="5438834" y="3429000"/>
                  <a:ext cx="426575" cy="0"/>
                </a:xfrm>
                <a:prstGeom prst="straightConnector1">
                  <a:avLst/>
                </a:prstGeom>
                <a:ln w="38100">
                  <a:tailEnd type="triangle"/>
                </a:ln>
              </p:spPr>
              <p:style>
                <a:lnRef idx="3">
                  <a:schemeClr val="accent4"/>
                </a:lnRef>
                <a:fillRef idx="0">
                  <a:schemeClr val="accent4"/>
                </a:fillRef>
                <a:effectRef idx="2">
                  <a:schemeClr val="accent4"/>
                </a:effectRef>
                <a:fontRef idx="minor">
                  <a:schemeClr val="tx1"/>
                </a:fontRef>
              </p:style>
            </p:cxnSp>
          </p:grpSp>
          <p:sp>
            <p:nvSpPr>
              <p:cNvPr id="76" name="Down Arrow 75">
                <a:extLst>
                  <a:ext uri="{FF2B5EF4-FFF2-40B4-BE49-F238E27FC236}">
                    <a16:creationId xmlns:a16="http://schemas.microsoft.com/office/drawing/2014/main" id="{571A57A9-4F8E-3B1A-17D2-B73DA60A7E66}"/>
                  </a:ext>
                </a:extLst>
              </p:cNvPr>
              <p:cNvSpPr/>
              <p:nvPr/>
            </p:nvSpPr>
            <p:spPr>
              <a:xfrm>
                <a:off x="8567647" y="3057799"/>
                <a:ext cx="1165243" cy="139022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77" name="TextBox 76">
                <a:extLst>
                  <a:ext uri="{FF2B5EF4-FFF2-40B4-BE49-F238E27FC236}">
                    <a16:creationId xmlns:a16="http://schemas.microsoft.com/office/drawing/2014/main" id="{4A1C3C4E-D7EB-AFB4-8394-076ACD88BDAB}"/>
                  </a:ext>
                </a:extLst>
              </p:cNvPr>
              <p:cNvSpPr txBox="1"/>
              <p:nvPr/>
            </p:nvSpPr>
            <p:spPr>
              <a:xfrm>
                <a:off x="8202834" y="3296071"/>
                <a:ext cx="1957587" cy="369332"/>
              </a:xfrm>
              <a:prstGeom prst="rect">
                <a:avLst/>
              </a:prstGeom>
              <a:solidFill>
                <a:schemeClr val="bg1"/>
              </a:solidFill>
            </p:spPr>
            <p:txBody>
              <a:bodyPr wrap="none" rtlCol="0">
                <a:spAutoFit/>
              </a:bodyPr>
              <a:lstStyle/>
              <a:p>
                <a:r>
                  <a:rPr lang="en-US" sz="1800" dirty="0">
                    <a:latin typeface="Consolas" panose="020B0609020204030204" pitchFamily="49" charset="0"/>
                    <a:cs typeface="Consolas" panose="020B0609020204030204" pitchFamily="49" charset="0"/>
                  </a:rPr>
                  <a:t>git merge main</a:t>
                </a:r>
                <a:endParaRPr lang="en-US" sz="1800" dirty="0"/>
              </a:p>
            </p:txBody>
          </p:sp>
        </p:grpSp>
        <p:sp>
          <p:nvSpPr>
            <p:cNvPr id="4" name="5-Point Star 3">
              <a:extLst>
                <a:ext uri="{FF2B5EF4-FFF2-40B4-BE49-F238E27FC236}">
                  <a16:creationId xmlns:a16="http://schemas.microsoft.com/office/drawing/2014/main" id="{D4E7E609-7C28-EA3C-001D-FD04C5B266D6}"/>
                </a:ext>
              </a:extLst>
            </p:cNvPr>
            <p:cNvSpPr/>
            <p:nvPr/>
          </p:nvSpPr>
          <p:spPr>
            <a:xfrm>
              <a:off x="10645027" y="1027906"/>
              <a:ext cx="337911" cy="280843"/>
            </a:xfrm>
            <a:prstGeom prst="star5">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5-Point Star 5">
              <a:extLst>
                <a:ext uri="{FF2B5EF4-FFF2-40B4-BE49-F238E27FC236}">
                  <a16:creationId xmlns:a16="http://schemas.microsoft.com/office/drawing/2014/main" id="{539AE359-1DF5-5E36-9442-8BB51559ED0D}"/>
                </a:ext>
              </a:extLst>
            </p:cNvPr>
            <p:cNvSpPr/>
            <p:nvPr/>
          </p:nvSpPr>
          <p:spPr>
            <a:xfrm>
              <a:off x="11896664" y="4448023"/>
              <a:ext cx="337911" cy="280843"/>
            </a:xfrm>
            <a:prstGeom prst="star5">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36116109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212503F-B773-A738-6A37-5271ED07DC75}"/>
              </a:ext>
            </a:extLst>
          </p:cNvPr>
          <p:cNvSpPr>
            <a:spLocks noGrp="1"/>
          </p:cNvSpPr>
          <p:nvPr>
            <p:ph type="title"/>
          </p:nvPr>
        </p:nvSpPr>
        <p:spPr/>
        <p:txBody>
          <a:bodyPr/>
          <a:lstStyle/>
          <a:p>
            <a:r>
              <a:rPr lang="en-US" dirty="0"/>
              <a:t>Merging Branches</a:t>
            </a:r>
          </a:p>
        </p:txBody>
      </p:sp>
      <p:sp>
        <p:nvSpPr>
          <p:cNvPr id="2" name="Content Placeholder 1">
            <a:extLst>
              <a:ext uri="{FF2B5EF4-FFF2-40B4-BE49-F238E27FC236}">
                <a16:creationId xmlns:a16="http://schemas.microsoft.com/office/drawing/2014/main" id="{E855DDA8-9EA0-6A8D-7B18-E17E8CDDA463}"/>
              </a:ext>
            </a:extLst>
          </p:cNvPr>
          <p:cNvSpPr>
            <a:spLocks noGrp="1"/>
          </p:cNvSpPr>
          <p:nvPr>
            <p:ph idx="1"/>
          </p:nvPr>
        </p:nvSpPr>
        <p:spPr>
          <a:xfrm>
            <a:off x="838200" y="1825625"/>
            <a:ext cx="4817611" cy="3958287"/>
          </a:xfrm>
        </p:spPr>
        <p:txBody>
          <a:bodyPr>
            <a:normAutofit fontScale="77500" lnSpcReduction="20000"/>
          </a:bodyPr>
          <a:lstStyle/>
          <a:p>
            <a:r>
              <a:rPr lang="en-US" dirty="0"/>
              <a:t>Bring commits from one branch into another with a merge</a:t>
            </a:r>
          </a:p>
          <a:p>
            <a:endParaRPr lang="en-US" dirty="0"/>
          </a:p>
          <a:p>
            <a:r>
              <a:rPr lang="en-US" dirty="0"/>
              <a:t>This command brings commits from </a:t>
            </a:r>
            <a:r>
              <a:rPr lang="en-US" b="0" dirty="0" err="1">
                <a:solidFill>
                  <a:srgbClr val="BC846B"/>
                </a:solidFill>
                <a:effectLst/>
                <a:latin typeface="Menlo" panose="020B0609030804020204" pitchFamily="49" charset="0"/>
              </a:rPr>
              <a:t>branch_name</a:t>
            </a:r>
            <a:r>
              <a:rPr lang="en-US" dirty="0"/>
              <a:t> to the current branch</a:t>
            </a:r>
          </a:p>
          <a:p>
            <a:r>
              <a:rPr lang="en-US" dirty="0"/>
              <a:t>To merge new changes from main into a </a:t>
            </a:r>
            <a:r>
              <a:rPr lang="en-US" dirty="0" err="1"/>
              <a:t>my_new_branch</a:t>
            </a:r>
            <a:endParaRPr lang="en-US" dirty="0"/>
          </a:p>
          <a:p>
            <a:endParaRPr lang="en-US" dirty="0"/>
          </a:p>
          <a:p>
            <a:endParaRPr lang="en-US" dirty="0"/>
          </a:p>
          <a:p>
            <a:r>
              <a:rPr lang="en-US" dirty="0"/>
              <a:t>When development is complete on </a:t>
            </a:r>
            <a:r>
              <a:rPr lang="en-US" dirty="0" err="1"/>
              <a:t>my_new_branch</a:t>
            </a:r>
            <a:r>
              <a:rPr lang="en-US" dirty="0"/>
              <a:t> it can be merged into main with</a:t>
            </a:r>
          </a:p>
          <a:p>
            <a:endParaRPr lang="en-US" dirty="0"/>
          </a:p>
          <a:p>
            <a:endParaRPr lang="en-US" dirty="0"/>
          </a:p>
          <a:p>
            <a:endParaRPr lang="en-US" dirty="0"/>
          </a:p>
          <a:p>
            <a:endParaRPr lang="en-US" dirty="0"/>
          </a:p>
        </p:txBody>
      </p:sp>
      <p:sp>
        <p:nvSpPr>
          <p:cNvPr id="5" name="TextBox 4">
            <a:extLst>
              <a:ext uri="{FF2B5EF4-FFF2-40B4-BE49-F238E27FC236}">
                <a16:creationId xmlns:a16="http://schemas.microsoft.com/office/drawing/2014/main" id="{A6DEB9B5-7813-3E78-F231-9386D8D3BAC3}"/>
              </a:ext>
            </a:extLst>
          </p:cNvPr>
          <p:cNvSpPr txBox="1"/>
          <p:nvPr/>
        </p:nvSpPr>
        <p:spPr>
          <a:xfrm>
            <a:off x="1254037" y="2387715"/>
            <a:ext cx="6106884" cy="369332"/>
          </a:xfrm>
          <a:prstGeom prst="rect">
            <a:avLst/>
          </a:prstGeom>
          <a:noFill/>
        </p:spPr>
        <p:txBody>
          <a:bodyPr wrap="square">
            <a:spAutoFit/>
          </a:bodyPr>
          <a:lstStyle/>
          <a:p>
            <a:r>
              <a:rPr lang="en-US" b="0" dirty="0">
                <a:solidFill>
                  <a:srgbClr val="A0A07D"/>
                </a:solidFill>
                <a:effectLst/>
                <a:latin typeface="Menlo" panose="020B0609030804020204" pitchFamily="49" charset="0"/>
              </a:rPr>
              <a:t>git</a:t>
            </a:r>
            <a:r>
              <a:rPr lang="en-US" b="0" dirty="0">
                <a:solidFill>
                  <a:srgbClr val="D4D4D4"/>
                </a:solidFill>
                <a:effectLst/>
                <a:latin typeface="Menlo" panose="020B0609030804020204" pitchFamily="49" charset="0"/>
              </a:rPr>
              <a:t> </a:t>
            </a:r>
            <a:r>
              <a:rPr lang="en-US" b="0" dirty="0">
                <a:solidFill>
                  <a:srgbClr val="BC846B"/>
                </a:solidFill>
                <a:effectLst/>
                <a:latin typeface="Menlo" panose="020B0609030804020204" pitchFamily="49" charset="0"/>
              </a:rPr>
              <a:t>merge </a:t>
            </a:r>
            <a:r>
              <a:rPr lang="en-US" b="0" dirty="0" err="1">
                <a:solidFill>
                  <a:srgbClr val="BC846B"/>
                </a:solidFill>
                <a:effectLst/>
                <a:latin typeface="Menlo" panose="020B0609030804020204" pitchFamily="49" charset="0"/>
              </a:rPr>
              <a:t>branch_name</a:t>
            </a:r>
            <a:endParaRPr lang="en-US" b="0" dirty="0">
              <a:solidFill>
                <a:srgbClr val="BC846B"/>
              </a:solidFill>
              <a:effectLst/>
              <a:latin typeface="Menlo" panose="020B0609030804020204" pitchFamily="49" charset="0"/>
            </a:endParaRPr>
          </a:p>
        </p:txBody>
      </p:sp>
      <p:sp>
        <p:nvSpPr>
          <p:cNvPr id="7" name="TextBox 6">
            <a:extLst>
              <a:ext uri="{FF2B5EF4-FFF2-40B4-BE49-F238E27FC236}">
                <a16:creationId xmlns:a16="http://schemas.microsoft.com/office/drawing/2014/main" id="{CBEEB423-8D3B-18E6-219B-87F0E0C49988}"/>
              </a:ext>
            </a:extLst>
          </p:cNvPr>
          <p:cNvSpPr txBox="1"/>
          <p:nvPr/>
        </p:nvSpPr>
        <p:spPr>
          <a:xfrm>
            <a:off x="1254037" y="4217594"/>
            <a:ext cx="6106884" cy="646331"/>
          </a:xfrm>
          <a:prstGeom prst="rect">
            <a:avLst/>
          </a:prstGeom>
          <a:noFill/>
        </p:spPr>
        <p:txBody>
          <a:bodyPr wrap="square">
            <a:spAutoFit/>
          </a:bodyPr>
          <a:lstStyle/>
          <a:p>
            <a:r>
              <a:rPr lang="en-US" b="0" dirty="0">
                <a:solidFill>
                  <a:srgbClr val="A0A07D"/>
                </a:solidFill>
                <a:effectLst/>
                <a:latin typeface="Menlo" panose="020B0609030804020204" pitchFamily="49" charset="0"/>
              </a:rPr>
              <a:t>git</a:t>
            </a:r>
            <a:r>
              <a:rPr lang="en-US" b="0" dirty="0">
                <a:solidFill>
                  <a:srgbClr val="D4D4D4"/>
                </a:solidFill>
                <a:effectLst/>
                <a:latin typeface="Menlo" panose="020B0609030804020204" pitchFamily="49" charset="0"/>
              </a:rPr>
              <a:t> </a:t>
            </a:r>
            <a:r>
              <a:rPr lang="en-US" b="0" dirty="0">
                <a:solidFill>
                  <a:srgbClr val="BC846B"/>
                </a:solidFill>
                <a:effectLst/>
                <a:latin typeface="Menlo" panose="020B0609030804020204" pitchFamily="49" charset="0"/>
              </a:rPr>
              <a:t>checkout </a:t>
            </a:r>
            <a:r>
              <a:rPr lang="en-US" b="0" dirty="0" err="1">
                <a:solidFill>
                  <a:srgbClr val="BC846B"/>
                </a:solidFill>
                <a:effectLst/>
                <a:latin typeface="Menlo" panose="020B0609030804020204" pitchFamily="49" charset="0"/>
              </a:rPr>
              <a:t>my_new_branch</a:t>
            </a:r>
            <a:endParaRPr lang="en-US" b="0" dirty="0">
              <a:solidFill>
                <a:srgbClr val="BC846B"/>
              </a:solidFill>
              <a:effectLst/>
              <a:latin typeface="Menlo" panose="020B0609030804020204" pitchFamily="49" charset="0"/>
            </a:endParaRPr>
          </a:p>
          <a:p>
            <a:r>
              <a:rPr lang="en-US" b="0" dirty="0">
                <a:solidFill>
                  <a:srgbClr val="A0A07D"/>
                </a:solidFill>
                <a:effectLst/>
                <a:latin typeface="Menlo" panose="020B0609030804020204" pitchFamily="49" charset="0"/>
              </a:rPr>
              <a:t>git</a:t>
            </a:r>
            <a:r>
              <a:rPr lang="en-US" b="0" dirty="0">
                <a:solidFill>
                  <a:srgbClr val="D4D4D4"/>
                </a:solidFill>
                <a:effectLst/>
                <a:latin typeface="Menlo" panose="020B0609030804020204" pitchFamily="49" charset="0"/>
              </a:rPr>
              <a:t> </a:t>
            </a:r>
            <a:r>
              <a:rPr lang="en-US" b="0" dirty="0">
                <a:solidFill>
                  <a:srgbClr val="BC846B"/>
                </a:solidFill>
                <a:effectLst/>
                <a:latin typeface="Menlo" panose="020B0609030804020204" pitchFamily="49" charset="0"/>
              </a:rPr>
              <a:t>merge main</a:t>
            </a:r>
          </a:p>
        </p:txBody>
      </p:sp>
      <p:sp>
        <p:nvSpPr>
          <p:cNvPr id="9" name="TextBox 8">
            <a:extLst>
              <a:ext uri="{FF2B5EF4-FFF2-40B4-BE49-F238E27FC236}">
                <a16:creationId xmlns:a16="http://schemas.microsoft.com/office/drawing/2014/main" id="{17F68897-66E1-37CD-ED93-6E5AEC13B067}"/>
              </a:ext>
            </a:extLst>
          </p:cNvPr>
          <p:cNvSpPr txBox="1"/>
          <p:nvPr/>
        </p:nvSpPr>
        <p:spPr>
          <a:xfrm>
            <a:off x="1254037" y="5754778"/>
            <a:ext cx="6106884" cy="646331"/>
          </a:xfrm>
          <a:prstGeom prst="rect">
            <a:avLst/>
          </a:prstGeom>
          <a:noFill/>
        </p:spPr>
        <p:txBody>
          <a:bodyPr wrap="square">
            <a:spAutoFit/>
          </a:bodyPr>
          <a:lstStyle/>
          <a:p>
            <a:r>
              <a:rPr lang="en-US" b="0" dirty="0">
                <a:solidFill>
                  <a:srgbClr val="A0A07D"/>
                </a:solidFill>
                <a:effectLst/>
                <a:latin typeface="Menlo" panose="020B0609030804020204" pitchFamily="49" charset="0"/>
              </a:rPr>
              <a:t>git</a:t>
            </a:r>
            <a:r>
              <a:rPr lang="en-US" b="0" dirty="0">
                <a:solidFill>
                  <a:srgbClr val="D4D4D4"/>
                </a:solidFill>
                <a:effectLst/>
                <a:latin typeface="Menlo" panose="020B0609030804020204" pitchFamily="49" charset="0"/>
              </a:rPr>
              <a:t> </a:t>
            </a:r>
            <a:r>
              <a:rPr lang="en-US" b="0" dirty="0">
                <a:solidFill>
                  <a:srgbClr val="BC846B"/>
                </a:solidFill>
                <a:effectLst/>
                <a:latin typeface="Menlo" panose="020B0609030804020204" pitchFamily="49" charset="0"/>
              </a:rPr>
              <a:t>checkout main</a:t>
            </a:r>
          </a:p>
          <a:p>
            <a:r>
              <a:rPr lang="en-US" b="0" dirty="0">
                <a:solidFill>
                  <a:srgbClr val="A0A07D"/>
                </a:solidFill>
                <a:effectLst/>
                <a:latin typeface="Menlo" panose="020B0609030804020204" pitchFamily="49" charset="0"/>
              </a:rPr>
              <a:t>git</a:t>
            </a:r>
            <a:r>
              <a:rPr lang="en-US" b="0" dirty="0">
                <a:solidFill>
                  <a:srgbClr val="D4D4D4"/>
                </a:solidFill>
                <a:effectLst/>
                <a:latin typeface="Menlo" panose="020B0609030804020204" pitchFamily="49" charset="0"/>
              </a:rPr>
              <a:t> </a:t>
            </a:r>
            <a:r>
              <a:rPr lang="en-US" b="0" dirty="0">
                <a:solidFill>
                  <a:srgbClr val="BC846B"/>
                </a:solidFill>
                <a:effectLst/>
                <a:latin typeface="Menlo" panose="020B0609030804020204" pitchFamily="49" charset="0"/>
              </a:rPr>
              <a:t>merge </a:t>
            </a:r>
            <a:r>
              <a:rPr lang="en-US" b="0" dirty="0" err="1">
                <a:solidFill>
                  <a:srgbClr val="BC846B"/>
                </a:solidFill>
                <a:effectLst/>
                <a:latin typeface="Menlo" panose="020B0609030804020204" pitchFamily="49" charset="0"/>
              </a:rPr>
              <a:t>my_new_branch</a:t>
            </a:r>
            <a:endParaRPr lang="en-US" b="0" dirty="0">
              <a:solidFill>
                <a:srgbClr val="BC846B"/>
              </a:solidFill>
              <a:effectLst/>
              <a:latin typeface="Menlo" panose="020B0609030804020204" pitchFamily="49" charset="0"/>
            </a:endParaRPr>
          </a:p>
        </p:txBody>
      </p:sp>
      <p:grpSp>
        <p:nvGrpSpPr>
          <p:cNvPr id="8" name="Group 7" descr="Figure showing the process of merging the feature branch into the main branch. On the top is a repository with a main and feature branch. The feature branch starts at the second commit on the main branch and has three commits. The current location is on the second commit of the main branch. Below is an arrow with the text &quot;git merge my_branch&quot; followed by the same repository with a new commit on the main branch that has two incoming arrows from the main and feature branches, showing the changes from the feature branch have been merged into main branch.">
            <a:extLst>
              <a:ext uri="{FF2B5EF4-FFF2-40B4-BE49-F238E27FC236}">
                <a16:creationId xmlns:a16="http://schemas.microsoft.com/office/drawing/2014/main" id="{B09767D5-B21A-1B8E-8293-6216DC484391}"/>
              </a:ext>
            </a:extLst>
          </p:cNvPr>
          <p:cNvGrpSpPr/>
          <p:nvPr/>
        </p:nvGrpSpPr>
        <p:grpSpPr>
          <a:xfrm>
            <a:off x="5826499" y="1189244"/>
            <a:ext cx="6275839" cy="5003670"/>
            <a:chOff x="5826499" y="1189244"/>
            <a:chExt cx="6275839" cy="5003670"/>
          </a:xfrm>
        </p:grpSpPr>
        <p:grpSp>
          <p:nvGrpSpPr>
            <p:cNvPr id="108" name="Group 107" descr="Figure showing the process of merging the feature branch into the main branch. On the top is a repository with a main and feature branch. The feature branch starts at the second commit on the main branch and has three commits. The current location is on the second commit of the main branch. Below is an arrow with the text &quot;git merge my_branch&quot; followed by the same repository with a new commit on the main branch that has two incoming arrows from the main and feature branches, showing the changes from the feature branch have been merged into main branch.">
              <a:extLst>
                <a:ext uri="{FF2B5EF4-FFF2-40B4-BE49-F238E27FC236}">
                  <a16:creationId xmlns:a16="http://schemas.microsoft.com/office/drawing/2014/main" id="{6E2A7C96-2617-C5F7-8C19-602FF9DB72C6}"/>
                </a:ext>
              </a:extLst>
            </p:cNvPr>
            <p:cNvGrpSpPr/>
            <p:nvPr/>
          </p:nvGrpSpPr>
          <p:grpSpPr>
            <a:xfrm>
              <a:off x="5826499" y="1189244"/>
              <a:ext cx="6139703" cy="5003670"/>
              <a:chOff x="5826499" y="1189244"/>
              <a:chExt cx="6139703" cy="5003670"/>
            </a:xfrm>
          </p:grpSpPr>
          <p:grpSp>
            <p:nvGrpSpPr>
              <p:cNvPr id="124" name="Group 123">
                <a:extLst>
                  <a:ext uri="{FF2B5EF4-FFF2-40B4-BE49-F238E27FC236}">
                    <a16:creationId xmlns:a16="http://schemas.microsoft.com/office/drawing/2014/main" id="{CB3BA8E1-7AA7-5EBC-CE22-EA63F5D681B8}"/>
                  </a:ext>
                </a:extLst>
              </p:cNvPr>
              <p:cNvGrpSpPr/>
              <p:nvPr/>
            </p:nvGrpSpPr>
            <p:grpSpPr>
              <a:xfrm>
                <a:off x="5826499" y="4435551"/>
                <a:ext cx="6139703" cy="1757363"/>
                <a:chOff x="265176" y="253556"/>
                <a:chExt cx="6139703" cy="1757363"/>
              </a:xfrm>
            </p:grpSpPr>
            <p:sp>
              <p:nvSpPr>
                <p:cNvPr id="126" name="Oval 125">
                  <a:extLst>
                    <a:ext uri="{FF2B5EF4-FFF2-40B4-BE49-F238E27FC236}">
                      <a16:creationId xmlns:a16="http://schemas.microsoft.com/office/drawing/2014/main" id="{ADADE3F5-5559-7D2F-16ED-893170F5B7AA}"/>
                    </a:ext>
                  </a:extLst>
                </p:cNvPr>
                <p:cNvSpPr/>
                <p:nvPr/>
              </p:nvSpPr>
              <p:spPr>
                <a:xfrm>
                  <a:off x="265176" y="1382269"/>
                  <a:ext cx="628650" cy="6286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m1</a:t>
                  </a:r>
                </a:p>
              </p:txBody>
            </p:sp>
            <p:sp>
              <p:nvSpPr>
                <p:cNvPr id="127" name="Oval 126">
                  <a:extLst>
                    <a:ext uri="{FF2B5EF4-FFF2-40B4-BE49-F238E27FC236}">
                      <a16:creationId xmlns:a16="http://schemas.microsoft.com/office/drawing/2014/main" id="{8228F13A-697F-F0E9-1644-76A73820714E}"/>
                    </a:ext>
                  </a:extLst>
                </p:cNvPr>
                <p:cNvSpPr/>
                <p:nvPr/>
              </p:nvSpPr>
              <p:spPr>
                <a:xfrm>
                  <a:off x="1378274" y="1382269"/>
                  <a:ext cx="628650" cy="6286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m2</a:t>
                  </a:r>
                </a:p>
              </p:txBody>
            </p:sp>
            <p:sp>
              <p:nvSpPr>
                <p:cNvPr id="128" name="Oval 127">
                  <a:extLst>
                    <a:ext uri="{FF2B5EF4-FFF2-40B4-BE49-F238E27FC236}">
                      <a16:creationId xmlns:a16="http://schemas.microsoft.com/office/drawing/2014/main" id="{33B77677-1A48-F821-CCDA-517C598FEA0C}"/>
                    </a:ext>
                  </a:extLst>
                </p:cNvPr>
                <p:cNvSpPr/>
                <p:nvPr/>
              </p:nvSpPr>
              <p:spPr>
                <a:xfrm>
                  <a:off x="5776229" y="1382269"/>
                  <a:ext cx="628650" cy="6286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m3</a:t>
                  </a:r>
                </a:p>
              </p:txBody>
            </p:sp>
            <p:sp>
              <p:nvSpPr>
                <p:cNvPr id="129" name="Oval 128">
                  <a:extLst>
                    <a:ext uri="{FF2B5EF4-FFF2-40B4-BE49-F238E27FC236}">
                      <a16:creationId xmlns:a16="http://schemas.microsoft.com/office/drawing/2014/main" id="{57293B2A-FCBD-5D87-9C88-2745BA85F8A9}"/>
                    </a:ext>
                  </a:extLst>
                </p:cNvPr>
                <p:cNvSpPr/>
                <p:nvPr/>
              </p:nvSpPr>
              <p:spPr>
                <a:xfrm>
                  <a:off x="2491372" y="253556"/>
                  <a:ext cx="628650" cy="62865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1400" dirty="0"/>
                    <a:t>f1</a:t>
                  </a:r>
                </a:p>
              </p:txBody>
            </p:sp>
            <p:sp>
              <p:nvSpPr>
                <p:cNvPr id="130" name="Oval 129">
                  <a:extLst>
                    <a:ext uri="{FF2B5EF4-FFF2-40B4-BE49-F238E27FC236}">
                      <a16:creationId xmlns:a16="http://schemas.microsoft.com/office/drawing/2014/main" id="{93AA514F-B717-2510-2BA1-7701664AB6EF}"/>
                    </a:ext>
                  </a:extLst>
                </p:cNvPr>
                <p:cNvSpPr/>
                <p:nvPr/>
              </p:nvSpPr>
              <p:spPr>
                <a:xfrm>
                  <a:off x="3546597" y="253556"/>
                  <a:ext cx="628650" cy="62865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1400" dirty="0"/>
                    <a:t>f2</a:t>
                  </a:r>
                </a:p>
              </p:txBody>
            </p:sp>
            <p:sp>
              <p:nvSpPr>
                <p:cNvPr id="131" name="Oval 130">
                  <a:extLst>
                    <a:ext uri="{FF2B5EF4-FFF2-40B4-BE49-F238E27FC236}">
                      <a16:creationId xmlns:a16="http://schemas.microsoft.com/office/drawing/2014/main" id="{210573A5-B9A7-B50C-FC9E-A7D4B3BCF228}"/>
                    </a:ext>
                  </a:extLst>
                </p:cNvPr>
                <p:cNvSpPr/>
                <p:nvPr/>
              </p:nvSpPr>
              <p:spPr>
                <a:xfrm>
                  <a:off x="4601822" y="253556"/>
                  <a:ext cx="628650" cy="62865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1400" dirty="0"/>
                    <a:t>f3</a:t>
                  </a:r>
                </a:p>
              </p:txBody>
            </p:sp>
            <p:cxnSp>
              <p:nvCxnSpPr>
                <p:cNvPr id="132" name="Straight Arrow Connector 131">
                  <a:extLst>
                    <a:ext uri="{FF2B5EF4-FFF2-40B4-BE49-F238E27FC236}">
                      <a16:creationId xmlns:a16="http://schemas.microsoft.com/office/drawing/2014/main" id="{63D88BED-9809-D56D-764E-14B1B1739F3A}"/>
                    </a:ext>
                  </a:extLst>
                </p:cNvPr>
                <p:cNvCxnSpPr>
                  <a:stCxn id="126" idx="6"/>
                  <a:endCxn id="127" idx="2"/>
                </p:cNvCxnSpPr>
                <p:nvPr/>
              </p:nvCxnSpPr>
              <p:spPr>
                <a:xfrm>
                  <a:off x="893826" y="1696594"/>
                  <a:ext cx="484448"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33" name="Straight Arrow Connector 132">
                  <a:extLst>
                    <a:ext uri="{FF2B5EF4-FFF2-40B4-BE49-F238E27FC236}">
                      <a16:creationId xmlns:a16="http://schemas.microsoft.com/office/drawing/2014/main" id="{583BE6A7-29D6-CB46-E835-0D8799186B19}"/>
                    </a:ext>
                  </a:extLst>
                </p:cNvPr>
                <p:cNvCxnSpPr>
                  <a:cxnSpLocks/>
                  <a:stCxn id="127" idx="6"/>
                  <a:endCxn id="128" idx="2"/>
                </p:cNvCxnSpPr>
                <p:nvPr/>
              </p:nvCxnSpPr>
              <p:spPr>
                <a:xfrm>
                  <a:off x="2006924" y="1696594"/>
                  <a:ext cx="3769305"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34" name="Elbow Connector 133">
                  <a:extLst>
                    <a:ext uri="{FF2B5EF4-FFF2-40B4-BE49-F238E27FC236}">
                      <a16:creationId xmlns:a16="http://schemas.microsoft.com/office/drawing/2014/main" id="{0C8DF220-DB76-9F27-C1C5-EE886293F8FF}"/>
                    </a:ext>
                  </a:extLst>
                </p:cNvPr>
                <p:cNvCxnSpPr>
                  <a:stCxn id="127" idx="0"/>
                  <a:endCxn id="129" idx="2"/>
                </p:cNvCxnSpPr>
                <p:nvPr/>
              </p:nvCxnSpPr>
              <p:spPr>
                <a:xfrm rot="5400000" flipH="1" flipV="1">
                  <a:off x="1684791" y="575689"/>
                  <a:ext cx="814388" cy="798773"/>
                </a:xfrm>
                <a:prstGeom prst="bentConnector2">
                  <a:avLst/>
                </a:prstGeom>
                <a:ln w="38100">
                  <a:tailEnd type="triangle"/>
                </a:ln>
              </p:spPr>
              <p:style>
                <a:lnRef idx="3">
                  <a:schemeClr val="accent4"/>
                </a:lnRef>
                <a:fillRef idx="0">
                  <a:schemeClr val="accent4"/>
                </a:fillRef>
                <a:effectRef idx="2">
                  <a:schemeClr val="accent4"/>
                </a:effectRef>
                <a:fontRef idx="minor">
                  <a:schemeClr val="tx1"/>
                </a:fontRef>
              </p:style>
            </p:cxnSp>
            <p:cxnSp>
              <p:nvCxnSpPr>
                <p:cNvPr id="135" name="Straight Arrow Connector 134">
                  <a:extLst>
                    <a:ext uri="{FF2B5EF4-FFF2-40B4-BE49-F238E27FC236}">
                      <a16:creationId xmlns:a16="http://schemas.microsoft.com/office/drawing/2014/main" id="{69CBC9E5-1DAA-5770-9517-9C252726D0AD}"/>
                    </a:ext>
                  </a:extLst>
                </p:cNvPr>
                <p:cNvCxnSpPr>
                  <a:cxnSpLocks/>
                  <a:stCxn id="129" idx="6"/>
                  <a:endCxn id="130" idx="2"/>
                </p:cNvCxnSpPr>
                <p:nvPr/>
              </p:nvCxnSpPr>
              <p:spPr>
                <a:xfrm>
                  <a:off x="3120022" y="567881"/>
                  <a:ext cx="426575" cy="0"/>
                </a:xfrm>
                <a:prstGeom prst="straightConnector1">
                  <a:avLst/>
                </a:prstGeom>
                <a:ln w="38100">
                  <a:tailEnd type="triangle"/>
                </a:ln>
              </p:spPr>
              <p:style>
                <a:lnRef idx="3">
                  <a:schemeClr val="accent4"/>
                </a:lnRef>
                <a:fillRef idx="0">
                  <a:schemeClr val="accent4"/>
                </a:fillRef>
                <a:effectRef idx="2">
                  <a:schemeClr val="accent4"/>
                </a:effectRef>
                <a:fontRef idx="minor">
                  <a:schemeClr val="tx1"/>
                </a:fontRef>
              </p:style>
            </p:cxnSp>
            <p:cxnSp>
              <p:nvCxnSpPr>
                <p:cNvPr id="136" name="Straight Arrow Connector 135">
                  <a:extLst>
                    <a:ext uri="{FF2B5EF4-FFF2-40B4-BE49-F238E27FC236}">
                      <a16:creationId xmlns:a16="http://schemas.microsoft.com/office/drawing/2014/main" id="{A9716B4B-F3D1-D2A4-7F41-771FB6EA03DA}"/>
                    </a:ext>
                  </a:extLst>
                </p:cNvPr>
                <p:cNvCxnSpPr>
                  <a:cxnSpLocks/>
                  <a:stCxn id="130" idx="6"/>
                  <a:endCxn id="131" idx="2"/>
                </p:cNvCxnSpPr>
                <p:nvPr/>
              </p:nvCxnSpPr>
              <p:spPr>
                <a:xfrm>
                  <a:off x="4175247" y="567881"/>
                  <a:ext cx="426575" cy="0"/>
                </a:xfrm>
                <a:prstGeom prst="straightConnector1">
                  <a:avLst/>
                </a:prstGeom>
                <a:ln w="38100">
                  <a:tailEnd type="triangle"/>
                </a:ln>
              </p:spPr>
              <p:style>
                <a:lnRef idx="3">
                  <a:schemeClr val="accent4"/>
                </a:lnRef>
                <a:fillRef idx="0">
                  <a:schemeClr val="accent4"/>
                </a:fillRef>
                <a:effectRef idx="2">
                  <a:schemeClr val="accent4"/>
                </a:effectRef>
                <a:fontRef idx="minor">
                  <a:schemeClr val="tx1"/>
                </a:fontRef>
              </p:style>
            </p:cxnSp>
            <p:cxnSp>
              <p:nvCxnSpPr>
                <p:cNvPr id="137" name="Elbow Connector 136">
                  <a:extLst>
                    <a:ext uri="{FF2B5EF4-FFF2-40B4-BE49-F238E27FC236}">
                      <a16:creationId xmlns:a16="http://schemas.microsoft.com/office/drawing/2014/main" id="{46FE216D-37CB-BB7F-87FE-7E1FD4E32503}"/>
                    </a:ext>
                  </a:extLst>
                </p:cNvPr>
                <p:cNvCxnSpPr>
                  <a:stCxn id="131" idx="6"/>
                  <a:endCxn id="128" idx="0"/>
                </p:cNvCxnSpPr>
                <p:nvPr/>
              </p:nvCxnSpPr>
              <p:spPr>
                <a:xfrm>
                  <a:off x="5230472" y="567881"/>
                  <a:ext cx="860082" cy="814388"/>
                </a:xfrm>
                <a:prstGeom prst="bentConnector2">
                  <a:avLst/>
                </a:prstGeom>
                <a:ln w="38100">
                  <a:tailEnd type="triangle"/>
                </a:ln>
              </p:spPr>
              <p:style>
                <a:lnRef idx="1">
                  <a:schemeClr val="accent4"/>
                </a:lnRef>
                <a:fillRef idx="0">
                  <a:schemeClr val="accent4"/>
                </a:fillRef>
                <a:effectRef idx="0">
                  <a:schemeClr val="accent4"/>
                </a:effectRef>
                <a:fontRef idx="minor">
                  <a:schemeClr val="tx1"/>
                </a:fontRef>
              </p:style>
            </p:cxnSp>
          </p:grpSp>
          <p:grpSp>
            <p:nvGrpSpPr>
              <p:cNvPr id="113" name="Group 112">
                <a:extLst>
                  <a:ext uri="{FF2B5EF4-FFF2-40B4-BE49-F238E27FC236}">
                    <a16:creationId xmlns:a16="http://schemas.microsoft.com/office/drawing/2014/main" id="{B2D4F882-CD54-46A1-F326-848AB7987504}"/>
                  </a:ext>
                </a:extLst>
              </p:cNvPr>
              <p:cNvGrpSpPr/>
              <p:nvPr/>
            </p:nvGrpSpPr>
            <p:grpSpPr>
              <a:xfrm>
                <a:off x="6238798" y="1189244"/>
                <a:ext cx="4965296" cy="1757363"/>
                <a:chOff x="265176" y="253556"/>
                <a:chExt cx="4965296" cy="1757363"/>
              </a:xfrm>
            </p:grpSpPr>
            <p:sp>
              <p:nvSpPr>
                <p:cNvPr id="115" name="Oval 114">
                  <a:extLst>
                    <a:ext uri="{FF2B5EF4-FFF2-40B4-BE49-F238E27FC236}">
                      <a16:creationId xmlns:a16="http://schemas.microsoft.com/office/drawing/2014/main" id="{A1B54733-7091-CAAE-469D-A0DDEE8F4EA1}"/>
                    </a:ext>
                  </a:extLst>
                </p:cNvPr>
                <p:cNvSpPr/>
                <p:nvPr/>
              </p:nvSpPr>
              <p:spPr>
                <a:xfrm>
                  <a:off x="265176" y="1382269"/>
                  <a:ext cx="628650" cy="6286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m1</a:t>
                  </a:r>
                </a:p>
              </p:txBody>
            </p:sp>
            <p:sp>
              <p:nvSpPr>
                <p:cNvPr id="116" name="Oval 115">
                  <a:extLst>
                    <a:ext uri="{FF2B5EF4-FFF2-40B4-BE49-F238E27FC236}">
                      <a16:creationId xmlns:a16="http://schemas.microsoft.com/office/drawing/2014/main" id="{D8C9F14F-BF6B-F47F-A289-DC6DCEC9112D}"/>
                    </a:ext>
                  </a:extLst>
                </p:cNvPr>
                <p:cNvSpPr/>
                <p:nvPr/>
              </p:nvSpPr>
              <p:spPr>
                <a:xfrm>
                  <a:off x="1378274" y="1382269"/>
                  <a:ext cx="628650" cy="6286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m2</a:t>
                  </a:r>
                </a:p>
              </p:txBody>
            </p:sp>
            <p:sp>
              <p:nvSpPr>
                <p:cNvPr id="117" name="Oval 116">
                  <a:extLst>
                    <a:ext uri="{FF2B5EF4-FFF2-40B4-BE49-F238E27FC236}">
                      <a16:creationId xmlns:a16="http://schemas.microsoft.com/office/drawing/2014/main" id="{29B7831E-CF55-1203-35AB-7122D1FCA69C}"/>
                    </a:ext>
                  </a:extLst>
                </p:cNvPr>
                <p:cNvSpPr/>
                <p:nvPr/>
              </p:nvSpPr>
              <p:spPr>
                <a:xfrm>
                  <a:off x="2491372" y="253556"/>
                  <a:ext cx="628650" cy="62865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1400" dirty="0"/>
                    <a:t>f1</a:t>
                  </a:r>
                </a:p>
              </p:txBody>
            </p:sp>
            <p:sp>
              <p:nvSpPr>
                <p:cNvPr id="118" name="Oval 117">
                  <a:extLst>
                    <a:ext uri="{FF2B5EF4-FFF2-40B4-BE49-F238E27FC236}">
                      <a16:creationId xmlns:a16="http://schemas.microsoft.com/office/drawing/2014/main" id="{E6B2F8D9-AB80-649D-0EF0-EFCFD4D9B927}"/>
                    </a:ext>
                  </a:extLst>
                </p:cNvPr>
                <p:cNvSpPr/>
                <p:nvPr/>
              </p:nvSpPr>
              <p:spPr>
                <a:xfrm>
                  <a:off x="3546597" y="253556"/>
                  <a:ext cx="628650" cy="62865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1400" dirty="0"/>
                    <a:t>f2</a:t>
                  </a:r>
                </a:p>
              </p:txBody>
            </p:sp>
            <p:sp>
              <p:nvSpPr>
                <p:cNvPr id="119" name="Oval 118">
                  <a:extLst>
                    <a:ext uri="{FF2B5EF4-FFF2-40B4-BE49-F238E27FC236}">
                      <a16:creationId xmlns:a16="http://schemas.microsoft.com/office/drawing/2014/main" id="{AE31293F-1433-208C-EAC3-8E86287ABFBE}"/>
                    </a:ext>
                  </a:extLst>
                </p:cNvPr>
                <p:cNvSpPr/>
                <p:nvPr/>
              </p:nvSpPr>
              <p:spPr>
                <a:xfrm>
                  <a:off x="4601822" y="253556"/>
                  <a:ext cx="628650" cy="62865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1400" dirty="0"/>
                    <a:t>f3</a:t>
                  </a:r>
                </a:p>
              </p:txBody>
            </p:sp>
            <p:cxnSp>
              <p:nvCxnSpPr>
                <p:cNvPr id="120" name="Straight Arrow Connector 119">
                  <a:extLst>
                    <a:ext uri="{FF2B5EF4-FFF2-40B4-BE49-F238E27FC236}">
                      <a16:creationId xmlns:a16="http://schemas.microsoft.com/office/drawing/2014/main" id="{0EB6C830-45F9-DBC5-A515-6864F39949FB}"/>
                    </a:ext>
                  </a:extLst>
                </p:cNvPr>
                <p:cNvCxnSpPr>
                  <a:stCxn id="115" idx="6"/>
                  <a:endCxn id="116" idx="2"/>
                </p:cNvCxnSpPr>
                <p:nvPr/>
              </p:nvCxnSpPr>
              <p:spPr>
                <a:xfrm>
                  <a:off x="893826" y="1696594"/>
                  <a:ext cx="484448"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21" name="Elbow Connector 120">
                  <a:extLst>
                    <a:ext uri="{FF2B5EF4-FFF2-40B4-BE49-F238E27FC236}">
                      <a16:creationId xmlns:a16="http://schemas.microsoft.com/office/drawing/2014/main" id="{6611A57A-73D5-40BA-828E-816C84BC33CE}"/>
                    </a:ext>
                  </a:extLst>
                </p:cNvPr>
                <p:cNvCxnSpPr>
                  <a:stCxn id="116" idx="0"/>
                  <a:endCxn id="117" idx="2"/>
                </p:cNvCxnSpPr>
                <p:nvPr/>
              </p:nvCxnSpPr>
              <p:spPr>
                <a:xfrm rot="5400000" flipH="1" flipV="1">
                  <a:off x="1684791" y="575689"/>
                  <a:ext cx="814388" cy="798773"/>
                </a:xfrm>
                <a:prstGeom prst="bentConnector2">
                  <a:avLst/>
                </a:prstGeom>
                <a:ln w="38100">
                  <a:tailEnd type="triangle"/>
                </a:ln>
              </p:spPr>
              <p:style>
                <a:lnRef idx="3">
                  <a:schemeClr val="accent4"/>
                </a:lnRef>
                <a:fillRef idx="0">
                  <a:schemeClr val="accent4"/>
                </a:fillRef>
                <a:effectRef idx="2">
                  <a:schemeClr val="accent4"/>
                </a:effectRef>
                <a:fontRef idx="minor">
                  <a:schemeClr val="tx1"/>
                </a:fontRef>
              </p:style>
            </p:cxnSp>
            <p:cxnSp>
              <p:nvCxnSpPr>
                <p:cNvPr id="122" name="Straight Arrow Connector 121">
                  <a:extLst>
                    <a:ext uri="{FF2B5EF4-FFF2-40B4-BE49-F238E27FC236}">
                      <a16:creationId xmlns:a16="http://schemas.microsoft.com/office/drawing/2014/main" id="{A7F6B003-2615-7406-EBDD-A5A517655808}"/>
                    </a:ext>
                  </a:extLst>
                </p:cNvPr>
                <p:cNvCxnSpPr>
                  <a:cxnSpLocks/>
                  <a:stCxn id="117" idx="6"/>
                  <a:endCxn id="118" idx="2"/>
                </p:cNvCxnSpPr>
                <p:nvPr/>
              </p:nvCxnSpPr>
              <p:spPr>
                <a:xfrm>
                  <a:off x="3120022" y="567881"/>
                  <a:ext cx="426575" cy="0"/>
                </a:xfrm>
                <a:prstGeom prst="straightConnector1">
                  <a:avLst/>
                </a:prstGeom>
                <a:ln w="38100">
                  <a:tailEnd type="triangle"/>
                </a:ln>
              </p:spPr>
              <p:style>
                <a:lnRef idx="3">
                  <a:schemeClr val="accent4"/>
                </a:lnRef>
                <a:fillRef idx="0">
                  <a:schemeClr val="accent4"/>
                </a:fillRef>
                <a:effectRef idx="2">
                  <a:schemeClr val="accent4"/>
                </a:effectRef>
                <a:fontRef idx="minor">
                  <a:schemeClr val="tx1"/>
                </a:fontRef>
              </p:style>
            </p:cxnSp>
            <p:cxnSp>
              <p:nvCxnSpPr>
                <p:cNvPr id="123" name="Straight Arrow Connector 122">
                  <a:extLst>
                    <a:ext uri="{FF2B5EF4-FFF2-40B4-BE49-F238E27FC236}">
                      <a16:creationId xmlns:a16="http://schemas.microsoft.com/office/drawing/2014/main" id="{9BB5EE54-B3FB-31E7-CD69-E7A41312FDC1}"/>
                    </a:ext>
                  </a:extLst>
                </p:cNvPr>
                <p:cNvCxnSpPr>
                  <a:cxnSpLocks/>
                  <a:stCxn id="118" idx="6"/>
                  <a:endCxn id="119" idx="2"/>
                </p:cNvCxnSpPr>
                <p:nvPr/>
              </p:nvCxnSpPr>
              <p:spPr>
                <a:xfrm>
                  <a:off x="4175247" y="567881"/>
                  <a:ext cx="426575" cy="0"/>
                </a:xfrm>
                <a:prstGeom prst="straightConnector1">
                  <a:avLst/>
                </a:prstGeom>
                <a:ln w="38100">
                  <a:tailEnd type="triangle"/>
                </a:ln>
              </p:spPr>
              <p:style>
                <a:lnRef idx="3">
                  <a:schemeClr val="accent4"/>
                </a:lnRef>
                <a:fillRef idx="0">
                  <a:schemeClr val="accent4"/>
                </a:fillRef>
                <a:effectRef idx="2">
                  <a:schemeClr val="accent4"/>
                </a:effectRef>
                <a:fontRef idx="minor">
                  <a:schemeClr val="tx1"/>
                </a:fontRef>
              </p:style>
            </p:cxnSp>
          </p:grpSp>
          <p:sp>
            <p:nvSpPr>
              <p:cNvPr id="111" name="Down Arrow 110">
                <a:extLst>
                  <a:ext uri="{FF2B5EF4-FFF2-40B4-BE49-F238E27FC236}">
                    <a16:creationId xmlns:a16="http://schemas.microsoft.com/office/drawing/2014/main" id="{BC9727A9-B8BC-7BFA-A608-524A7A3F46B0}"/>
                  </a:ext>
                </a:extLst>
              </p:cNvPr>
              <p:cNvSpPr/>
              <p:nvPr/>
            </p:nvSpPr>
            <p:spPr>
              <a:xfrm>
                <a:off x="8838278" y="2726873"/>
                <a:ext cx="1165243" cy="1579998"/>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112" name="TextBox 111">
                <a:extLst>
                  <a:ext uri="{FF2B5EF4-FFF2-40B4-BE49-F238E27FC236}">
                    <a16:creationId xmlns:a16="http://schemas.microsoft.com/office/drawing/2014/main" id="{4F96E789-E1A9-6AA5-420B-E1ABB683C3A0}"/>
                  </a:ext>
                </a:extLst>
              </p:cNvPr>
              <p:cNvSpPr txBox="1"/>
              <p:nvPr/>
            </p:nvSpPr>
            <p:spPr>
              <a:xfrm>
                <a:off x="8125513" y="3065418"/>
                <a:ext cx="2590774" cy="369332"/>
              </a:xfrm>
              <a:prstGeom prst="rect">
                <a:avLst/>
              </a:prstGeom>
              <a:solidFill>
                <a:schemeClr val="bg1"/>
              </a:solidFill>
            </p:spPr>
            <p:txBody>
              <a:bodyPr wrap="none" rtlCol="0">
                <a:spAutoFit/>
              </a:bodyPr>
              <a:lstStyle/>
              <a:p>
                <a:r>
                  <a:rPr lang="en-US" sz="1800" dirty="0">
                    <a:latin typeface="Consolas" panose="020B0609020204030204" pitchFamily="49" charset="0"/>
                    <a:cs typeface="Consolas" panose="020B0609020204030204" pitchFamily="49" charset="0"/>
                  </a:rPr>
                  <a:t>git merge </a:t>
                </a:r>
                <a:r>
                  <a:rPr lang="en-US" sz="1800" dirty="0" err="1">
                    <a:latin typeface="Consolas" panose="020B0609020204030204" pitchFamily="49" charset="0"/>
                    <a:cs typeface="Consolas" panose="020B0609020204030204" pitchFamily="49" charset="0"/>
                  </a:rPr>
                  <a:t>my_branch</a:t>
                </a:r>
                <a:endParaRPr lang="en-US" sz="1800" dirty="0"/>
              </a:p>
            </p:txBody>
          </p:sp>
        </p:grpSp>
        <p:sp>
          <p:nvSpPr>
            <p:cNvPr id="4" name="5-Point Star 3">
              <a:extLst>
                <a:ext uri="{FF2B5EF4-FFF2-40B4-BE49-F238E27FC236}">
                  <a16:creationId xmlns:a16="http://schemas.microsoft.com/office/drawing/2014/main" id="{2596D372-05FB-C1EA-DD07-9F55F0D577E1}"/>
                </a:ext>
              </a:extLst>
            </p:cNvPr>
            <p:cNvSpPr/>
            <p:nvPr/>
          </p:nvSpPr>
          <p:spPr>
            <a:xfrm>
              <a:off x="7759757" y="2691489"/>
              <a:ext cx="337911" cy="280843"/>
            </a:xfrm>
            <a:prstGeom prst="star5">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5-Point Star 5">
              <a:extLst>
                <a:ext uri="{FF2B5EF4-FFF2-40B4-BE49-F238E27FC236}">
                  <a16:creationId xmlns:a16="http://schemas.microsoft.com/office/drawing/2014/main" id="{65AD64A2-1848-B855-CB74-ED898D6ABD63}"/>
                </a:ext>
              </a:extLst>
            </p:cNvPr>
            <p:cNvSpPr/>
            <p:nvPr/>
          </p:nvSpPr>
          <p:spPr>
            <a:xfrm>
              <a:off x="11764427" y="5503069"/>
              <a:ext cx="337911" cy="280843"/>
            </a:xfrm>
            <a:prstGeom prst="star5">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45875298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F1575ED-39D8-8F4D-AEC0-D808AC4A51D0}"/>
              </a:ext>
            </a:extLst>
          </p:cNvPr>
          <p:cNvSpPr>
            <a:spLocks noGrp="1"/>
          </p:cNvSpPr>
          <p:nvPr>
            <p:ph type="title"/>
          </p:nvPr>
        </p:nvSpPr>
        <p:spPr/>
        <p:txBody>
          <a:bodyPr/>
          <a:lstStyle/>
          <a:p>
            <a:r>
              <a:rPr lang="en-US" dirty="0"/>
              <a:t>Merge Conflicts</a:t>
            </a:r>
          </a:p>
        </p:txBody>
      </p:sp>
      <p:sp>
        <p:nvSpPr>
          <p:cNvPr id="2" name="Content Placeholder 1">
            <a:extLst>
              <a:ext uri="{FF2B5EF4-FFF2-40B4-BE49-F238E27FC236}">
                <a16:creationId xmlns:a16="http://schemas.microsoft.com/office/drawing/2014/main" id="{FAFB1E60-6964-4375-AE41-9B361427F26F}"/>
              </a:ext>
            </a:extLst>
          </p:cNvPr>
          <p:cNvSpPr>
            <a:spLocks noGrp="1"/>
          </p:cNvSpPr>
          <p:nvPr>
            <p:ph idx="1"/>
          </p:nvPr>
        </p:nvSpPr>
        <p:spPr/>
        <p:txBody>
          <a:bodyPr>
            <a:normAutofit fontScale="70000" lnSpcReduction="20000"/>
          </a:bodyPr>
          <a:lstStyle/>
          <a:p>
            <a:r>
              <a:rPr lang="en-US" dirty="0"/>
              <a:t>Git will do its best to merge automatically</a:t>
            </a:r>
          </a:p>
          <a:p>
            <a:r>
              <a:rPr lang="en-US" dirty="0"/>
              <a:t>Merge conflicts occur when when git can’t do this</a:t>
            </a:r>
          </a:p>
          <a:p>
            <a:pPr lvl="1"/>
            <a:r>
              <a:rPr lang="en-US" dirty="0"/>
              <a:t>Usually when the same line is changed in both branches</a:t>
            </a:r>
          </a:p>
          <a:p>
            <a:r>
              <a:rPr lang="en-US" dirty="0"/>
              <a:t>Merge conflicts must be resolved before completing the merge</a:t>
            </a:r>
          </a:p>
          <a:p>
            <a:pPr lvl="1"/>
            <a:r>
              <a:rPr lang="en-US" dirty="0"/>
              <a:t>Manually using a text editor</a:t>
            </a:r>
          </a:p>
          <a:p>
            <a:pPr lvl="1"/>
            <a:r>
              <a:rPr lang="en-US" dirty="0"/>
              <a:t>Using a visual </a:t>
            </a:r>
            <a:r>
              <a:rPr lang="en-US" dirty="0" err="1"/>
              <a:t>mergetool</a:t>
            </a:r>
            <a:endParaRPr lang="en-US" dirty="0"/>
          </a:p>
          <a:p>
            <a:pPr lvl="1"/>
            <a:r>
              <a:rPr lang="en-US" dirty="0"/>
              <a:t>Communicate with collaborators if necessary</a:t>
            </a:r>
          </a:p>
          <a:p>
            <a:r>
              <a:rPr lang="en-US" dirty="0"/>
              <a:t>Ways to avoid</a:t>
            </a:r>
          </a:p>
          <a:p>
            <a:pPr lvl="1"/>
            <a:r>
              <a:rPr lang="en-US" dirty="0"/>
              <a:t>Modular code- work on one feature less likely to impact another</a:t>
            </a:r>
          </a:p>
          <a:p>
            <a:pPr lvl="1"/>
            <a:r>
              <a:rPr lang="en-US" dirty="0"/>
              <a:t>Regularly pull any changes from main and merge into feature branch</a:t>
            </a:r>
          </a:p>
          <a:p>
            <a:pPr lvl="1"/>
            <a:r>
              <a:rPr lang="en-US" dirty="0"/>
              <a:t>When development of a feature is complete, check for and merge any changes from main into the feature branch before merging the feature branch into main</a:t>
            </a:r>
          </a:p>
          <a:p>
            <a:r>
              <a:rPr lang="en-US" dirty="0"/>
              <a:t>Resources</a:t>
            </a:r>
          </a:p>
          <a:p>
            <a:pPr lvl="1"/>
            <a:r>
              <a:rPr lang="en-US" dirty="0">
                <a:hlinkClick r:id="rId3"/>
              </a:rPr>
              <a:t>https://coderefinery.github.io/git-intro/conflicts/</a:t>
            </a:r>
            <a:endParaRPr lang="en-US" dirty="0"/>
          </a:p>
          <a:p>
            <a:pPr lvl="1"/>
            <a:r>
              <a:rPr lang="en-US" dirty="0">
                <a:hlinkClick r:id="rId4"/>
              </a:rPr>
              <a:t>https://www.atlassian.com/git/tutorials/using-branches/merge-conflicts</a:t>
            </a:r>
            <a:endParaRPr lang="en-US" dirty="0"/>
          </a:p>
        </p:txBody>
      </p:sp>
    </p:spTree>
    <p:extLst>
      <p:ext uri="{BB962C8B-B14F-4D97-AF65-F5344CB8AC3E}">
        <p14:creationId xmlns:p14="http://schemas.microsoft.com/office/powerpoint/2010/main" val="317357093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212503F-B773-A738-6A37-5271ED07DC75}"/>
              </a:ext>
            </a:extLst>
          </p:cNvPr>
          <p:cNvSpPr>
            <a:spLocks noGrp="1"/>
          </p:cNvSpPr>
          <p:nvPr>
            <p:ph type="title"/>
          </p:nvPr>
        </p:nvSpPr>
        <p:spPr/>
        <p:txBody>
          <a:bodyPr/>
          <a:lstStyle/>
          <a:p>
            <a:r>
              <a:rPr lang="en-US" dirty="0"/>
              <a:t>Merge vs Rebase</a:t>
            </a:r>
          </a:p>
        </p:txBody>
      </p:sp>
      <p:sp>
        <p:nvSpPr>
          <p:cNvPr id="2" name="Content Placeholder 1">
            <a:extLst>
              <a:ext uri="{FF2B5EF4-FFF2-40B4-BE49-F238E27FC236}">
                <a16:creationId xmlns:a16="http://schemas.microsoft.com/office/drawing/2014/main" id="{E855DDA8-9EA0-6A8D-7B18-E17E8CDDA463}"/>
              </a:ext>
            </a:extLst>
          </p:cNvPr>
          <p:cNvSpPr>
            <a:spLocks noGrp="1"/>
          </p:cNvSpPr>
          <p:nvPr>
            <p:ph idx="1"/>
          </p:nvPr>
        </p:nvSpPr>
        <p:spPr>
          <a:xfrm>
            <a:off x="838201" y="1825624"/>
            <a:ext cx="5675208" cy="4660269"/>
          </a:xfrm>
        </p:spPr>
        <p:txBody>
          <a:bodyPr>
            <a:normAutofit fontScale="92500" lnSpcReduction="10000"/>
          </a:bodyPr>
          <a:lstStyle/>
          <a:p>
            <a:r>
              <a:rPr lang="en-US" dirty="0"/>
              <a:t>Rebase sometimes an alternative to merging</a:t>
            </a:r>
          </a:p>
          <a:p>
            <a:r>
              <a:rPr lang="en-US" dirty="0"/>
              <a:t>For example</a:t>
            </a:r>
          </a:p>
          <a:p>
            <a:pPr lvl="1"/>
            <a:r>
              <a:rPr lang="en-US" dirty="0"/>
              <a:t>Two new main branch commits after branch is created</a:t>
            </a:r>
          </a:p>
          <a:p>
            <a:pPr lvl="1"/>
            <a:r>
              <a:rPr lang="en-US" dirty="0"/>
              <a:t>Rebase your feature branch onto the main branch with</a:t>
            </a:r>
          </a:p>
          <a:p>
            <a:pPr lvl="1"/>
            <a:endParaRPr lang="en-US" dirty="0"/>
          </a:p>
          <a:p>
            <a:pPr lvl="1"/>
            <a:r>
              <a:rPr lang="en-US" dirty="0"/>
              <a:t>This “replays” your branch commits at the end of the main branch</a:t>
            </a:r>
          </a:p>
          <a:p>
            <a:r>
              <a:rPr lang="en-US" dirty="0"/>
              <a:t>Rewrites history</a:t>
            </a:r>
          </a:p>
          <a:p>
            <a:r>
              <a:rPr lang="en-US" dirty="0"/>
              <a:t>Should </a:t>
            </a:r>
            <a:r>
              <a:rPr lang="en-US" u="sng" dirty="0"/>
              <a:t>never</a:t>
            </a:r>
            <a:r>
              <a:rPr lang="en-US" dirty="0"/>
              <a:t> be done on a public branch or commit</a:t>
            </a:r>
          </a:p>
        </p:txBody>
      </p:sp>
      <p:sp>
        <p:nvSpPr>
          <p:cNvPr id="38" name="TextBox 37">
            <a:extLst>
              <a:ext uri="{FF2B5EF4-FFF2-40B4-BE49-F238E27FC236}">
                <a16:creationId xmlns:a16="http://schemas.microsoft.com/office/drawing/2014/main" id="{EF5C063E-D4B1-0BE9-7B26-AB49A9BC2C1F}"/>
              </a:ext>
            </a:extLst>
          </p:cNvPr>
          <p:cNvSpPr txBox="1"/>
          <p:nvPr/>
        </p:nvSpPr>
        <p:spPr>
          <a:xfrm>
            <a:off x="1639074" y="4123587"/>
            <a:ext cx="6106884" cy="369332"/>
          </a:xfrm>
          <a:prstGeom prst="rect">
            <a:avLst/>
          </a:prstGeom>
          <a:noFill/>
        </p:spPr>
        <p:txBody>
          <a:bodyPr wrap="square">
            <a:spAutoFit/>
          </a:bodyPr>
          <a:lstStyle/>
          <a:p>
            <a:r>
              <a:rPr lang="en-US" b="0" dirty="0">
                <a:solidFill>
                  <a:srgbClr val="A0A07D"/>
                </a:solidFill>
                <a:effectLst/>
                <a:latin typeface="Menlo" panose="020B0609030804020204" pitchFamily="49" charset="0"/>
              </a:rPr>
              <a:t>git</a:t>
            </a:r>
            <a:r>
              <a:rPr lang="en-US" b="0" dirty="0">
                <a:solidFill>
                  <a:srgbClr val="D4D4D4"/>
                </a:solidFill>
                <a:effectLst/>
                <a:latin typeface="Menlo" panose="020B0609030804020204" pitchFamily="49" charset="0"/>
              </a:rPr>
              <a:t> </a:t>
            </a:r>
            <a:r>
              <a:rPr lang="en-US" b="0" dirty="0">
                <a:solidFill>
                  <a:srgbClr val="BC846B"/>
                </a:solidFill>
                <a:effectLst/>
                <a:latin typeface="Menlo" panose="020B0609030804020204" pitchFamily="49" charset="0"/>
              </a:rPr>
              <a:t>rebase main</a:t>
            </a:r>
          </a:p>
        </p:txBody>
      </p:sp>
      <p:grpSp>
        <p:nvGrpSpPr>
          <p:cNvPr id="40" name="Group 39" descr="Figure showing the process of rebasing the feature branch onto new commits in the main branch. On the top is a repository with a main and feature branch. The feature branch has three commits and starts from the second commit of the main branch, which has two additinal commits after the split. The current location is on the third commit of the feature branch. Below is an arrow with the text &quot;git rebase main&quot; followed by the same repository, but the feature branch now splits off the fourth and last commit of the main branch.&#13;&#10;">
            <a:extLst>
              <a:ext uri="{FF2B5EF4-FFF2-40B4-BE49-F238E27FC236}">
                <a16:creationId xmlns:a16="http://schemas.microsoft.com/office/drawing/2014/main" id="{7BF4DA49-0585-1D03-F883-9D3430257AD1}"/>
              </a:ext>
            </a:extLst>
          </p:cNvPr>
          <p:cNvGrpSpPr/>
          <p:nvPr/>
        </p:nvGrpSpPr>
        <p:grpSpPr>
          <a:xfrm>
            <a:off x="6002194" y="1284231"/>
            <a:ext cx="6142765" cy="5208644"/>
            <a:chOff x="6002194" y="1284231"/>
            <a:chExt cx="6142765" cy="5208644"/>
          </a:xfrm>
        </p:grpSpPr>
        <p:grpSp>
          <p:nvGrpSpPr>
            <p:cNvPr id="4" name="Group 3" descr="Figure showing the process of rebasing the feature branch onto new commits in the main branch. On the top is a repository with a main and feature branch. The feature branch has three commits and starts from the second commit of the main branch, which has two additinal commits after the split. The current location is on the third commit of the feature branch. Below is an arrow with the text &quot;git rebase main&quot; followed by the same repository, but the feature branch now splits off the fourth and last commit of the main branch.">
              <a:extLst>
                <a:ext uri="{FF2B5EF4-FFF2-40B4-BE49-F238E27FC236}">
                  <a16:creationId xmlns:a16="http://schemas.microsoft.com/office/drawing/2014/main" id="{8A3897A2-51DB-63BD-CB7B-F86E9ED03505}"/>
                </a:ext>
              </a:extLst>
            </p:cNvPr>
            <p:cNvGrpSpPr/>
            <p:nvPr/>
          </p:nvGrpSpPr>
          <p:grpSpPr>
            <a:xfrm>
              <a:off x="6002194" y="1392644"/>
              <a:ext cx="6108296" cy="5100231"/>
              <a:chOff x="6002194" y="1392644"/>
              <a:chExt cx="6108296" cy="5100231"/>
            </a:xfrm>
          </p:grpSpPr>
          <p:grpSp>
            <p:nvGrpSpPr>
              <p:cNvPr id="6" name="Group 5">
                <a:extLst>
                  <a:ext uri="{FF2B5EF4-FFF2-40B4-BE49-F238E27FC236}">
                    <a16:creationId xmlns:a16="http://schemas.microsoft.com/office/drawing/2014/main" id="{422317E5-0A08-00CF-7584-C340D0C31731}"/>
                  </a:ext>
                </a:extLst>
              </p:cNvPr>
              <p:cNvGrpSpPr/>
              <p:nvPr/>
            </p:nvGrpSpPr>
            <p:grpSpPr>
              <a:xfrm>
                <a:off x="6002194" y="4693285"/>
                <a:ext cx="6108296" cy="1799590"/>
                <a:chOff x="1528763" y="3079429"/>
                <a:chExt cx="6108296" cy="1799590"/>
              </a:xfrm>
            </p:grpSpPr>
            <p:sp>
              <p:nvSpPr>
                <p:cNvPr id="7" name="Oval 6">
                  <a:extLst>
                    <a:ext uri="{FF2B5EF4-FFF2-40B4-BE49-F238E27FC236}">
                      <a16:creationId xmlns:a16="http://schemas.microsoft.com/office/drawing/2014/main" id="{CDB68805-B826-7AB7-5C66-147C5D67E802}"/>
                    </a:ext>
                  </a:extLst>
                </p:cNvPr>
                <p:cNvSpPr/>
                <p:nvPr/>
              </p:nvSpPr>
              <p:spPr>
                <a:xfrm>
                  <a:off x="1528763" y="4243388"/>
                  <a:ext cx="628650" cy="6286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m1</a:t>
                  </a:r>
                </a:p>
              </p:txBody>
            </p:sp>
            <p:sp>
              <p:nvSpPr>
                <p:cNvPr id="8" name="Oval 7">
                  <a:extLst>
                    <a:ext uri="{FF2B5EF4-FFF2-40B4-BE49-F238E27FC236}">
                      <a16:creationId xmlns:a16="http://schemas.microsoft.com/office/drawing/2014/main" id="{234E5EEC-3F8C-867E-2DB4-4EB97F27ADFC}"/>
                    </a:ext>
                  </a:extLst>
                </p:cNvPr>
                <p:cNvSpPr/>
                <p:nvPr/>
              </p:nvSpPr>
              <p:spPr>
                <a:xfrm>
                  <a:off x="2641861" y="4243388"/>
                  <a:ext cx="628650" cy="6286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m2</a:t>
                  </a:r>
                </a:p>
              </p:txBody>
            </p:sp>
            <p:sp>
              <p:nvSpPr>
                <p:cNvPr id="9" name="Oval 8">
                  <a:extLst>
                    <a:ext uri="{FF2B5EF4-FFF2-40B4-BE49-F238E27FC236}">
                      <a16:creationId xmlns:a16="http://schemas.microsoft.com/office/drawing/2014/main" id="{C98BEDBE-0456-29C3-FCE4-9EA147CBA205}"/>
                    </a:ext>
                  </a:extLst>
                </p:cNvPr>
                <p:cNvSpPr/>
                <p:nvPr/>
              </p:nvSpPr>
              <p:spPr>
                <a:xfrm>
                  <a:off x="3663202" y="4243388"/>
                  <a:ext cx="628650" cy="6286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m3</a:t>
                  </a:r>
                </a:p>
              </p:txBody>
            </p:sp>
            <p:sp>
              <p:nvSpPr>
                <p:cNvPr id="10" name="Oval 9">
                  <a:extLst>
                    <a:ext uri="{FF2B5EF4-FFF2-40B4-BE49-F238E27FC236}">
                      <a16:creationId xmlns:a16="http://schemas.microsoft.com/office/drawing/2014/main" id="{2117972F-7218-EBE7-46F8-72B883F7C893}"/>
                    </a:ext>
                  </a:extLst>
                </p:cNvPr>
                <p:cNvSpPr/>
                <p:nvPr/>
              </p:nvSpPr>
              <p:spPr>
                <a:xfrm>
                  <a:off x="5228551" y="3079429"/>
                  <a:ext cx="628650" cy="62865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1400" dirty="0"/>
                    <a:t>f1*</a:t>
                  </a:r>
                </a:p>
              </p:txBody>
            </p:sp>
            <p:sp>
              <p:nvSpPr>
                <p:cNvPr id="11" name="Oval 10">
                  <a:extLst>
                    <a:ext uri="{FF2B5EF4-FFF2-40B4-BE49-F238E27FC236}">
                      <a16:creationId xmlns:a16="http://schemas.microsoft.com/office/drawing/2014/main" id="{6B9C2E85-DE91-DEAF-4CC3-2348B2F1C7E6}"/>
                    </a:ext>
                  </a:extLst>
                </p:cNvPr>
                <p:cNvSpPr/>
                <p:nvPr/>
              </p:nvSpPr>
              <p:spPr>
                <a:xfrm>
                  <a:off x="6083014" y="3079429"/>
                  <a:ext cx="628650" cy="62865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1400" dirty="0"/>
                    <a:t>f2*</a:t>
                  </a:r>
                </a:p>
              </p:txBody>
            </p:sp>
            <p:sp>
              <p:nvSpPr>
                <p:cNvPr id="12" name="Oval 11">
                  <a:extLst>
                    <a:ext uri="{FF2B5EF4-FFF2-40B4-BE49-F238E27FC236}">
                      <a16:creationId xmlns:a16="http://schemas.microsoft.com/office/drawing/2014/main" id="{0E272A53-5FB2-484B-46E9-D3DE8A61B538}"/>
                    </a:ext>
                  </a:extLst>
                </p:cNvPr>
                <p:cNvSpPr/>
                <p:nvPr/>
              </p:nvSpPr>
              <p:spPr>
                <a:xfrm>
                  <a:off x="7008409" y="3079429"/>
                  <a:ext cx="628650" cy="62865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1400" dirty="0"/>
                    <a:t>f3*</a:t>
                  </a:r>
                </a:p>
              </p:txBody>
            </p:sp>
            <p:sp>
              <p:nvSpPr>
                <p:cNvPr id="13" name="Oval 12">
                  <a:extLst>
                    <a:ext uri="{FF2B5EF4-FFF2-40B4-BE49-F238E27FC236}">
                      <a16:creationId xmlns:a16="http://schemas.microsoft.com/office/drawing/2014/main" id="{F74FAE7B-ACD3-C245-1571-C0BA563AA029}"/>
                    </a:ext>
                  </a:extLst>
                </p:cNvPr>
                <p:cNvSpPr/>
                <p:nvPr/>
              </p:nvSpPr>
              <p:spPr>
                <a:xfrm>
                  <a:off x="4760906" y="4250369"/>
                  <a:ext cx="628650" cy="6286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m4</a:t>
                  </a:r>
                </a:p>
              </p:txBody>
            </p:sp>
            <p:cxnSp>
              <p:nvCxnSpPr>
                <p:cNvPr id="14" name="Straight Arrow Connector 13">
                  <a:extLst>
                    <a:ext uri="{FF2B5EF4-FFF2-40B4-BE49-F238E27FC236}">
                      <a16:creationId xmlns:a16="http://schemas.microsoft.com/office/drawing/2014/main" id="{6C834C41-2430-317C-A13D-FAC7DE410DEB}"/>
                    </a:ext>
                  </a:extLst>
                </p:cNvPr>
                <p:cNvCxnSpPr>
                  <a:stCxn id="7" idx="6"/>
                  <a:endCxn id="8" idx="2"/>
                </p:cNvCxnSpPr>
                <p:nvPr/>
              </p:nvCxnSpPr>
              <p:spPr>
                <a:xfrm>
                  <a:off x="2157413" y="4557713"/>
                  <a:ext cx="484448"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7E7636EA-C03F-E6B5-0C24-A7D44F2A3BFA}"/>
                    </a:ext>
                  </a:extLst>
                </p:cNvPr>
                <p:cNvCxnSpPr>
                  <a:cxnSpLocks/>
                  <a:stCxn id="8" idx="6"/>
                  <a:endCxn id="9" idx="2"/>
                </p:cNvCxnSpPr>
                <p:nvPr/>
              </p:nvCxnSpPr>
              <p:spPr>
                <a:xfrm>
                  <a:off x="3270511" y="4557713"/>
                  <a:ext cx="392691"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F6B7A469-A9BE-771F-E2A3-FC522C3B3E6D}"/>
                    </a:ext>
                  </a:extLst>
                </p:cNvPr>
                <p:cNvCxnSpPr>
                  <a:cxnSpLocks/>
                  <a:stCxn id="9" idx="6"/>
                  <a:endCxn id="13" idx="2"/>
                </p:cNvCxnSpPr>
                <p:nvPr/>
              </p:nvCxnSpPr>
              <p:spPr>
                <a:xfrm>
                  <a:off x="4291852" y="4557713"/>
                  <a:ext cx="469054" cy="6981"/>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7" name="Elbow Connector 16">
                  <a:extLst>
                    <a:ext uri="{FF2B5EF4-FFF2-40B4-BE49-F238E27FC236}">
                      <a16:creationId xmlns:a16="http://schemas.microsoft.com/office/drawing/2014/main" id="{F9DE608D-6EE8-B65D-354F-E46704F2BF06}"/>
                    </a:ext>
                  </a:extLst>
                </p:cNvPr>
                <p:cNvCxnSpPr>
                  <a:cxnSpLocks/>
                  <a:stCxn id="13" idx="0"/>
                  <a:endCxn id="10" idx="2"/>
                </p:cNvCxnSpPr>
                <p:nvPr/>
              </p:nvCxnSpPr>
              <p:spPr>
                <a:xfrm rot="5400000" flipH="1" flipV="1">
                  <a:off x="4723584" y="3745402"/>
                  <a:ext cx="856615" cy="153320"/>
                </a:xfrm>
                <a:prstGeom prst="bentConnector2">
                  <a:avLst/>
                </a:prstGeom>
                <a:ln w="38100">
                  <a:tailEnd type="triangle"/>
                </a:ln>
              </p:spPr>
              <p:style>
                <a:lnRef idx="3">
                  <a:schemeClr val="accent4"/>
                </a:lnRef>
                <a:fillRef idx="0">
                  <a:schemeClr val="accent4"/>
                </a:fillRef>
                <a:effectRef idx="2">
                  <a:schemeClr val="accent4"/>
                </a:effectRef>
                <a:fontRef idx="minor">
                  <a:schemeClr val="tx1"/>
                </a:fontRef>
              </p:style>
            </p:cxnSp>
            <p:cxnSp>
              <p:nvCxnSpPr>
                <p:cNvPr id="18" name="Straight Arrow Connector 17">
                  <a:extLst>
                    <a:ext uri="{FF2B5EF4-FFF2-40B4-BE49-F238E27FC236}">
                      <a16:creationId xmlns:a16="http://schemas.microsoft.com/office/drawing/2014/main" id="{3A6F1FE4-FCF9-B21D-3013-8792C2A7E53E}"/>
                    </a:ext>
                  </a:extLst>
                </p:cNvPr>
                <p:cNvCxnSpPr>
                  <a:cxnSpLocks/>
                  <a:stCxn id="10" idx="6"/>
                  <a:endCxn id="11" idx="2"/>
                </p:cNvCxnSpPr>
                <p:nvPr/>
              </p:nvCxnSpPr>
              <p:spPr>
                <a:xfrm>
                  <a:off x="5857201" y="3393754"/>
                  <a:ext cx="225813" cy="0"/>
                </a:xfrm>
                <a:prstGeom prst="straightConnector1">
                  <a:avLst/>
                </a:prstGeom>
                <a:ln w="38100">
                  <a:tailEnd type="triangle"/>
                </a:ln>
              </p:spPr>
              <p:style>
                <a:lnRef idx="3">
                  <a:schemeClr val="accent4"/>
                </a:lnRef>
                <a:fillRef idx="0">
                  <a:schemeClr val="accent4"/>
                </a:fillRef>
                <a:effectRef idx="2">
                  <a:schemeClr val="accent4"/>
                </a:effectRef>
                <a:fontRef idx="minor">
                  <a:schemeClr val="tx1"/>
                </a:fontRef>
              </p:style>
            </p:cxnSp>
            <p:cxnSp>
              <p:nvCxnSpPr>
                <p:cNvPr id="19" name="Straight Arrow Connector 18">
                  <a:extLst>
                    <a:ext uri="{FF2B5EF4-FFF2-40B4-BE49-F238E27FC236}">
                      <a16:creationId xmlns:a16="http://schemas.microsoft.com/office/drawing/2014/main" id="{39DCC7A7-1A39-A21B-9D9D-46A9341D492C}"/>
                    </a:ext>
                  </a:extLst>
                </p:cNvPr>
                <p:cNvCxnSpPr>
                  <a:cxnSpLocks/>
                  <a:stCxn id="11" idx="6"/>
                  <a:endCxn id="12" idx="2"/>
                </p:cNvCxnSpPr>
                <p:nvPr/>
              </p:nvCxnSpPr>
              <p:spPr>
                <a:xfrm>
                  <a:off x="6711664" y="3393754"/>
                  <a:ext cx="296745" cy="0"/>
                </a:xfrm>
                <a:prstGeom prst="straightConnector1">
                  <a:avLst/>
                </a:prstGeom>
                <a:ln w="38100">
                  <a:tailEnd type="triangle"/>
                </a:ln>
              </p:spPr>
              <p:style>
                <a:lnRef idx="3">
                  <a:schemeClr val="accent4"/>
                </a:lnRef>
                <a:fillRef idx="0">
                  <a:schemeClr val="accent4"/>
                </a:fillRef>
                <a:effectRef idx="2">
                  <a:schemeClr val="accent4"/>
                </a:effectRef>
                <a:fontRef idx="minor">
                  <a:schemeClr val="tx1"/>
                </a:fontRef>
              </p:style>
            </p:cxnSp>
          </p:grpSp>
          <p:grpSp>
            <p:nvGrpSpPr>
              <p:cNvPr id="21" name="Group 20">
                <a:extLst>
                  <a:ext uri="{FF2B5EF4-FFF2-40B4-BE49-F238E27FC236}">
                    <a16:creationId xmlns:a16="http://schemas.microsoft.com/office/drawing/2014/main" id="{5B929D39-1E0D-8684-90CC-F56E78E5B418}"/>
                  </a:ext>
                </a:extLst>
              </p:cNvPr>
              <p:cNvGrpSpPr/>
              <p:nvPr/>
            </p:nvGrpSpPr>
            <p:grpSpPr>
              <a:xfrm>
                <a:off x="6610978" y="1392644"/>
                <a:ext cx="4965296" cy="1757363"/>
                <a:chOff x="1528763" y="3114675"/>
                <a:chExt cx="4965296" cy="1757363"/>
              </a:xfrm>
            </p:grpSpPr>
            <p:sp>
              <p:nvSpPr>
                <p:cNvPr id="22" name="Oval 21">
                  <a:extLst>
                    <a:ext uri="{FF2B5EF4-FFF2-40B4-BE49-F238E27FC236}">
                      <a16:creationId xmlns:a16="http://schemas.microsoft.com/office/drawing/2014/main" id="{C72434F8-DBDE-F5C6-4DF4-C5FAE21D7EF7}"/>
                    </a:ext>
                  </a:extLst>
                </p:cNvPr>
                <p:cNvSpPr/>
                <p:nvPr/>
              </p:nvSpPr>
              <p:spPr>
                <a:xfrm>
                  <a:off x="1528763" y="4243388"/>
                  <a:ext cx="628650" cy="6286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m1</a:t>
                  </a:r>
                </a:p>
              </p:txBody>
            </p:sp>
            <p:sp>
              <p:nvSpPr>
                <p:cNvPr id="23" name="Oval 22">
                  <a:extLst>
                    <a:ext uri="{FF2B5EF4-FFF2-40B4-BE49-F238E27FC236}">
                      <a16:creationId xmlns:a16="http://schemas.microsoft.com/office/drawing/2014/main" id="{80CD11BF-AA92-6CFA-D910-6B7122B788F3}"/>
                    </a:ext>
                  </a:extLst>
                </p:cNvPr>
                <p:cNvSpPr/>
                <p:nvPr/>
              </p:nvSpPr>
              <p:spPr>
                <a:xfrm>
                  <a:off x="2641861" y="4243388"/>
                  <a:ext cx="628650" cy="6286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m2</a:t>
                  </a:r>
                </a:p>
              </p:txBody>
            </p:sp>
            <p:sp>
              <p:nvSpPr>
                <p:cNvPr id="24" name="Oval 23">
                  <a:extLst>
                    <a:ext uri="{FF2B5EF4-FFF2-40B4-BE49-F238E27FC236}">
                      <a16:creationId xmlns:a16="http://schemas.microsoft.com/office/drawing/2014/main" id="{D8A37FCA-A195-1E88-57D4-3250128EC4ED}"/>
                    </a:ext>
                  </a:extLst>
                </p:cNvPr>
                <p:cNvSpPr/>
                <p:nvPr/>
              </p:nvSpPr>
              <p:spPr>
                <a:xfrm>
                  <a:off x="3653921" y="4243388"/>
                  <a:ext cx="628650" cy="6286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m3</a:t>
                  </a:r>
                </a:p>
              </p:txBody>
            </p:sp>
            <p:sp>
              <p:nvSpPr>
                <p:cNvPr id="25" name="Oval 24">
                  <a:extLst>
                    <a:ext uri="{FF2B5EF4-FFF2-40B4-BE49-F238E27FC236}">
                      <a16:creationId xmlns:a16="http://schemas.microsoft.com/office/drawing/2014/main" id="{73CE53C1-83F4-D97C-D21B-9761C925CE8B}"/>
                    </a:ext>
                  </a:extLst>
                </p:cNvPr>
                <p:cNvSpPr/>
                <p:nvPr/>
              </p:nvSpPr>
              <p:spPr>
                <a:xfrm>
                  <a:off x="3754959" y="3114675"/>
                  <a:ext cx="628650" cy="62865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1400" dirty="0"/>
                    <a:t>f1</a:t>
                  </a:r>
                </a:p>
              </p:txBody>
            </p:sp>
            <p:sp>
              <p:nvSpPr>
                <p:cNvPr id="26" name="Oval 25">
                  <a:extLst>
                    <a:ext uri="{FF2B5EF4-FFF2-40B4-BE49-F238E27FC236}">
                      <a16:creationId xmlns:a16="http://schemas.microsoft.com/office/drawing/2014/main" id="{9B17B749-DF6B-3F70-027B-DB4511C29D41}"/>
                    </a:ext>
                  </a:extLst>
                </p:cNvPr>
                <p:cNvSpPr/>
                <p:nvPr/>
              </p:nvSpPr>
              <p:spPr>
                <a:xfrm>
                  <a:off x="4810184" y="3114675"/>
                  <a:ext cx="628650" cy="62865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1400" dirty="0"/>
                    <a:t>f2</a:t>
                  </a:r>
                </a:p>
              </p:txBody>
            </p:sp>
            <p:sp>
              <p:nvSpPr>
                <p:cNvPr id="27" name="Oval 26">
                  <a:extLst>
                    <a:ext uri="{FF2B5EF4-FFF2-40B4-BE49-F238E27FC236}">
                      <a16:creationId xmlns:a16="http://schemas.microsoft.com/office/drawing/2014/main" id="{707ECA80-E446-C115-C6EC-A3A19EA39468}"/>
                    </a:ext>
                  </a:extLst>
                </p:cNvPr>
                <p:cNvSpPr/>
                <p:nvPr/>
              </p:nvSpPr>
              <p:spPr>
                <a:xfrm>
                  <a:off x="5865409" y="3114675"/>
                  <a:ext cx="628650" cy="62865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1400" dirty="0"/>
                    <a:t>f3</a:t>
                  </a:r>
                </a:p>
              </p:txBody>
            </p:sp>
            <p:sp>
              <p:nvSpPr>
                <p:cNvPr id="28" name="Oval 27">
                  <a:extLst>
                    <a:ext uri="{FF2B5EF4-FFF2-40B4-BE49-F238E27FC236}">
                      <a16:creationId xmlns:a16="http://schemas.microsoft.com/office/drawing/2014/main" id="{54AC47EB-00E4-969C-1F00-B9B119E69557}"/>
                    </a:ext>
                  </a:extLst>
                </p:cNvPr>
                <p:cNvSpPr/>
                <p:nvPr/>
              </p:nvSpPr>
              <p:spPr>
                <a:xfrm>
                  <a:off x="4778824" y="4243388"/>
                  <a:ext cx="628650" cy="6286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m4</a:t>
                  </a:r>
                </a:p>
              </p:txBody>
            </p:sp>
            <p:cxnSp>
              <p:nvCxnSpPr>
                <p:cNvPr id="29" name="Straight Arrow Connector 28">
                  <a:extLst>
                    <a:ext uri="{FF2B5EF4-FFF2-40B4-BE49-F238E27FC236}">
                      <a16:creationId xmlns:a16="http://schemas.microsoft.com/office/drawing/2014/main" id="{9EB337B7-D53A-1283-C924-4F64C4225395}"/>
                    </a:ext>
                  </a:extLst>
                </p:cNvPr>
                <p:cNvCxnSpPr>
                  <a:stCxn id="22" idx="6"/>
                  <a:endCxn id="23" idx="2"/>
                </p:cNvCxnSpPr>
                <p:nvPr/>
              </p:nvCxnSpPr>
              <p:spPr>
                <a:xfrm>
                  <a:off x="2157413" y="4557713"/>
                  <a:ext cx="484448"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F1C1A33A-740C-1ABB-F34B-0EF39CA75094}"/>
                    </a:ext>
                  </a:extLst>
                </p:cNvPr>
                <p:cNvCxnSpPr>
                  <a:cxnSpLocks/>
                  <a:stCxn id="23" idx="6"/>
                  <a:endCxn id="24" idx="2"/>
                </p:cNvCxnSpPr>
                <p:nvPr/>
              </p:nvCxnSpPr>
              <p:spPr>
                <a:xfrm>
                  <a:off x="3270511" y="4557713"/>
                  <a:ext cx="383410"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5FC93AD4-7124-71CA-C6A4-1D9A4F776F27}"/>
                    </a:ext>
                  </a:extLst>
                </p:cNvPr>
                <p:cNvCxnSpPr>
                  <a:cxnSpLocks/>
                  <a:stCxn id="24" idx="6"/>
                  <a:endCxn id="28" idx="2"/>
                </p:cNvCxnSpPr>
                <p:nvPr/>
              </p:nvCxnSpPr>
              <p:spPr>
                <a:xfrm>
                  <a:off x="4282571" y="4557713"/>
                  <a:ext cx="496253"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32" name="Elbow Connector 31">
                  <a:extLst>
                    <a:ext uri="{FF2B5EF4-FFF2-40B4-BE49-F238E27FC236}">
                      <a16:creationId xmlns:a16="http://schemas.microsoft.com/office/drawing/2014/main" id="{DBA3FEF6-6DBF-9CE6-5C65-5DE050C850D6}"/>
                    </a:ext>
                  </a:extLst>
                </p:cNvPr>
                <p:cNvCxnSpPr>
                  <a:stCxn id="23" idx="0"/>
                  <a:endCxn id="25" idx="2"/>
                </p:cNvCxnSpPr>
                <p:nvPr/>
              </p:nvCxnSpPr>
              <p:spPr>
                <a:xfrm rot="5400000" flipH="1" flipV="1">
                  <a:off x="2948378" y="3436808"/>
                  <a:ext cx="814388" cy="798773"/>
                </a:xfrm>
                <a:prstGeom prst="bentConnector2">
                  <a:avLst/>
                </a:prstGeom>
                <a:ln w="38100">
                  <a:tailEnd type="triangle"/>
                </a:ln>
              </p:spPr>
              <p:style>
                <a:lnRef idx="3">
                  <a:schemeClr val="accent4"/>
                </a:lnRef>
                <a:fillRef idx="0">
                  <a:schemeClr val="accent4"/>
                </a:fillRef>
                <a:effectRef idx="2">
                  <a:schemeClr val="accent4"/>
                </a:effectRef>
                <a:fontRef idx="minor">
                  <a:schemeClr val="tx1"/>
                </a:fontRef>
              </p:style>
            </p:cxnSp>
            <p:cxnSp>
              <p:nvCxnSpPr>
                <p:cNvPr id="33" name="Straight Arrow Connector 32">
                  <a:extLst>
                    <a:ext uri="{FF2B5EF4-FFF2-40B4-BE49-F238E27FC236}">
                      <a16:creationId xmlns:a16="http://schemas.microsoft.com/office/drawing/2014/main" id="{7BB4368A-D042-F3C1-C9C7-7B3A415E27E9}"/>
                    </a:ext>
                  </a:extLst>
                </p:cNvPr>
                <p:cNvCxnSpPr>
                  <a:cxnSpLocks/>
                  <a:stCxn id="25" idx="6"/>
                  <a:endCxn id="26" idx="2"/>
                </p:cNvCxnSpPr>
                <p:nvPr/>
              </p:nvCxnSpPr>
              <p:spPr>
                <a:xfrm>
                  <a:off x="4383609" y="3429000"/>
                  <a:ext cx="426575" cy="0"/>
                </a:xfrm>
                <a:prstGeom prst="straightConnector1">
                  <a:avLst/>
                </a:prstGeom>
                <a:ln w="38100">
                  <a:tailEnd type="triangle"/>
                </a:ln>
              </p:spPr>
              <p:style>
                <a:lnRef idx="3">
                  <a:schemeClr val="accent4"/>
                </a:lnRef>
                <a:fillRef idx="0">
                  <a:schemeClr val="accent4"/>
                </a:fillRef>
                <a:effectRef idx="2">
                  <a:schemeClr val="accent4"/>
                </a:effectRef>
                <a:fontRef idx="minor">
                  <a:schemeClr val="tx1"/>
                </a:fontRef>
              </p:style>
            </p:cxnSp>
            <p:cxnSp>
              <p:nvCxnSpPr>
                <p:cNvPr id="34" name="Straight Arrow Connector 33">
                  <a:extLst>
                    <a:ext uri="{FF2B5EF4-FFF2-40B4-BE49-F238E27FC236}">
                      <a16:creationId xmlns:a16="http://schemas.microsoft.com/office/drawing/2014/main" id="{166E0CE8-E45C-AAE6-DABC-0875A544E072}"/>
                    </a:ext>
                  </a:extLst>
                </p:cNvPr>
                <p:cNvCxnSpPr>
                  <a:cxnSpLocks/>
                  <a:stCxn id="26" idx="6"/>
                  <a:endCxn id="27" idx="2"/>
                </p:cNvCxnSpPr>
                <p:nvPr/>
              </p:nvCxnSpPr>
              <p:spPr>
                <a:xfrm>
                  <a:off x="5438834" y="3429000"/>
                  <a:ext cx="426575" cy="0"/>
                </a:xfrm>
                <a:prstGeom prst="straightConnector1">
                  <a:avLst/>
                </a:prstGeom>
                <a:ln w="38100">
                  <a:tailEnd type="triangle"/>
                </a:ln>
              </p:spPr>
              <p:style>
                <a:lnRef idx="3">
                  <a:schemeClr val="accent4"/>
                </a:lnRef>
                <a:fillRef idx="0">
                  <a:schemeClr val="accent4"/>
                </a:fillRef>
                <a:effectRef idx="2">
                  <a:schemeClr val="accent4"/>
                </a:effectRef>
                <a:fontRef idx="minor">
                  <a:schemeClr val="tx1"/>
                </a:fontRef>
              </p:style>
            </p:cxnSp>
          </p:grpSp>
          <p:sp>
            <p:nvSpPr>
              <p:cNvPr id="36" name="Down Arrow 35">
                <a:extLst>
                  <a:ext uri="{FF2B5EF4-FFF2-40B4-BE49-F238E27FC236}">
                    <a16:creationId xmlns:a16="http://schemas.microsoft.com/office/drawing/2014/main" id="{35AE358A-E7BE-05E9-5DBC-BD6300365B0F}"/>
                  </a:ext>
                </a:extLst>
              </p:cNvPr>
              <p:cNvSpPr/>
              <p:nvPr/>
            </p:nvSpPr>
            <p:spPr>
              <a:xfrm>
                <a:off x="8729106" y="3256615"/>
                <a:ext cx="1165243" cy="1281243"/>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37" name="TextBox 36">
                <a:extLst>
                  <a:ext uri="{FF2B5EF4-FFF2-40B4-BE49-F238E27FC236}">
                    <a16:creationId xmlns:a16="http://schemas.microsoft.com/office/drawing/2014/main" id="{AE8D2333-68FC-3BF7-3EC4-03AB8EC16196}"/>
                  </a:ext>
                </a:extLst>
              </p:cNvPr>
              <p:cNvSpPr txBox="1"/>
              <p:nvPr/>
            </p:nvSpPr>
            <p:spPr>
              <a:xfrm>
                <a:off x="8364293" y="3467553"/>
                <a:ext cx="2084225" cy="369332"/>
              </a:xfrm>
              <a:prstGeom prst="rect">
                <a:avLst/>
              </a:prstGeom>
              <a:solidFill>
                <a:schemeClr val="bg1"/>
              </a:solidFill>
            </p:spPr>
            <p:txBody>
              <a:bodyPr wrap="none" rtlCol="0">
                <a:spAutoFit/>
              </a:bodyPr>
              <a:lstStyle/>
              <a:p>
                <a:r>
                  <a:rPr lang="en-US" sz="1800" dirty="0">
                    <a:latin typeface="Consolas" panose="020B0609020204030204" pitchFamily="49" charset="0"/>
                    <a:cs typeface="Consolas" panose="020B0609020204030204" pitchFamily="49" charset="0"/>
                  </a:rPr>
                  <a:t>git rebase main</a:t>
                </a:r>
                <a:endParaRPr lang="en-US" sz="1800" dirty="0"/>
              </a:p>
            </p:txBody>
          </p:sp>
        </p:grpSp>
        <p:sp>
          <p:nvSpPr>
            <p:cNvPr id="5" name="5-Point Star 4">
              <a:extLst>
                <a:ext uri="{FF2B5EF4-FFF2-40B4-BE49-F238E27FC236}">
                  <a16:creationId xmlns:a16="http://schemas.microsoft.com/office/drawing/2014/main" id="{DD25BA31-0875-CD48-84DD-59295F1FA0E4}"/>
                </a:ext>
              </a:extLst>
            </p:cNvPr>
            <p:cNvSpPr/>
            <p:nvPr/>
          </p:nvSpPr>
          <p:spPr>
            <a:xfrm>
              <a:off x="11353800" y="1284231"/>
              <a:ext cx="337911" cy="280843"/>
            </a:xfrm>
            <a:prstGeom prst="star5">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9" name="5-Point Star 38">
              <a:extLst>
                <a:ext uri="{FF2B5EF4-FFF2-40B4-BE49-F238E27FC236}">
                  <a16:creationId xmlns:a16="http://schemas.microsoft.com/office/drawing/2014/main" id="{9B05A790-5A5D-4E9A-3BBF-19D8D9A22D6F}"/>
                </a:ext>
              </a:extLst>
            </p:cNvPr>
            <p:cNvSpPr/>
            <p:nvPr/>
          </p:nvSpPr>
          <p:spPr>
            <a:xfrm>
              <a:off x="11807048" y="4570668"/>
              <a:ext cx="337911" cy="280843"/>
            </a:xfrm>
            <a:prstGeom prst="star5">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35226620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9F46496-3DD9-C8DF-D8DD-BD5BF86DCDFE}"/>
              </a:ext>
            </a:extLst>
          </p:cNvPr>
          <p:cNvSpPr>
            <a:spLocks noGrp="1"/>
          </p:cNvSpPr>
          <p:nvPr>
            <p:ph type="title"/>
          </p:nvPr>
        </p:nvSpPr>
        <p:spPr/>
        <p:txBody>
          <a:bodyPr/>
          <a:lstStyle/>
          <a:p>
            <a:r>
              <a:rPr lang="en-US" dirty="0"/>
              <a:t>Activity (15 mins)</a:t>
            </a:r>
          </a:p>
        </p:txBody>
      </p:sp>
      <p:sp>
        <p:nvSpPr>
          <p:cNvPr id="2" name="Content Placeholder 1">
            <a:extLst>
              <a:ext uri="{FF2B5EF4-FFF2-40B4-BE49-F238E27FC236}">
                <a16:creationId xmlns:a16="http://schemas.microsoft.com/office/drawing/2014/main" id="{D4619E84-A1A7-F5AE-F9F2-E88C95B4267C}"/>
              </a:ext>
            </a:extLst>
          </p:cNvPr>
          <p:cNvSpPr>
            <a:spLocks noGrp="1"/>
          </p:cNvSpPr>
          <p:nvPr>
            <p:ph idx="1"/>
          </p:nvPr>
        </p:nvSpPr>
        <p:spPr/>
        <p:txBody>
          <a:bodyPr>
            <a:normAutofit fontScale="85000" lnSpcReduction="20000"/>
          </a:bodyPr>
          <a:lstStyle/>
          <a:p>
            <a:r>
              <a:rPr lang="en-US" dirty="0"/>
              <a:t>Everyone</a:t>
            </a:r>
          </a:p>
          <a:p>
            <a:pPr lvl="1"/>
            <a:r>
              <a:rPr lang="en-US" dirty="0"/>
              <a:t>Create a new branch in your local clone: </a:t>
            </a:r>
            <a:r>
              <a:rPr lang="en-US" sz="2100" b="0" dirty="0">
                <a:solidFill>
                  <a:srgbClr val="A0A07D"/>
                </a:solidFill>
                <a:effectLst/>
                <a:latin typeface="Menlo" panose="020B0609030804020204" pitchFamily="49" charset="0"/>
              </a:rPr>
              <a:t>git</a:t>
            </a:r>
            <a:r>
              <a:rPr lang="en-US" sz="2100" b="0" dirty="0">
                <a:solidFill>
                  <a:srgbClr val="D4D4D4"/>
                </a:solidFill>
                <a:effectLst/>
                <a:latin typeface="Menlo" panose="020B0609030804020204" pitchFamily="49" charset="0"/>
              </a:rPr>
              <a:t> </a:t>
            </a:r>
            <a:r>
              <a:rPr lang="en-US" sz="2100" b="0" dirty="0">
                <a:solidFill>
                  <a:srgbClr val="BC846B"/>
                </a:solidFill>
                <a:effectLst/>
                <a:latin typeface="Menlo" panose="020B0609030804020204" pitchFamily="49" charset="0"/>
              </a:rPr>
              <a:t>checkout</a:t>
            </a:r>
            <a:r>
              <a:rPr lang="en-US" sz="2100" b="0" dirty="0">
                <a:solidFill>
                  <a:srgbClr val="D4D4D4"/>
                </a:solidFill>
                <a:effectLst/>
                <a:latin typeface="Menlo" panose="020B0609030804020204" pitchFamily="49" charset="0"/>
              </a:rPr>
              <a:t> </a:t>
            </a:r>
            <a:r>
              <a:rPr lang="en-US" sz="2100" b="0" dirty="0">
                <a:solidFill>
                  <a:srgbClr val="4D8BBF"/>
                </a:solidFill>
                <a:effectLst/>
                <a:latin typeface="Menlo" panose="020B0609030804020204" pitchFamily="49" charset="0"/>
              </a:rPr>
              <a:t>-b</a:t>
            </a:r>
            <a:r>
              <a:rPr lang="en-US" sz="2100" b="0" dirty="0">
                <a:solidFill>
                  <a:srgbClr val="D4D4D4"/>
                </a:solidFill>
                <a:effectLst/>
                <a:latin typeface="Menlo" panose="020B0609030804020204" pitchFamily="49" charset="0"/>
              </a:rPr>
              <a:t> </a:t>
            </a:r>
            <a:r>
              <a:rPr lang="en-US" sz="2100" b="0" dirty="0" err="1">
                <a:solidFill>
                  <a:srgbClr val="BC846B"/>
                </a:solidFill>
                <a:effectLst/>
                <a:latin typeface="Menlo" panose="020B0609030804020204" pitchFamily="49" charset="0"/>
              </a:rPr>
              <a:t>branch_name</a:t>
            </a:r>
            <a:endParaRPr lang="en-US" dirty="0"/>
          </a:p>
          <a:p>
            <a:pPr lvl="1"/>
            <a:r>
              <a:rPr lang="en-US" dirty="0"/>
              <a:t>Publish the branch to the remote repository: </a:t>
            </a:r>
            <a:r>
              <a:rPr lang="en-US" sz="2100" b="0" dirty="0">
                <a:solidFill>
                  <a:srgbClr val="A0A07D"/>
                </a:solidFill>
                <a:effectLst/>
                <a:latin typeface="Menlo" panose="020B0609030804020204" pitchFamily="49" charset="0"/>
              </a:rPr>
              <a:t>git</a:t>
            </a:r>
            <a:r>
              <a:rPr lang="en-US" sz="2100" b="0" dirty="0">
                <a:solidFill>
                  <a:srgbClr val="D4D4D4"/>
                </a:solidFill>
                <a:effectLst/>
                <a:latin typeface="Menlo" panose="020B0609030804020204" pitchFamily="49" charset="0"/>
              </a:rPr>
              <a:t> </a:t>
            </a:r>
            <a:r>
              <a:rPr lang="en-US" sz="2100" b="0" dirty="0">
                <a:solidFill>
                  <a:srgbClr val="BC846B"/>
                </a:solidFill>
                <a:effectLst/>
                <a:latin typeface="Menlo" panose="020B0609030804020204" pitchFamily="49" charset="0"/>
              </a:rPr>
              <a:t>push</a:t>
            </a:r>
            <a:r>
              <a:rPr lang="en-US" sz="2100" b="0" dirty="0">
                <a:solidFill>
                  <a:srgbClr val="D4D4D4"/>
                </a:solidFill>
                <a:effectLst/>
                <a:latin typeface="Menlo" panose="020B0609030804020204" pitchFamily="49" charset="0"/>
              </a:rPr>
              <a:t> </a:t>
            </a:r>
            <a:r>
              <a:rPr lang="en-US" sz="2100" b="0" dirty="0">
                <a:solidFill>
                  <a:srgbClr val="4D8BBF"/>
                </a:solidFill>
                <a:effectLst/>
                <a:latin typeface="Menlo" panose="020B0609030804020204" pitchFamily="49" charset="0"/>
              </a:rPr>
              <a:t>--set-upstream </a:t>
            </a:r>
            <a:r>
              <a:rPr lang="en-US" sz="2100" b="0" dirty="0">
                <a:solidFill>
                  <a:srgbClr val="BC846B"/>
                </a:solidFill>
                <a:effectLst/>
                <a:latin typeface="Menlo" panose="020B0609030804020204" pitchFamily="49" charset="0"/>
              </a:rPr>
              <a:t>origin </a:t>
            </a:r>
            <a:r>
              <a:rPr lang="en-US" sz="2100" b="0" dirty="0" err="1">
                <a:solidFill>
                  <a:srgbClr val="BC846B"/>
                </a:solidFill>
                <a:effectLst/>
                <a:latin typeface="Menlo" panose="020B0609030804020204" pitchFamily="49" charset="0"/>
              </a:rPr>
              <a:t>branch_name</a:t>
            </a:r>
            <a:endParaRPr lang="en-US" sz="2100" dirty="0"/>
          </a:p>
          <a:p>
            <a:pPr lvl="1"/>
            <a:r>
              <a:rPr lang="en-US" dirty="0"/>
              <a:t>Make a small change, commit, and push</a:t>
            </a:r>
          </a:p>
          <a:p>
            <a:pPr lvl="1"/>
            <a:r>
              <a:rPr lang="en-US" dirty="0"/>
              <a:t>Look at the remote repository, look at your branch and your team’s branches</a:t>
            </a:r>
          </a:p>
          <a:p>
            <a:r>
              <a:rPr lang="en-US" dirty="0"/>
              <a:t>All but one team member</a:t>
            </a:r>
          </a:p>
          <a:p>
            <a:pPr lvl="1"/>
            <a:r>
              <a:rPr lang="en-US" dirty="0"/>
              <a:t>Merge the branch</a:t>
            </a:r>
          </a:p>
          <a:p>
            <a:pPr lvl="1"/>
            <a:endParaRPr lang="en-US" dirty="0"/>
          </a:p>
          <a:p>
            <a:pPr lvl="1"/>
            <a:endParaRPr lang="en-US" dirty="0"/>
          </a:p>
          <a:p>
            <a:pPr lvl="1"/>
            <a:endParaRPr lang="en-US" dirty="0"/>
          </a:p>
          <a:p>
            <a:pPr lvl="1"/>
            <a:endParaRPr lang="en-US" dirty="0"/>
          </a:p>
          <a:p>
            <a:r>
              <a:rPr lang="en-US" dirty="0"/>
              <a:t>Did anyone run into merge conflicts? How might this have been prevented?</a:t>
            </a:r>
          </a:p>
          <a:p>
            <a:r>
              <a:rPr lang="en-US" dirty="0"/>
              <a:t>There should be one unmerged branch at the end of this activity</a:t>
            </a:r>
          </a:p>
        </p:txBody>
      </p:sp>
      <p:sp>
        <p:nvSpPr>
          <p:cNvPr id="5" name="TextBox 4">
            <a:extLst>
              <a:ext uri="{FF2B5EF4-FFF2-40B4-BE49-F238E27FC236}">
                <a16:creationId xmlns:a16="http://schemas.microsoft.com/office/drawing/2014/main" id="{0223A58E-B902-1349-B272-E9A51B439100}"/>
              </a:ext>
            </a:extLst>
          </p:cNvPr>
          <p:cNvSpPr txBox="1"/>
          <p:nvPr/>
        </p:nvSpPr>
        <p:spPr>
          <a:xfrm>
            <a:off x="1731114" y="4067554"/>
            <a:ext cx="3113353" cy="1200329"/>
          </a:xfrm>
          <a:prstGeom prst="rect">
            <a:avLst/>
          </a:prstGeom>
          <a:noFill/>
        </p:spPr>
        <p:txBody>
          <a:bodyPr wrap="none" rtlCol="0">
            <a:spAutoFit/>
          </a:bodyPr>
          <a:lstStyle/>
          <a:p>
            <a:r>
              <a:rPr lang="en-US" b="0" dirty="0">
                <a:solidFill>
                  <a:srgbClr val="A0A07D"/>
                </a:solidFill>
                <a:effectLst/>
                <a:latin typeface="Menlo" panose="020B0609030804020204" pitchFamily="49" charset="0"/>
              </a:rPr>
              <a:t>git</a:t>
            </a:r>
            <a:r>
              <a:rPr lang="en-US" b="0" dirty="0">
                <a:solidFill>
                  <a:srgbClr val="D4D4D4"/>
                </a:solidFill>
                <a:effectLst/>
                <a:latin typeface="Menlo" panose="020B0609030804020204" pitchFamily="49" charset="0"/>
              </a:rPr>
              <a:t> </a:t>
            </a:r>
            <a:r>
              <a:rPr lang="en-US" b="0" dirty="0">
                <a:solidFill>
                  <a:srgbClr val="BC846B"/>
                </a:solidFill>
                <a:effectLst/>
                <a:latin typeface="Menlo" panose="020B0609030804020204" pitchFamily="49" charset="0"/>
              </a:rPr>
              <a:t>pull</a:t>
            </a:r>
          </a:p>
          <a:p>
            <a:r>
              <a:rPr lang="en-US" b="0" dirty="0">
                <a:solidFill>
                  <a:srgbClr val="A0A07D"/>
                </a:solidFill>
                <a:effectLst/>
                <a:latin typeface="Menlo" panose="020B0609030804020204" pitchFamily="49" charset="0"/>
              </a:rPr>
              <a:t>git</a:t>
            </a:r>
            <a:r>
              <a:rPr lang="en-US" b="0" dirty="0">
                <a:solidFill>
                  <a:srgbClr val="D4D4D4"/>
                </a:solidFill>
                <a:effectLst/>
                <a:latin typeface="Menlo" panose="020B0609030804020204" pitchFamily="49" charset="0"/>
              </a:rPr>
              <a:t> </a:t>
            </a:r>
            <a:r>
              <a:rPr lang="en-US" b="0" dirty="0">
                <a:solidFill>
                  <a:srgbClr val="BC846B"/>
                </a:solidFill>
                <a:effectLst/>
                <a:latin typeface="Menlo" panose="020B0609030804020204" pitchFamily="49" charset="0"/>
              </a:rPr>
              <a:t>checkout main</a:t>
            </a:r>
          </a:p>
          <a:p>
            <a:r>
              <a:rPr lang="en-US" b="0" dirty="0">
                <a:solidFill>
                  <a:srgbClr val="A0A07D"/>
                </a:solidFill>
                <a:effectLst/>
                <a:latin typeface="Menlo" panose="020B0609030804020204" pitchFamily="49" charset="0"/>
              </a:rPr>
              <a:t>git</a:t>
            </a:r>
            <a:r>
              <a:rPr lang="en-US" b="0" dirty="0">
                <a:solidFill>
                  <a:srgbClr val="D4D4D4"/>
                </a:solidFill>
                <a:effectLst/>
                <a:latin typeface="Menlo" panose="020B0609030804020204" pitchFamily="49" charset="0"/>
              </a:rPr>
              <a:t> </a:t>
            </a:r>
            <a:r>
              <a:rPr lang="en-US" b="0" dirty="0">
                <a:solidFill>
                  <a:srgbClr val="BC846B"/>
                </a:solidFill>
                <a:effectLst/>
                <a:latin typeface="Menlo" panose="020B0609030804020204" pitchFamily="49" charset="0"/>
              </a:rPr>
              <a:t>merge </a:t>
            </a:r>
            <a:r>
              <a:rPr lang="en-US" b="0" dirty="0" err="1">
                <a:solidFill>
                  <a:srgbClr val="BC846B"/>
                </a:solidFill>
                <a:effectLst/>
                <a:latin typeface="Menlo" panose="020B0609030804020204" pitchFamily="49" charset="0"/>
              </a:rPr>
              <a:t>branch_name</a:t>
            </a:r>
            <a:endParaRPr lang="en-US" b="0" dirty="0">
              <a:solidFill>
                <a:srgbClr val="BC846B"/>
              </a:solidFill>
              <a:effectLst/>
              <a:latin typeface="Menlo" panose="020B0609030804020204" pitchFamily="49" charset="0"/>
            </a:endParaRPr>
          </a:p>
          <a:p>
            <a:r>
              <a:rPr lang="en-US" b="0" dirty="0">
                <a:solidFill>
                  <a:srgbClr val="A0A07D"/>
                </a:solidFill>
                <a:effectLst/>
                <a:latin typeface="Menlo" panose="020B0609030804020204" pitchFamily="49" charset="0"/>
              </a:rPr>
              <a:t>git</a:t>
            </a:r>
            <a:r>
              <a:rPr lang="en-US" b="0" dirty="0">
                <a:solidFill>
                  <a:srgbClr val="D4D4D4"/>
                </a:solidFill>
                <a:effectLst/>
                <a:latin typeface="Menlo" panose="020B0609030804020204" pitchFamily="49" charset="0"/>
              </a:rPr>
              <a:t> </a:t>
            </a:r>
            <a:r>
              <a:rPr lang="en-US" b="0" dirty="0">
                <a:solidFill>
                  <a:srgbClr val="BC846B"/>
                </a:solidFill>
                <a:effectLst/>
                <a:latin typeface="Menlo" panose="020B0609030804020204" pitchFamily="49" charset="0"/>
              </a:rPr>
              <a:t>push</a:t>
            </a:r>
          </a:p>
        </p:txBody>
      </p:sp>
    </p:spTree>
    <p:extLst>
      <p:ext uri="{BB962C8B-B14F-4D97-AF65-F5344CB8AC3E}">
        <p14:creationId xmlns:p14="http://schemas.microsoft.com/office/powerpoint/2010/main" val="129279058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166A2FB-4C2F-3A42-201E-72C938362A2E}"/>
              </a:ext>
            </a:extLst>
          </p:cNvPr>
          <p:cNvSpPr>
            <a:spLocks noGrp="1"/>
          </p:cNvSpPr>
          <p:nvPr>
            <p:ph sz="quarter" idx="10"/>
          </p:nvPr>
        </p:nvSpPr>
        <p:spPr>
          <a:xfrm>
            <a:off x="4003965" y="1293094"/>
            <a:ext cx="7547648" cy="4830616"/>
          </a:xfrm>
        </p:spPr>
        <p:txBody>
          <a:bodyPr/>
          <a:lstStyle/>
          <a:p>
            <a:pPr>
              <a:lnSpc>
                <a:spcPct val="200000"/>
              </a:lnSpc>
            </a:pPr>
            <a:r>
              <a:rPr lang="en-US" sz="2800" dirty="0"/>
              <a:t>Introduction</a:t>
            </a:r>
          </a:p>
          <a:p>
            <a:pPr>
              <a:lnSpc>
                <a:spcPct val="200000"/>
              </a:lnSpc>
            </a:pPr>
            <a:r>
              <a:rPr lang="en-US" sz="2800" dirty="0"/>
              <a:t>Branches</a:t>
            </a:r>
          </a:p>
          <a:p>
            <a:pPr>
              <a:lnSpc>
                <a:spcPct val="200000"/>
              </a:lnSpc>
            </a:pPr>
            <a:r>
              <a:rPr lang="en-US" sz="2800" dirty="0"/>
              <a:t>Pull Requests</a:t>
            </a:r>
          </a:p>
          <a:p>
            <a:pPr>
              <a:lnSpc>
                <a:spcPct val="200000"/>
              </a:lnSpc>
            </a:pPr>
            <a:r>
              <a:rPr lang="en-US" sz="2800" dirty="0"/>
              <a:t>Git Workflows</a:t>
            </a:r>
          </a:p>
        </p:txBody>
      </p:sp>
      <p:sp>
        <p:nvSpPr>
          <p:cNvPr id="3" name="Title 2">
            <a:extLst>
              <a:ext uri="{FF2B5EF4-FFF2-40B4-BE49-F238E27FC236}">
                <a16:creationId xmlns:a16="http://schemas.microsoft.com/office/drawing/2014/main" id="{EE6EF526-5DB0-C31B-47BD-9F25AF1D77E3}"/>
              </a:ext>
            </a:extLst>
          </p:cNvPr>
          <p:cNvSpPr>
            <a:spLocks noGrp="1"/>
          </p:cNvSpPr>
          <p:nvPr>
            <p:ph type="title"/>
          </p:nvPr>
        </p:nvSpPr>
        <p:spPr/>
        <p:txBody>
          <a:bodyPr/>
          <a:lstStyle/>
          <a:p>
            <a:r>
              <a:rPr lang="en-US" dirty="0"/>
              <a:t>Outline</a:t>
            </a:r>
          </a:p>
        </p:txBody>
      </p:sp>
      <p:sp>
        <p:nvSpPr>
          <p:cNvPr id="4" name="Right Arrow 3">
            <a:extLst>
              <a:ext uri="{FF2B5EF4-FFF2-40B4-BE49-F238E27FC236}">
                <a16:creationId xmlns:a16="http://schemas.microsoft.com/office/drawing/2014/main" id="{FD29B1BD-2257-4E5A-8784-356FCF9DB0FA}"/>
              </a:ext>
            </a:extLst>
          </p:cNvPr>
          <p:cNvSpPr/>
          <p:nvPr/>
        </p:nvSpPr>
        <p:spPr>
          <a:xfrm>
            <a:off x="2064327" y="3429000"/>
            <a:ext cx="1745672" cy="864679"/>
          </a:xfrm>
          <a:prstGeom prst="rightArrow">
            <a:avLst/>
          </a:prstGeom>
          <a:solidFill>
            <a:srgbClr val="D2DCF2"/>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dirty="0">
              <a:solidFill>
                <a:schemeClr val="tx1"/>
              </a:solidFill>
            </a:endParaRPr>
          </a:p>
        </p:txBody>
      </p:sp>
    </p:spTree>
    <p:extLst>
      <p:ext uri="{BB962C8B-B14F-4D97-AF65-F5344CB8AC3E}">
        <p14:creationId xmlns:p14="http://schemas.microsoft.com/office/powerpoint/2010/main" val="25415184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CF119B6-7F37-09D9-9E4C-B46FF5FF0D9F}"/>
              </a:ext>
            </a:extLst>
          </p:cNvPr>
          <p:cNvSpPr>
            <a:spLocks noGrp="1"/>
          </p:cNvSpPr>
          <p:nvPr>
            <p:ph type="title"/>
          </p:nvPr>
        </p:nvSpPr>
        <p:spPr/>
        <p:txBody>
          <a:bodyPr/>
          <a:lstStyle/>
          <a:p>
            <a:r>
              <a:rPr lang="en-US" dirty="0"/>
              <a:t>Pull Requests</a:t>
            </a:r>
          </a:p>
        </p:txBody>
      </p:sp>
      <p:sp>
        <p:nvSpPr>
          <p:cNvPr id="2" name="Content Placeholder 1">
            <a:extLst>
              <a:ext uri="{FF2B5EF4-FFF2-40B4-BE49-F238E27FC236}">
                <a16:creationId xmlns:a16="http://schemas.microsoft.com/office/drawing/2014/main" id="{9D45FFE4-8F70-6D8F-C2B2-CF0BA5188FD5}"/>
              </a:ext>
            </a:extLst>
          </p:cNvPr>
          <p:cNvSpPr>
            <a:spLocks noGrp="1"/>
          </p:cNvSpPr>
          <p:nvPr>
            <p:ph idx="1"/>
          </p:nvPr>
        </p:nvSpPr>
        <p:spPr/>
        <p:txBody>
          <a:bodyPr>
            <a:normAutofit fontScale="92500" lnSpcReduction="20000"/>
          </a:bodyPr>
          <a:lstStyle/>
          <a:p>
            <a:r>
              <a:rPr lang="en-US" dirty="0"/>
              <a:t>A process on GitHub to request a branch be merged into another branch</a:t>
            </a:r>
          </a:p>
          <a:p>
            <a:pPr lvl="1"/>
            <a:r>
              <a:rPr lang="en-US" dirty="0"/>
              <a:t>You are asking for your branch to be “pulled” into another branch</a:t>
            </a:r>
          </a:p>
          <a:p>
            <a:r>
              <a:rPr lang="en-US" dirty="0"/>
              <a:t>GitLab uses the term “Merge Request”</a:t>
            </a:r>
          </a:p>
          <a:p>
            <a:r>
              <a:rPr lang="en-US" dirty="0"/>
              <a:t>Allows code review and testing before merge</a:t>
            </a:r>
          </a:p>
          <a:p>
            <a:pPr lvl="1"/>
            <a:r>
              <a:rPr lang="en-US" dirty="0"/>
              <a:t>Alerts team and others about changes in branch before merge</a:t>
            </a:r>
          </a:p>
          <a:p>
            <a:pPr lvl="1"/>
            <a:r>
              <a:rPr lang="en-US" dirty="0"/>
              <a:t>Discussions ensue with possible follow up commits</a:t>
            </a:r>
          </a:p>
          <a:p>
            <a:pPr lvl="1"/>
            <a:r>
              <a:rPr lang="en-US" dirty="0"/>
              <a:t>Can request reviewer (may want particular expertise, may want to give someone knowledge)</a:t>
            </a:r>
          </a:p>
          <a:p>
            <a:r>
              <a:rPr lang="en-US" dirty="0"/>
              <a:t>Set policies for merge</a:t>
            </a:r>
          </a:p>
          <a:p>
            <a:pPr lvl="1"/>
            <a:r>
              <a:rPr lang="en-US" dirty="0"/>
              <a:t>Enforce rules such as coding standards</a:t>
            </a:r>
          </a:p>
          <a:p>
            <a:pPr lvl="1"/>
            <a:r>
              <a:rPr lang="en-US" dirty="0"/>
              <a:t>Minimum number of reviewers</a:t>
            </a:r>
          </a:p>
          <a:p>
            <a:pPr lvl="1"/>
            <a:r>
              <a:rPr lang="en-US" dirty="0"/>
              <a:t>Protected branches – who can merge to certain branches etc.</a:t>
            </a:r>
          </a:p>
          <a:p>
            <a:endParaRPr lang="en-US" dirty="0"/>
          </a:p>
        </p:txBody>
      </p:sp>
      <p:sp>
        <p:nvSpPr>
          <p:cNvPr id="5" name="TextBox 4">
            <a:extLst>
              <a:ext uri="{FF2B5EF4-FFF2-40B4-BE49-F238E27FC236}">
                <a16:creationId xmlns:a16="http://schemas.microsoft.com/office/drawing/2014/main" id="{FB4BFCFA-FC39-7DD7-F0C2-C1D1D874F2FE}"/>
              </a:ext>
            </a:extLst>
          </p:cNvPr>
          <p:cNvSpPr txBox="1"/>
          <p:nvPr/>
        </p:nvSpPr>
        <p:spPr>
          <a:xfrm>
            <a:off x="2139045" y="6276985"/>
            <a:ext cx="10221684" cy="646331"/>
          </a:xfrm>
          <a:prstGeom prst="rect">
            <a:avLst/>
          </a:prstGeom>
          <a:noFill/>
        </p:spPr>
        <p:txBody>
          <a:bodyPr wrap="square">
            <a:spAutoFit/>
          </a:bodyPr>
          <a:lstStyle/>
          <a:p>
            <a:pPr>
              <a:spcBef>
                <a:spcPts val="400"/>
              </a:spcBef>
            </a:pPr>
            <a:r>
              <a:rPr lang="en-US" sz="1800" b="0" i="0" dirty="0">
                <a:solidFill>
                  <a:srgbClr val="111111"/>
                </a:solidFill>
                <a:effectLst/>
                <a:latin typeface="+mn-lt"/>
              </a:rPr>
              <a:t>David M. Rogers, </a:t>
            </a:r>
            <a:r>
              <a:rPr lang="en-US" dirty="0"/>
              <a:t>Collaborative Software Development in</a:t>
            </a:r>
            <a:r>
              <a:rPr lang="en-US" sz="1800" b="0" i="0" dirty="0">
                <a:solidFill>
                  <a:srgbClr val="111111"/>
                </a:solidFill>
                <a:effectLst/>
                <a:latin typeface="+mn-lt"/>
              </a:rPr>
              <a:t> Better Scientific Software tutorial, in ISC High Performance, Hamburg, Germany and online, 2023. DOI: </a:t>
            </a:r>
            <a:r>
              <a:rPr lang="en-US" sz="1800" b="0" i="0" u="sng" dirty="0">
                <a:solidFill>
                  <a:srgbClr val="111111"/>
                </a:solidFill>
                <a:effectLst/>
                <a:latin typeface="+mn-lt"/>
                <a:hlinkClick r:id="rId3"/>
              </a:rPr>
              <a:t>10.6084/m9.figshare.22790762</a:t>
            </a:r>
            <a:r>
              <a:rPr lang="en-US" sz="1800" b="0" i="0" dirty="0">
                <a:solidFill>
                  <a:srgbClr val="111111"/>
                </a:solidFill>
                <a:effectLst/>
                <a:latin typeface="+mn-lt"/>
              </a:rPr>
              <a:t>.</a:t>
            </a:r>
          </a:p>
        </p:txBody>
      </p:sp>
    </p:spTree>
    <p:extLst>
      <p:ext uri="{BB962C8B-B14F-4D97-AF65-F5344CB8AC3E}">
        <p14:creationId xmlns:p14="http://schemas.microsoft.com/office/powerpoint/2010/main" val="81289370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64CB3B0-31DD-A040-AA65-0A156C67AF29}"/>
              </a:ext>
            </a:extLst>
          </p:cNvPr>
          <p:cNvSpPr>
            <a:spLocks noGrp="1"/>
          </p:cNvSpPr>
          <p:nvPr>
            <p:ph type="title"/>
          </p:nvPr>
        </p:nvSpPr>
        <p:spPr/>
        <p:txBody>
          <a:bodyPr/>
          <a:lstStyle/>
          <a:p>
            <a:r>
              <a:rPr lang="en-US" dirty="0"/>
              <a:t>Creating a Pull Request</a:t>
            </a:r>
          </a:p>
        </p:txBody>
      </p:sp>
      <p:sp>
        <p:nvSpPr>
          <p:cNvPr id="11" name="Content Placeholder 1">
            <a:extLst>
              <a:ext uri="{FF2B5EF4-FFF2-40B4-BE49-F238E27FC236}">
                <a16:creationId xmlns:a16="http://schemas.microsoft.com/office/drawing/2014/main" id="{1F9711C7-0E72-894D-AC71-8CF61625E182}"/>
              </a:ext>
            </a:extLst>
          </p:cNvPr>
          <p:cNvSpPr>
            <a:spLocks noGrp="1"/>
          </p:cNvSpPr>
          <p:nvPr>
            <p:ph idx="1"/>
          </p:nvPr>
        </p:nvSpPr>
        <p:spPr>
          <a:xfrm>
            <a:off x="838201" y="1825625"/>
            <a:ext cx="4104860" cy="4667250"/>
          </a:xfrm>
        </p:spPr>
        <p:txBody>
          <a:bodyPr>
            <a:normAutofit fontScale="85000" lnSpcReduction="20000"/>
          </a:bodyPr>
          <a:lstStyle/>
          <a:p>
            <a:r>
              <a:rPr lang="en-US" dirty="0"/>
              <a:t>First make sure you’ve pushed all commits with </a:t>
            </a:r>
            <a:r>
              <a:rPr lang="en-US" b="0" dirty="0">
                <a:solidFill>
                  <a:srgbClr val="A0A07D"/>
                </a:solidFill>
                <a:effectLst/>
                <a:latin typeface="Menlo" panose="020B0609030804020204" pitchFamily="49" charset="0"/>
              </a:rPr>
              <a:t>git</a:t>
            </a:r>
            <a:r>
              <a:rPr lang="en-US" b="0" dirty="0">
                <a:solidFill>
                  <a:srgbClr val="D4D4D4"/>
                </a:solidFill>
                <a:effectLst/>
                <a:latin typeface="Menlo" panose="020B0609030804020204" pitchFamily="49" charset="0"/>
              </a:rPr>
              <a:t> </a:t>
            </a:r>
            <a:r>
              <a:rPr lang="en-US" b="0" dirty="0">
                <a:solidFill>
                  <a:srgbClr val="BC846B"/>
                </a:solidFill>
                <a:effectLst/>
                <a:latin typeface="Menlo" panose="020B0609030804020204" pitchFamily="49" charset="0"/>
              </a:rPr>
              <a:t>status </a:t>
            </a:r>
            <a:r>
              <a:rPr lang="en-US" dirty="0"/>
              <a:t>and </a:t>
            </a:r>
            <a:r>
              <a:rPr lang="en-US" b="0" dirty="0">
                <a:solidFill>
                  <a:srgbClr val="A0A07D"/>
                </a:solidFill>
                <a:effectLst/>
                <a:latin typeface="Menlo" panose="020B0609030804020204" pitchFamily="49" charset="0"/>
              </a:rPr>
              <a:t>git</a:t>
            </a:r>
            <a:r>
              <a:rPr lang="en-US" b="0" dirty="0">
                <a:solidFill>
                  <a:srgbClr val="D4D4D4"/>
                </a:solidFill>
                <a:effectLst/>
                <a:latin typeface="Menlo" panose="020B0609030804020204" pitchFamily="49" charset="0"/>
              </a:rPr>
              <a:t> </a:t>
            </a:r>
            <a:r>
              <a:rPr lang="en-US" b="0" dirty="0">
                <a:solidFill>
                  <a:srgbClr val="BC846B"/>
                </a:solidFill>
                <a:effectLst/>
                <a:latin typeface="Menlo" panose="020B0609030804020204" pitchFamily="49" charset="0"/>
              </a:rPr>
              <a:t>push</a:t>
            </a:r>
            <a:endParaRPr lang="en-US" dirty="0"/>
          </a:p>
          <a:p>
            <a:r>
              <a:rPr lang="en-US" dirty="0"/>
              <a:t>Go to your branch in GitHub</a:t>
            </a:r>
          </a:p>
          <a:p>
            <a:r>
              <a:rPr lang="en-US" dirty="0"/>
              <a:t>If you pushed changes recently you may see a button that says “Compare and Pull Request”, click if it is there</a:t>
            </a:r>
          </a:p>
          <a:p>
            <a:r>
              <a:rPr lang="en-US" dirty="0"/>
              <a:t>If not click “Pull Requests”</a:t>
            </a:r>
          </a:p>
          <a:p>
            <a:pPr lvl="1"/>
            <a:r>
              <a:rPr lang="en-US" dirty="0"/>
              <a:t>If you click “Pull Requests” select “New Pull Request” and change the “compare” dropdown to your branch name</a:t>
            </a:r>
          </a:p>
        </p:txBody>
      </p:sp>
      <p:grpSp>
        <p:nvGrpSpPr>
          <p:cNvPr id="2" name="Group 1" descr="A screenshot of a respository on GitHub. A button with the text &quot;Compare and Pull Request&quot; is at the top fo the page.">
            <a:extLst>
              <a:ext uri="{FF2B5EF4-FFF2-40B4-BE49-F238E27FC236}">
                <a16:creationId xmlns:a16="http://schemas.microsoft.com/office/drawing/2014/main" id="{ACBC8711-D1A6-220B-EF9B-C1E9D9E2F456}"/>
              </a:ext>
            </a:extLst>
          </p:cNvPr>
          <p:cNvGrpSpPr/>
          <p:nvPr/>
        </p:nvGrpSpPr>
        <p:grpSpPr>
          <a:xfrm>
            <a:off x="4806397" y="1184038"/>
            <a:ext cx="7772400" cy="5950424"/>
            <a:chOff x="4806397" y="734290"/>
            <a:chExt cx="7772400" cy="5950424"/>
          </a:xfrm>
        </p:grpSpPr>
        <p:pic>
          <p:nvPicPr>
            <p:cNvPr id="5" name="Picture 4" descr="A screenshot of a computer&#10;&#10;Description automatically generated">
              <a:extLst>
                <a:ext uri="{FF2B5EF4-FFF2-40B4-BE49-F238E27FC236}">
                  <a16:creationId xmlns:a16="http://schemas.microsoft.com/office/drawing/2014/main" id="{96CBA3CD-37FE-CD28-0FB8-3BED28ED2AF8}"/>
                </a:ext>
              </a:extLst>
            </p:cNvPr>
            <p:cNvPicPr>
              <a:picLocks noChangeAspect="1"/>
            </p:cNvPicPr>
            <p:nvPr/>
          </p:nvPicPr>
          <p:blipFill>
            <a:blip r:embed="rId3"/>
            <a:stretch>
              <a:fillRect/>
            </a:stretch>
          </p:blipFill>
          <p:spPr>
            <a:xfrm>
              <a:off x="4806397" y="734290"/>
              <a:ext cx="7772400" cy="5950424"/>
            </a:xfrm>
            <a:prstGeom prst="rect">
              <a:avLst/>
            </a:prstGeom>
          </p:spPr>
        </p:pic>
        <p:sp>
          <p:nvSpPr>
            <p:cNvPr id="8" name="Rectangle 7">
              <a:extLst>
                <a:ext uri="{FF2B5EF4-FFF2-40B4-BE49-F238E27FC236}">
                  <a16:creationId xmlns:a16="http://schemas.microsoft.com/office/drawing/2014/main" id="{E001D255-DE7A-A543-BD3E-3E13B16B7AC8}"/>
                </a:ext>
              </a:extLst>
            </p:cNvPr>
            <p:cNvSpPr/>
            <p:nvPr/>
          </p:nvSpPr>
          <p:spPr>
            <a:xfrm>
              <a:off x="7839953" y="3652232"/>
              <a:ext cx="1801541" cy="505298"/>
            </a:xfrm>
            <a:prstGeom prst="rect">
              <a:avLst/>
            </a:prstGeom>
            <a:no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dirty="0">
                <a:solidFill>
                  <a:schemeClr val="tx1"/>
                </a:solidFill>
              </a:endParaRPr>
            </a:p>
          </p:txBody>
        </p:sp>
        <p:sp>
          <p:nvSpPr>
            <p:cNvPr id="9" name="Left Arrow 8">
              <a:extLst>
                <a:ext uri="{FF2B5EF4-FFF2-40B4-BE49-F238E27FC236}">
                  <a16:creationId xmlns:a16="http://schemas.microsoft.com/office/drawing/2014/main" id="{DD67101D-5348-FB48-B8CA-1488EF790959}"/>
                </a:ext>
              </a:extLst>
            </p:cNvPr>
            <p:cNvSpPr/>
            <p:nvPr/>
          </p:nvSpPr>
          <p:spPr>
            <a:xfrm>
              <a:off x="9736596" y="3652232"/>
              <a:ext cx="889686" cy="505298"/>
            </a:xfrm>
            <a:prstGeom prst="leftArrow">
              <a:avLst/>
            </a:prstGeom>
            <a:solidFill>
              <a:srgbClr val="D2DCF2"/>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dirty="0">
                <a:solidFill>
                  <a:schemeClr val="tx1"/>
                </a:solidFill>
              </a:endParaRPr>
            </a:p>
          </p:txBody>
        </p:sp>
        <p:sp>
          <p:nvSpPr>
            <p:cNvPr id="10" name="Rectangle 9">
              <a:extLst>
                <a:ext uri="{FF2B5EF4-FFF2-40B4-BE49-F238E27FC236}">
                  <a16:creationId xmlns:a16="http://schemas.microsoft.com/office/drawing/2014/main" id="{5E162120-56E7-7C48-9A01-26344E392702}"/>
                </a:ext>
              </a:extLst>
            </p:cNvPr>
            <p:cNvSpPr/>
            <p:nvPr/>
          </p:nvSpPr>
          <p:spPr>
            <a:xfrm>
              <a:off x="6801853" y="1986572"/>
              <a:ext cx="1171907" cy="505298"/>
            </a:xfrm>
            <a:prstGeom prst="rect">
              <a:avLst/>
            </a:prstGeom>
            <a:no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dirty="0">
                <a:solidFill>
                  <a:schemeClr val="tx1"/>
                </a:solidFill>
              </a:endParaRPr>
            </a:p>
          </p:txBody>
        </p:sp>
        <p:sp>
          <p:nvSpPr>
            <p:cNvPr id="12" name="Left Arrow 11">
              <a:extLst>
                <a:ext uri="{FF2B5EF4-FFF2-40B4-BE49-F238E27FC236}">
                  <a16:creationId xmlns:a16="http://schemas.microsoft.com/office/drawing/2014/main" id="{86011594-79C6-C44C-8CE2-DEEA72B35DA9}"/>
                </a:ext>
              </a:extLst>
            </p:cNvPr>
            <p:cNvSpPr/>
            <p:nvPr/>
          </p:nvSpPr>
          <p:spPr>
            <a:xfrm>
              <a:off x="8068862" y="1986572"/>
              <a:ext cx="889686" cy="505298"/>
            </a:xfrm>
            <a:prstGeom prst="leftArrow">
              <a:avLst/>
            </a:prstGeom>
            <a:solidFill>
              <a:srgbClr val="D2DCF2"/>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dirty="0">
                <a:solidFill>
                  <a:schemeClr val="tx1"/>
                </a:solidFill>
              </a:endParaRPr>
            </a:p>
          </p:txBody>
        </p:sp>
      </p:grpSp>
    </p:spTree>
    <p:extLst>
      <p:ext uri="{BB962C8B-B14F-4D97-AF65-F5344CB8AC3E}">
        <p14:creationId xmlns:p14="http://schemas.microsoft.com/office/powerpoint/2010/main" val="358086054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64CB3B0-31DD-A040-AA65-0A156C67AF29}"/>
              </a:ext>
            </a:extLst>
          </p:cNvPr>
          <p:cNvSpPr>
            <a:spLocks noGrp="1"/>
          </p:cNvSpPr>
          <p:nvPr>
            <p:ph type="title"/>
          </p:nvPr>
        </p:nvSpPr>
        <p:spPr/>
        <p:txBody>
          <a:bodyPr/>
          <a:lstStyle/>
          <a:p>
            <a:r>
              <a:rPr lang="en-US" dirty="0"/>
              <a:t>Creating a Pull Request</a:t>
            </a:r>
          </a:p>
        </p:txBody>
      </p:sp>
      <p:sp>
        <p:nvSpPr>
          <p:cNvPr id="11" name="Content Placeholder 1">
            <a:extLst>
              <a:ext uri="{FF2B5EF4-FFF2-40B4-BE49-F238E27FC236}">
                <a16:creationId xmlns:a16="http://schemas.microsoft.com/office/drawing/2014/main" id="{1F9711C7-0E72-894D-AC71-8CF61625E182}"/>
              </a:ext>
            </a:extLst>
          </p:cNvPr>
          <p:cNvSpPr>
            <a:spLocks noGrp="1"/>
          </p:cNvSpPr>
          <p:nvPr>
            <p:ph idx="1"/>
          </p:nvPr>
        </p:nvSpPr>
        <p:spPr>
          <a:xfrm>
            <a:off x="838200" y="1825625"/>
            <a:ext cx="4807226" cy="4351338"/>
          </a:xfrm>
        </p:spPr>
        <p:txBody>
          <a:bodyPr>
            <a:normAutofit/>
          </a:bodyPr>
          <a:lstStyle/>
          <a:p>
            <a:r>
              <a:rPr lang="en-US" dirty="0"/>
              <a:t>Fill out the form with</a:t>
            </a:r>
          </a:p>
          <a:p>
            <a:pPr lvl="1"/>
            <a:r>
              <a:rPr lang="en-US" dirty="0"/>
              <a:t>A title</a:t>
            </a:r>
          </a:p>
          <a:p>
            <a:pPr lvl="1"/>
            <a:r>
              <a:rPr lang="en-US" dirty="0"/>
              <a:t>A description of the changes you made and why you made them, include any other relevant information</a:t>
            </a:r>
          </a:p>
          <a:p>
            <a:r>
              <a:rPr lang="en-US" dirty="0"/>
              <a:t>When you are done click “Create pull request”</a:t>
            </a:r>
          </a:p>
        </p:txBody>
      </p:sp>
      <p:grpSp>
        <p:nvGrpSpPr>
          <p:cNvPr id="2" name="Group 1" descr="A screenshot of a Pull Request form on GitHub.The title and description are filled out.">
            <a:extLst>
              <a:ext uri="{FF2B5EF4-FFF2-40B4-BE49-F238E27FC236}">
                <a16:creationId xmlns:a16="http://schemas.microsoft.com/office/drawing/2014/main" id="{18ACF955-92D1-F3ED-5A27-7A6478E9E014}"/>
              </a:ext>
            </a:extLst>
          </p:cNvPr>
          <p:cNvGrpSpPr/>
          <p:nvPr/>
        </p:nvGrpSpPr>
        <p:grpSpPr>
          <a:xfrm>
            <a:off x="5853821" y="1410864"/>
            <a:ext cx="5951095" cy="5180859"/>
            <a:chOff x="5853821" y="1007019"/>
            <a:chExt cx="5951095" cy="5180859"/>
          </a:xfrm>
        </p:grpSpPr>
        <p:pic>
          <p:nvPicPr>
            <p:cNvPr id="4" name="Picture 3" descr="A screenshot of a computer&#10;&#10;Description automatically generated">
              <a:extLst>
                <a:ext uri="{FF2B5EF4-FFF2-40B4-BE49-F238E27FC236}">
                  <a16:creationId xmlns:a16="http://schemas.microsoft.com/office/drawing/2014/main" id="{6472E4F2-3C9F-6C8A-E929-2D6E556F1DD9}"/>
                </a:ext>
              </a:extLst>
            </p:cNvPr>
            <p:cNvPicPr>
              <a:picLocks noChangeAspect="1"/>
            </p:cNvPicPr>
            <p:nvPr/>
          </p:nvPicPr>
          <p:blipFill rotWithShape="1">
            <a:blip r:embed="rId3"/>
            <a:srcRect l="5858" t="14513" r="31860" b="10629"/>
            <a:stretch/>
          </p:blipFill>
          <p:spPr>
            <a:xfrm>
              <a:off x="5853821" y="1007019"/>
              <a:ext cx="5951095" cy="5180859"/>
            </a:xfrm>
            <a:prstGeom prst="rect">
              <a:avLst/>
            </a:prstGeom>
          </p:spPr>
        </p:pic>
        <p:sp>
          <p:nvSpPr>
            <p:cNvPr id="6" name="Rectangle 5">
              <a:extLst>
                <a:ext uri="{FF2B5EF4-FFF2-40B4-BE49-F238E27FC236}">
                  <a16:creationId xmlns:a16="http://schemas.microsoft.com/office/drawing/2014/main" id="{DBB541F5-88B7-8829-129B-B3E0AB2051DE}"/>
                </a:ext>
              </a:extLst>
            </p:cNvPr>
            <p:cNvSpPr/>
            <p:nvPr/>
          </p:nvSpPr>
          <p:spPr>
            <a:xfrm>
              <a:off x="9787256" y="5633402"/>
              <a:ext cx="1921707" cy="505298"/>
            </a:xfrm>
            <a:prstGeom prst="rect">
              <a:avLst/>
            </a:prstGeom>
            <a:no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dirty="0">
                <a:solidFill>
                  <a:schemeClr val="tx1"/>
                </a:solidFill>
              </a:endParaRPr>
            </a:p>
          </p:txBody>
        </p:sp>
        <p:sp>
          <p:nvSpPr>
            <p:cNvPr id="7" name="Left Arrow 6">
              <a:extLst>
                <a:ext uri="{FF2B5EF4-FFF2-40B4-BE49-F238E27FC236}">
                  <a16:creationId xmlns:a16="http://schemas.microsoft.com/office/drawing/2014/main" id="{5C380910-6D33-CCBE-81B2-D57BFED76834}"/>
                </a:ext>
              </a:extLst>
            </p:cNvPr>
            <p:cNvSpPr/>
            <p:nvPr/>
          </p:nvSpPr>
          <p:spPr>
            <a:xfrm rot="10800000">
              <a:off x="8801617" y="5682580"/>
              <a:ext cx="889686" cy="505298"/>
            </a:xfrm>
            <a:prstGeom prst="leftArrow">
              <a:avLst/>
            </a:prstGeom>
            <a:solidFill>
              <a:srgbClr val="D2DCF2"/>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dirty="0">
                <a:solidFill>
                  <a:schemeClr val="tx1"/>
                </a:solidFill>
              </a:endParaRPr>
            </a:p>
          </p:txBody>
        </p:sp>
      </p:grpSp>
    </p:spTree>
    <p:extLst>
      <p:ext uri="{BB962C8B-B14F-4D97-AF65-F5344CB8AC3E}">
        <p14:creationId xmlns:p14="http://schemas.microsoft.com/office/powerpoint/2010/main" val="31471025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64CB3B0-31DD-A040-AA65-0A156C67AF29}"/>
              </a:ext>
            </a:extLst>
          </p:cNvPr>
          <p:cNvSpPr>
            <a:spLocks noGrp="1"/>
          </p:cNvSpPr>
          <p:nvPr>
            <p:ph type="title"/>
          </p:nvPr>
        </p:nvSpPr>
        <p:spPr/>
        <p:txBody>
          <a:bodyPr/>
          <a:lstStyle/>
          <a:p>
            <a:r>
              <a:rPr lang="en-US" dirty="0"/>
              <a:t>Anatomy of a Pull Request</a:t>
            </a:r>
          </a:p>
        </p:txBody>
      </p:sp>
      <p:sp>
        <p:nvSpPr>
          <p:cNvPr id="11" name="Content Placeholder 1">
            <a:extLst>
              <a:ext uri="{FF2B5EF4-FFF2-40B4-BE49-F238E27FC236}">
                <a16:creationId xmlns:a16="http://schemas.microsoft.com/office/drawing/2014/main" id="{1F9711C7-0E72-894D-AC71-8CF61625E182}"/>
              </a:ext>
            </a:extLst>
          </p:cNvPr>
          <p:cNvSpPr>
            <a:spLocks noGrp="1"/>
          </p:cNvSpPr>
          <p:nvPr>
            <p:ph idx="1"/>
          </p:nvPr>
        </p:nvSpPr>
        <p:spPr>
          <a:xfrm>
            <a:off x="838200" y="1825625"/>
            <a:ext cx="4109702" cy="4351338"/>
          </a:xfrm>
        </p:spPr>
        <p:txBody>
          <a:bodyPr>
            <a:normAutofit fontScale="85000" lnSpcReduction="20000"/>
          </a:bodyPr>
          <a:lstStyle/>
          <a:p>
            <a:r>
              <a:rPr lang="en-US" dirty="0"/>
              <a:t>The PR number is displayed next to the PR title</a:t>
            </a:r>
          </a:p>
          <a:p>
            <a:r>
              <a:rPr lang="en-US" dirty="0"/>
              <a:t>In the conversation tab you’ll see a timeline of comments and commits</a:t>
            </a:r>
          </a:p>
          <a:p>
            <a:pPr lvl="1"/>
            <a:r>
              <a:rPr lang="en-US" dirty="0"/>
              <a:t>The first “comment” is the initial description</a:t>
            </a:r>
          </a:p>
          <a:p>
            <a:pPr lvl="1"/>
            <a:r>
              <a:rPr lang="en-US" dirty="0"/>
              <a:t>Scroll to the bottom of the to add more comments</a:t>
            </a:r>
          </a:p>
          <a:p>
            <a:r>
              <a:rPr lang="en-US" dirty="0"/>
              <a:t>It will also show whether there are any merge conflicts</a:t>
            </a:r>
          </a:p>
          <a:p>
            <a:pPr lvl="1"/>
            <a:r>
              <a:rPr lang="en-US" dirty="0"/>
              <a:t>Resolve any conflicts locally and push the commit to update</a:t>
            </a:r>
          </a:p>
        </p:txBody>
      </p:sp>
      <p:grpSp>
        <p:nvGrpSpPr>
          <p:cNvPr id="2" name="Group 1" descr="A screenshot of the conversation tab of a Pull Request. There are arrows pointing with the text “The PR Number”, “Your Description”, “The commit for the change”, and “Conflict Status”, pointing to these sections on the page.">
            <a:extLst>
              <a:ext uri="{FF2B5EF4-FFF2-40B4-BE49-F238E27FC236}">
                <a16:creationId xmlns:a16="http://schemas.microsoft.com/office/drawing/2014/main" id="{46718A57-233E-A6FC-20E9-51E41EA7B014}"/>
              </a:ext>
            </a:extLst>
          </p:cNvPr>
          <p:cNvGrpSpPr/>
          <p:nvPr/>
        </p:nvGrpSpPr>
        <p:grpSpPr>
          <a:xfrm>
            <a:off x="4947902" y="1366466"/>
            <a:ext cx="7244098" cy="5269655"/>
            <a:chOff x="4947902" y="1036670"/>
            <a:chExt cx="7244098" cy="5269655"/>
          </a:xfrm>
        </p:grpSpPr>
        <p:pic>
          <p:nvPicPr>
            <p:cNvPr id="4" name="Picture 3">
              <a:extLst>
                <a:ext uri="{FF2B5EF4-FFF2-40B4-BE49-F238E27FC236}">
                  <a16:creationId xmlns:a16="http://schemas.microsoft.com/office/drawing/2014/main" id="{326DB38D-6479-748B-029B-E644562CF964}"/>
                </a:ext>
              </a:extLst>
            </p:cNvPr>
            <p:cNvPicPr>
              <a:picLocks noChangeAspect="1"/>
            </p:cNvPicPr>
            <p:nvPr/>
          </p:nvPicPr>
          <p:blipFill rotWithShape="1">
            <a:blip r:embed="rId3"/>
            <a:srcRect l="5500" t="12669" r="6152" b="8987"/>
            <a:stretch/>
          </p:blipFill>
          <p:spPr>
            <a:xfrm>
              <a:off x="4947902" y="1036670"/>
              <a:ext cx="7244098" cy="5269655"/>
            </a:xfrm>
            <a:prstGeom prst="rect">
              <a:avLst/>
            </a:prstGeom>
          </p:spPr>
        </p:pic>
        <p:sp>
          <p:nvSpPr>
            <p:cNvPr id="7" name="Left Arrow 6">
              <a:extLst>
                <a:ext uri="{FF2B5EF4-FFF2-40B4-BE49-F238E27FC236}">
                  <a16:creationId xmlns:a16="http://schemas.microsoft.com/office/drawing/2014/main" id="{5C380910-6D33-CCBE-81B2-D57BFED76834}"/>
                </a:ext>
              </a:extLst>
            </p:cNvPr>
            <p:cNvSpPr/>
            <p:nvPr/>
          </p:nvSpPr>
          <p:spPr>
            <a:xfrm>
              <a:off x="9956329" y="2680716"/>
              <a:ext cx="1963272" cy="816988"/>
            </a:xfrm>
            <a:prstGeom prst="leftArrow">
              <a:avLst/>
            </a:prstGeom>
            <a:solidFill>
              <a:srgbClr val="D2DCF2"/>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solidFill>
                </a:rPr>
                <a:t>Your Description</a:t>
              </a:r>
            </a:p>
          </p:txBody>
        </p:sp>
        <p:sp>
          <p:nvSpPr>
            <p:cNvPr id="9" name="Left Arrow 8">
              <a:extLst>
                <a:ext uri="{FF2B5EF4-FFF2-40B4-BE49-F238E27FC236}">
                  <a16:creationId xmlns:a16="http://schemas.microsoft.com/office/drawing/2014/main" id="{E164A166-095A-AF85-0E5A-ABB6D03B8070}"/>
                </a:ext>
              </a:extLst>
            </p:cNvPr>
            <p:cNvSpPr/>
            <p:nvPr/>
          </p:nvSpPr>
          <p:spPr>
            <a:xfrm>
              <a:off x="9914219" y="4109185"/>
              <a:ext cx="1963272" cy="987595"/>
            </a:xfrm>
            <a:prstGeom prst="leftArrow">
              <a:avLst/>
            </a:prstGeom>
            <a:solidFill>
              <a:srgbClr val="D2DCF2"/>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solidFill>
                </a:rPr>
                <a:t>The commit for the change</a:t>
              </a:r>
            </a:p>
          </p:txBody>
        </p:sp>
        <p:sp>
          <p:nvSpPr>
            <p:cNvPr id="10" name="Left Arrow 9">
              <a:extLst>
                <a:ext uri="{FF2B5EF4-FFF2-40B4-BE49-F238E27FC236}">
                  <a16:creationId xmlns:a16="http://schemas.microsoft.com/office/drawing/2014/main" id="{368A8AD1-AC1F-DE7D-5870-F5E1FA57AD5F}"/>
                </a:ext>
              </a:extLst>
            </p:cNvPr>
            <p:cNvSpPr/>
            <p:nvPr/>
          </p:nvSpPr>
          <p:spPr>
            <a:xfrm>
              <a:off x="6516739" y="1081640"/>
              <a:ext cx="1963272" cy="816988"/>
            </a:xfrm>
            <a:prstGeom prst="leftArrow">
              <a:avLst/>
            </a:prstGeom>
            <a:solidFill>
              <a:srgbClr val="D2DCF2"/>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solidFill>
                </a:rPr>
                <a:t>The PR Number</a:t>
              </a:r>
            </a:p>
          </p:txBody>
        </p:sp>
        <p:sp>
          <p:nvSpPr>
            <p:cNvPr id="5" name="Left Arrow 4">
              <a:extLst>
                <a:ext uri="{FF2B5EF4-FFF2-40B4-BE49-F238E27FC236}">
                  <a16:creationId xmlns:a16="http://schemas.microsoft.com/office/drawing/2014/main" id="{FA66CE07-7DEA-F230-F89D-2CC3DE871730}"/>
                </a:ext>
              </a:extLst>
            </p:cNvPr>
            <p:cNvSpPr/>
            <p:nvPr/>
          </p:nvSpPr>
          <p:spPr>
            <a:xfrm>
              <a:off x="9956329" y="5412836"/>
              <a:ext cx="1963272" cy="816988"/>
            </a:xfrm>
            <a:prstGeom prst="leftArrow">
              <a:avLst/>
            </a:prstGeom>
            <a:solidFill>
              <a:srgbClr val="D2DCF2"/>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solidFill>
                </a:rPr>
                <a:t>Conflict Status</a:t>
              </a:r>
            </a:p>
          </p:txBody>
        </p:sp>
      </p:grpSp>
    </p:spTree>
    <p:extLst>
      <p:ext uri="{BB962C8B-B14F-4D97-AF65-F5344CB8AC3E}">
        <p14:creationId xmlns:p14="http://schemas.microsoft.com/office/powerpoint/2010/main" val="305463734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64CB3B0-31DD-A040-AA65-0A156C67AF29}"/>
              </a:ext>
            </a:extLst>
          </p:cNvPr>
          <p:cNvSpPr>
            <a:spLocks noGrp="1"/>
          </p:cNvSpPr>
          <p:nvPr>
            <p:ph type="title"/>
          </p:nvPr>
        </p:nvSpPr>
        <p:spPr/>
        <p:txBody>
          <a:bodyPr/>
          <a:lstStyle/>
          <a:p>
            <a:r>
              <a:rPr lang="en-US" dirty="0"/>
              <a:t>Anatomy of a Pull Request</a:t>
            </a:r>
          </a:p>
        </p:txBody>
      </p:sp>
      <p:sp>
        <p:nvSpPr>
          <p:cNvPr id="11" name="Content Placeholder 1">
            <a:extLst>
              <a:ext uri="{FF2B5EF4-FFF2-40B4-BE49-F238E27FC236}">
                <a16:creationId xmlns:a16="http://schemas.microsoft.com/office/drawing/2014/main" id="{1F9711C7-0E72-894D-AC71-8CF61625E182}"/>
              </a:ext>
            </a:extLst>
          </p:cNvPr>
          <p:cNvSpPr>
            <a:spLocks noGrp="1"/>
          </p:cNvSpPr>
          <p:nvPr>
            <p:ph idx="1"/>
          </p:nvPr>
        </p:nvSpPr>
        <p:spPr>
          <a:xfrm>
            <a:off x="838200" y="1825624"/>
            <a:ext cx="4157870" cy="4866723"/>
          </a:xfrm>
        </p:spPr>
        <p:txBody>
          <a:bodyPr>
            <a:normAutofit fontScale="85000" lnSpcReduction="20000"/>
          </a:bodyPr>
          <a:lstStyle/>
          <a:p>
            <a:r>
              <a:rPr lang="en-US" dirty="0"/>
              <a:t>The PR number is displayed next to the PR title</a:t>
            </a:r>
          </a:p>
          <a:p>
            <a:r>
              <a:rPr lang="en-US" dirty="0"/>
              <a:t>In the conversation tab you’ll see a timeline of comments and commits</a:t>
            </a:r>
          </a:p>
          <a:p>
            <a:pPr lvl="1"/>
            <a:r>
              <a:rPr lang="en-US" dirty="0"/>
              <a:t>The first “comment” is the initial description</a:t>
            </a:r>
          </a:p>
          <a:p>
            <a:pPr lvl="1"/>
            <a:r>
              <a:rPr lang="en-US" dirty="0"/>
              <a:t>Scroll to the bottom of the to add more comments</a:t>
            </a:r>
          </a:p>
          <a:p>
            <a:r>
              <a:rPr lang="en-US" dirty="0"/>
              <a:t>It will also show whether there are any merge conflicts</a:t>
            </a:r>
          </a:p>
          <a:p>
            <a:pPr lvl="1"/>
            <a:r>
              <a:rPr lang="en-US" dirty="0"/>
              <a:t>Resolve any conflicts locally and push the commit to update</a:t>
            </a:r>
          </a:p>
          <a:p>
            <a:r>
              <a:rPr lang="en-US" dirty="0"/>
              <a:t>Continuous Integration</a:t>
            </a:r>
          </a:p>
        </p:txBody>
      </p:sp>
      <p:grpSp>
        <p:nvGrpSpPr>
          <p:cNvPr id="4" name="Group 3" descr="A screenshot of the Conversation tab of a Pull Request scrolled down to the section showing in progress continuous integration steps. The screenshot shows a preview workflow in progress.">
            <a:extLst>
              <a:ext uri="{FF2B5EF4-FFF2-40B4-BE49-F238E27FC236}">
                <a16:creationId xmlns:a16="http://schemas.microsoft.com/office/drawing/2014/main" id="{F25A5384-567C-420E-29E4-EC849B56381F}"/>
              </a:ext>
            </a:extLst>
          </p:cNvPr>
          <p:cNvGrpSpPr/>
          <p:nvPr/>
        </p:nvGrpSpPr>
        <p:grpSpPr>
          <a:xfrm>
            <a:off x="4751553" y="1174080"/>
            <a:ext cx="7772400" cy="6007487"/>
            <a:chOff x="4751553" y="748914"/>
            <a:chExt cx="7772400" cy="6007487"/>
          </a:xfrm>
        </p:grpSpPr>
        <p:pic>
          <p:nvPicPr>
            <p:cNvPr id="2" name="Picture 1" descr="Graphical user interface, text, application&#10;&#10;Description automatically generated">
              <a:extLst>
                <a:ext uri="{FF2B5EF4-FFF2-40B4-BE49-F238E27FC236}">
                  <a16:creationId xmlns:a16="http://schemas.microsoft.com/office/drawing/2014/main" id="{115ADEEC-677B-B465-628A-7E531801B5F0}"/>
                </a:ext>
              </a:extLst>
            </p:cNvPr>
            <p:cNvPicPr>
              <a:picLocks noChangeAspect="1"/>
            </p:cNvPicPr>
            <p:nvPr/>
          </p:nvPicPr>
          <p:blipFill>
            <a:blip r:embed="rId3"/>
            <a:stretch>
              <a:fillRect/>
            </a:stretch>
          </p:blipFill>
          <p:spPr>
            <a:xfrm>
              <a:off x="4751553" y="748914"/>
              <a:ext cx="7772400" cy="6007487"/>
            </a:xfrm>
            <a:prstGeom prst="rect">
              <a:avLst/>
            </a:prstGeom>
          </p:spPr>
        </p:pic>
        <p:sp>
          <p:nvSpPr>
            <p:cNvPr id="6" name="Left Arrow 5">
              <a:extLst>
                <a:ext uri="{FF2B5EF4-FFF2-40B4-BE49-F238E27FC236}">
                  <a16:creationId xmlns:a16="http://schemas.microsoft.com/office/drawing/2014/main" id="{A7C0FF3E-CED8-7649-07A0-188C0E6117BE}"/>
                </a:ext>
              </a:extLst>
            </p:cNvPr>
            <p:cNvSpPr/>
            <p:nvPr/>
          </p:nvSpPr>
          <p:spPr>
            <a:xfrm>
              <a:off x="9595480" y="4045454"/>
              <a:ext cx="1963272" cy="816988"/>
            </a:xfrm>
            <a:prstGeom prst="leftArrow">
              <a:avLst/>
            </a:prstGeom>
            <a:solidFill>
              <a:srgbClr val="D2DCF2"/>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solidFill>
                </a:rPr>
                <a:t>GitHub Workflow to create Preview</a:t>
              </a:r>
            </a:p>
          </p:txBody>
        </p:sp>
      </p:grpSp>
    </p:spTree>
    <p:extLst>
      <p:ext uri="{BB962C8B-B14F-4D97-AF65-F5344CB8AC3E}">
        <p14:creationId xmlns:p14="http://schemas.microsoft.com/office/powerpoint/2010/main" val="88314423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64CB3B0-31DD-A040-AA65-0A156C67AF29}"/>
              </a:ext>
            </a:extLst>
          </p:cNvPr>
          <p:cNvSpPr>
            <a:spLocks noGrp="1"/>
          </p:cNvSpPr>
          <p:nvPr>
            <p:ph type="title"/>
          </p:nvPr>
        </p:nvSpPr>
        <p:spPr/>
        <p:txBody>
          <a:bodyPr/>
          <a:lstStyle/>
          <a:p>
            <a:r>
              <a:rPr lang="en-US" dirty="0"/>
              <a:t>Anatomy of a Pull Request</a:t>
            </a:r>
          </a:p>
        </p:txBody>
      </p:sp>
      <p:pic>
        <p:nvPicPr>
          <p:cNvPr id="12" name="Picture 11" descr="A screenshot of the Commits tab of a Pull Request. The page shows the single commit in this pull request.">
            <a:extLst>
              <a:ext uri="{FF2B5EF4-FFF2-40B4-BE49-F238E27FC236}">
                <a16:creationId xmlns:a16="http://schemas.microsoft.com/office/drawing/2014/main" id="{81A76C0F-5CD7-AE5F-29D4-5ECC724FAED5}"/>
              </a:ext>
            </a:extLst>
          </p:cNvPr>
          <p:cNvPicPr>
            <a:picLocks noChangeAspect="1"/>
          </p:cNvPicPr>
          <p:nvPr/>
        </p:nvPicPr>
        <p:blipFill rotWithShape="1">
          <a:blip r:embed="rId3"/>
          <a:srcRect l="4907" t="14821" r="6531" b="10849"/>
          <a:stretch/>
        </p:blipFill>
        <p:spPr>
          <a:xfrm>
            <a:off x="0" y="1507388"/>
            <a:ext cx="6129047" cy="4219729"/>
          </a:xfrm>
          <a:prstGeom prst="rect">
            <a:avLst/>
          </a:prstGeom>
        </p:spPr>
      </p:pic>
      <p:pic>
        <p:nvPicPr>
          <p:cNvPr id="14" name="Picture 13" descr="A screenshot of the Files Changed tab of a Pull Request. The page shows one line of code has been updated.">
            <a:extLst>
              <a:ext uri="{FF2B5EF4-FFF2-40B4-BE49-F238E27FC236}">
                <a16:creationId xmlns:a16="http://schemas.microsoft.com/office/drawing/2014/main" id="{BDAAAAC1-4384-D8C0-26E1-921D40D971FA}"/>
              </a:ext>
            </a:extLst>
          </p:cNvPr>
          <p:cNvPicPr>
            <a:picLocks noChangeAspect="1"/>
          </p:cNvPicPr>
          <p:nvPr/>
        </p:nvPicPr>
        <p:blipFill rotWithShape="1">
          <a:blip r:embed="rId4"/>
          <a:srcRect l="4867" t="13249" r="4907" b="10199"/>
          <a:stretch/>
        </p:blipFill>
        <p:spPr>
          <a:xfrm>
            <a:off x="6129047" y="1510698"/>
            <a:ext cx="6062953" cy="4219729"/>
          </a:xfrm>
          <a:prstGeom prst="rect">
            <a:avLst/>
          </a:prstGeom>
        </p:spPr>
      </p:pic>
      <p:sp>
        <p:nvSpPr>
          <p:cNvPr id="16" name="TextBox 15">
            <a:extLst>
              <a:ext uri="{FF2B5EF4-FFF2-40B4-BE49-F238E27FC236}">
                <a16:creationId xmlns:a16="http://schemas.microsoft.com/office/drawing/2014/main" id="{0F74E65B-4399-771A-AD33-CB3738C47538}"/>
              </a:ext>
            </a:extLst>
          </p:cNvPr>
          <p:cNvSpPr txBox="1"/>
          <p:nvPr/>
        </p:nvSpPr>
        <p:spPr>
          <a:xfrm>
            <a:off x="448300" y="5862948"/>
            <a:ext cx="5647700" cy="369332"/>
          </a:xfrm>
          <a:prstGeom prst="rect">
            <a:avLst/>
          </a:prstGeom>
          <a:noFill/>
        </p:spPr>
        <p:txBody>
          <a:bodyPr wrap="none" rtlCol="0">
            <a:spAutoFit/>
          </a:bodyPr>
          <a:lstStyle/>
          <a:p>
            <a:pPr algn="ctr"/>
            <a:r>
              <a:rPr lang="en-US" b="1" dirty="0"/>
              <a:t>The Commits tab shows all the commits in the PR</a:t>
            </a:r>
          </a:p>
        </p:txBody>
      </p:sp>
      <p:sp>
        <p:nvSpPr>
          <p:cNvPr id="17" name="TextBox 16">
            <a:extLst>
              <a:ext uri="{FF2B5EF4-FFF2-40B4-BE49-F238E27FC236}">
                <a16:creationId xmlns:a16="http://schemas.microsoft.com/office/drawing/2014/main" id="{4CF1EB08-DBA4-1503-3C17-6E1D5C1DBC54}"/>
              </a:ext>
            </a:extLst>
          </p:cNvPr>
          <p:cNvSpPr txBox="1"/>
          <p:nvPr/>
        </p:nvSpPr>
        <p:spPr>
          <a:xfrm>
            <a:off x="6814672" y="5862948"/>
            <a:ext cx="4673074" cy="369332"/>
          </a:xfrm>
          <a:prstGeom prst="rect">
            <a:avLst/>
          </a:prstGeom>
          <a:noFill/>
        </p:spPr>
        <p:txBody>
          <a:bodyPr wrap="none" rtlCol="0">
            <a:spAutoFit/>
          </a:bodyPr>
          <a:lstStyle/>
          <a:p>
            <a:pPr algn="ctr"/>
            <a:r>
              <a:rPr lang="en-US" b="1" dirty="0"/>
              <a:t>Click “Files Changed” to review changes</a:t>
            </a:r>
          </a:p>
        </p:txBody>
      </p:sp>
    </p:spTree>
    <p:extLst>
      <p:ext uri="{BB962C8B-B14F-4D97-AF65-F5344CB8AC3E}">
        <p14:creationId xmlns:p14="http://schemas.microsoft.com/office/powerpoint/2010/main" val="22089032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64CB3B0-31DD-A040-AA65-0A156C67AF29}"/>
              </a:ext>
            </a:extLst>
          </p:cNvPr>
          <p:cNvSpPr>
            <a:spLocks noGrp="1"/>
          </p:cNvSpPr>
          <p:nvPr>
            <p:ph type="title"/>
          </p:nvPr>
        </p:nvSpPr>
        <p:spPr/>
        <p:txBody>
          <a:bodyPr/>
          <a:lstStyle/>
          <a:p>
            <a:r>
              <a:rPr lang="en-US" dirty="0"/>
              <a:t>Updating a Pull Request</a:t>
            </a:r>
          </a:p>
        </p:txBody>
      </p:sp>
      <p:sp>
        <p:nvSpPr>
          <p:cNvPr id="11" name="Content Placeholder 1">
            <a:extLst>
              <a:ext uri="{FF2B5EF4-FFF2-40B4-BE49-F238E27FC236}">
                <a16:creationId xmlns:a16="http://schemas.microsoft.com/office/drawing/2014/main" id="{1F9711C7-0E72-894D-AC71-8CF61625E182}"/>
              </a:ext>
            </a:extLst>
          </p:cNvPr>
          <p:cNvSpPr>
            <a:spLocks noGrp="1"/>
          </p:cNvSpPr>
          <p:nvPr>
            <p:ph idx="1"/>
          </p:nvPr>
        </p:nvSpPr>
        <p:spPr>
          <a:xfrm>
            <a:off x="838200" y="1825625"/>
            <a:ext cx="4104861" cy="4787210"/>
          </a:xfrm>
        </p:spPr>
        <p:txBody>
          <a:bodyPr>
            <a:normAutofit fontScale="92500" lnSpcReduction="10000"/>
          </a:bodyPr>
          <a:lstStyle/>
          <a:p>
            <a:r>
              <a:rPr lang="en-US" dirty="0"/>
              <a:t>Others on the team should review the changes</a:t>
            </a:r>
          </a:p>
          <a:p>
            <a:r>
              <a:rPr lang="en-US" dirty="0"/>
              <a:t>Feedback can be given using the comment field at the bottom of the Conversation Tab</a:t>
            </a:r>
          </a:p>
          <a:p>
            <a:r>
              <a:rPr lang="en-US" dirty="0"/>
              <a:t>To update the PR, make updates in your branch and push the commits</a:t>
            </a:r>
          </a:p>
          <a:p>
            <a:r>
              <a:rPr lang="en-US" dirty="0"/>
              <a:t>New commits will be added to the PR automatically</a:t>
            </a:r>
          </a:p>
          <a:p>
            <a:endParaRPr lang="en-US" dirty="0"/>
          </a:p>
          <a:p>
            <a:endParaRPr lang="en-US" dirty="0"/>
          </a:p>
          <a:p>
            <a:endParaRPr lang="en-US" dirty="0"/>
          </a:p>
          <a:p>
            <a:endParaRPr lang="en-US" dirty="0"/>
          </a:p>
          <a:p>
            <a:endParaRPr lang="en-US" dirty="0"/>
          </a:p>
          <a:p>
            <a:endParaRPr lang="en-US" dirty="0"/>
          </a:p>
        </p:txBody>
      </p:sp>
      <p:pic>
        <p:nvPicPr>
          <p:cNvPr id="15" name="Picture 14" descr="A screenshot of the Conversation tab of a pull request on GitHub. This page shows additional commits added after the pull request was created along with their commit messages in a top-to-bottom timeline.">
            <a:extLst>
              <a:ext uri="{FF2B5EF4-FFF2-40B4-BE49-F238E27FC236}">
                <a16:creationId xmlns:a16="http://schemas.microsoft.com/office/drawing/2014/main" id="{9FD8D5D5-34A1-105F-E5CF-D654552EEB95}"/>
              </a:ext>
            </a:extLst>
          </p:cNvPr>
          <p:cNvPicPr>
            <a:picLocks noChangeAspect="1"/>
          </p:cNvPicPr>
          <p:nvPr/>
        </p:nvPicPr>
        <p:blipFill>
          <a:blip r:embed="rId3"/>
          <a:stretch>
            <a:fillRect/>
          </a:stretch>
        </p:blipFill>
        <p:spPr>
          <a:xfrm>
            <a:off x="4650782" y="1141979"/>
            <a:ext cx="7772400" cy="6007487"/>
          </a:xfrm>
          <a:prstGeom prst="rect">
            <a:avLst/>
          </a:prstGeom>
        </p:spPr>
      </p:pic>
    </p:spTree>
    <p:extLst>
      <p:ext uri="{BB962C8B-B14F-4D97-AF65-F5344CB8AC3E}">
        <p14:creationId xmlns:p14="http://schemas.microsoft.com/office/powerpoint/2010/main" val="382737207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64CB3B0-31DD-A040-AA65-0A156C67AF29}"/>
              </a:ext>
            </a:extLst>
          </p:cNvPr>
          <p:cNvSpPr>
            <a:spLocks noGrp="1"/>
          </p:cNvSpPr>
          <p:nvPr>
            <p:ph type="title"/>
          </p:nvPr>
        </p:nvSpPr>
        <p:spPr/>
        <p:txBody>
          <a:bodyPr>
            <a:normAutofit/>
          </a:bodyPr>
          <a:lstStyle/>
          <a:p>
            <a:r>
              <a:rPr lang="en-US" dirty="0"/>
              <a:t>Accepting and Merging a Pull Request</a:t>
            </a:r>
          </a:p>
        </p:txBody>
      </p:sp>
      <p:sp>
        <p:nvSpPr>
          <p:cNvPr id="11" name="Content Placeholder 1">
            <a:extLst>
              <a:ext uri="{FF2B5EF4-FFF2-40B4-BE49-F238E27FC236}">
                <a16:creationId xmlns:a16="http://schemas.microsoft.com/office/drawing/2014/main" id="{1F9711C7-0E72-894D-AC71-8CF61625E182}"/>
              </a:ext>
            </a:extLst>
          </p:cNvPr>
          <p:cNvSpPr>
            <a:spLocks noGrp="1"/>
          </p:cNvSpPr>
          <p:nvPr>
            <p:ph idx="1"/>
          </p:nvPr>
        </p:nvSpPr>
        <p:spPr>
          <a:xfrm>
            <a:off x="838200" y="1825625"/>
            <a:ext cx="4833730" cy="4351338"/>
          </a:xfrm>
        </p:spPr>
        <p:txBody>
          <a:bodyPr>
            <a:normAutofit lnSpcReduction="10000"/>
          </a:bodyPr>
          <a:lstStyle/>
          <a:p>
            <a:r>
              <a:rPr lang="en-US" dirty="0"/>
              <a:t>Once the PR has been reviewed it is ready to merge</a:t>
            </a:r>
          </a:p>
          <a:p>
            <a:r>
              <a:rPr lang="en-US" dirty="0"/>
              <a:t>Click “Merge Pull Request” to merge, then click “Confirm merge”</a:t>
            </a:r>
          </a:p>
          <a:p>
            <a:r>
              <a:rPr lang="en-US" dirty="0"/>
              <a:t>After merging, you can click “delete branch” if you’d like, new material from here should be in a new branch</a:t>
            </a:r>
          </a:p>
          <a:p>
            <a:r>
              <a:rPr lang="en-US" dirty="0"/>
              <a:t>When the PR is merged the web page will be updated</a:t>
            </a:r>
          </a:p>
          <a:p>
            <a:endParaRPr lang="en-US" dirty="0"/>
          </a:p>
          <a:p>
            <a:endParaRPr lang="en-US" dirty="0"/>
          </a:p>
          <a:p>
            <a:endParaRPr lang="en-US" dirty="0"/>
          </a:p>
          <a:p>
            <a:endParaRPr lang="en-US" dirty="0"/>
          </a:p>
          <a:p>
            <a:endParaRPr lang="en-US" dirty="0"/>
          </a:p>
          <a:p>
            <a:endParaRPr lang="en-US" dirty="0"/>
          </a:p>
        </p:txBody>
      </p:sp>
      <p:pic>
        <p:nvPicPr>
          <p:cNvPr id="4" name="Picture 3" descr="A screenshot of the bottom of the conversation tab of a Pull Request after clicking &quot;Merge Pull Request&quot;. There is a box with the original Pull Request title and description, with a button that says &quot;Confirm Merge&quot; below that.">
            <a:extLst>
              <a:ext uri="{FF2B5EF4-FFF2-40B4-BE49-F238E27FC236}">
                <a16:creationId xmlns:a16="http://schemas.microsoft.com/office/drawing/2014/main" id="{8784EE30-D123-052D-D812-B328B067D0B9}"/>
              </a:ext>
            </a:extLst>
          </p:cNvPr>
          <p:cNvPicPr>
            <a:picLocks noChangeAspect="1"/>
          </p:cNvPicPr>
          <p:nvPr/>
        </p:nvPicPr>
        <p:blipFill rotWithShape="1">
          <a:blip r:embed="rId3"/>
          <a:srcRect l="5392" t="15732" r="33606" b="10413"/>
          <a:stretch/>
        </p:blipFill>
        <p:spPr>
          <a:xfrm>
            <a:off x="5902365" y="1690688"/>
            <a:ext cx="5984835" cy="4830616"/>
          </a:xfrm>
          <a:prstGeom prst="rect">
            <a:avLst/>
          </a:prstGeom>
        </p:spPr>
      </p:pic>
    </p:spTree>
    <p:extLst>
      <p:ext uri="{BB962C8B-B14F-4D97-AF65-F5344CB8AC3E}">
        <p14:creationId xmlns:p14="http://schemas.microsoft.com/office/powerpoint/2010/main" val="301860034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64CB3B0-31DD-A040-AA65-0A156C67AF29}"/>
              </a:ext>
            </a:extLst>
          </p:cNvPr>
          <p:cNvSpPr>
            <a:spLocks noGrp="1"/>
          </p:cNvSpPr>
          <p:nvPr>
            <p:ph type="title"/>
          </p:nvPr>
        </p:nvSpPr>
        <p:spPr/>
        <p:txBody>
          <a:bodyPr>
            <a:normAutofit/>
          </a:bodyPr>
          <a:lstStyle/>
          <a:p>
            <a:r>
              <a:rPr lang="en-US" dirty="0"/>
              <a:t>Accepting and Merging a Pull Request</a:t>
            </a:r>
          </a:p>
        </p:txBody>
      </p:sp>
      <p:sp>
        <p:nvSpPr>
          <p:cNvPr id="11" name="Content Placeholder 1">
            <a:extLst>
              <a:ext uri="{FF2B5EF4-FFF2-40B4-BE49-F238E27FC236}">
                <a16:creationId xmlns:a16="http://schemas.microsoft.com/office/drawing/2014/main" id="{1F9711C7-0E72-894D-AC71-8CF61625E182}"/>
              </a:ext>
            </a:extLst>
          </p:cNvPr>
          <p:cNvSpPr>
            <a:spLocks noGrp="1"/>
          </p:cNvSpPr>
          <p:nvPr>
            <p:ph idx="1"/>
          </p:nvPr>
        </p:nvSpPr>
        <p:spPr>
          <a:xfrm>
            <a:off x="838200" y="1825625"/>
            <a:ext cx="4833730" cy="4351338"/>
          </a:xfrm>
        </p:spPr>
        <p:txBody>
          <a:bodyPr>
            <a:normAutofit lnSpcReduction="10000"/>
          </a:bodyPr>
          <a:lstStyle/>
          <a:p>
            <a:r>
              <a:rPr lang="en-US" dirty="0"/>
              <a:t>Once the PR has been reviewed it is ready to merge</a:t>
            </a:r>
          </a:p>
          <a:p>
            <a:r>
              <a:rPr lang="en-US" dirty="0"/>
              <a:t>Click “Merge Pull Request” to merge, then click “Confirm merge”</a:t>
            </a:r>
          </a:p>
          <a:p>
            <a:r>
              <a:rPr lang="en-US" dirty="0"/>
              <a:t>After merging, you can click “delete branch” if you’d like, new material from here should be in a new branch</a:t>
            </a:r>
          </a:p>
          <a:p>
            <a:r>
              <a:rPr lang="en-US" dirty="0"/>
              <a:t>When the PR is merged the web page will be updated</a:t>
            </a:r>
          </a:p>
          <a:p>
            <a:endParaRPr lang="en-US" dirty="0"/>
          </a:p>
          <a:p>
            <a:endParaRPr lang="en-US" dirty="0"/>
          </a:p>
          <a:p>
            <a:endParaRPr lang="en-US" dirty="0"/>
          </a:p>
          <a:p>
            <a:endParaRPr lang="en-US" dirty="0"/>
          </a:p>
          <a:p>
            <a:endParaRPr lang="en-US" dirty="0"/>
          </a:p>
          <a:p>
            <a:endParaRPr lang="en-US" dirty="0"/>
          </a:p>
        </p:txBody>
      </p:sp>
      <p:pic>
        <p:nvPicPr>
          <p:cNvPr id="2" name="Picture 1" descr="A screenshot of the bottom of the conversation tab of a Pull Request after clicking &quot;Confirm Merge&quot;. There is a box that says “Pull requst successfully merged and closed” with a button labeled “Delete branch” beside it.">
            <a:extLst>
              <a:ext uri="{FF2B5EF4-FFF2-40B4-BE49-F238E27FC236}">
                <a16:creationId xmlns:a16="http://schemas.microsoft.com/office/drawing/2014/main" id="{203052AF-7F2B-2A2C-A778-321B13ED9A30}"/>
              </a:ext>
            </a:extLst>
          </p:cNvPr>
          <p:cNvPicPr>
            <a:picLocks noChangeAspect="1"/>
          </p:cNvPicPr>
          <p:nvPr/>
        </p:nvPicPr>
        <p:blipFill rotWithShape="1">
          <a:blip r:embed="rId3"/>
          <a:srcRect l="5610" t="16013" r="32734" b="10785"/>
          <a:stretch/>
        </p:blipFill>
        <p:spPr>
          <a:xfrm>
            <a:off x="5870599" y="1491892"/>
            <a:ext cx="6102962" cy="4830615"/>
          </a:xfrm>
          <a:prstGeom prst="rect">
            <a:avLst/>
          </a:prstGeom>
        </p:spPr>
      </p:pic>
    </p:spTree>
    <p:extLst>
      <p:ext uri="{BB962C8B-B14F-4D97-AF65-F5344CB8AC3E}">
        <p14:creationId xmlns:p14="http://schemas.microsoft.com/office/powerpoint/2010/main" val="334648347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28DB85B-875D-151D-F33D-4DC4CD7AF9DE}"/>
              </a:ext>
            </a:extLst>
          </p:cNvPr>
          <p:cNvSpPr>
            <a:spLocks noGrp="1"/>
          </p:cNvSpPr>
          <p:nvPr>
            <p:ph type="title"/>
          </p:nvPr>
        </p:nvSpPr>
        <p:spPr/>
        <p:txBody>
          <a:bodyPr/>
          <a:lstStyle/>
          <a:p>
            <a:r>
              <a:rPr lang="en-US" dirty="0"/>
              <a:t>Activity (15 mins)</a:t>
            </a:r>
          </a:p>
        </p:txBody>
      </p:sp>
      <p:sp>
        <p:nvSpPr>
          <p:cNvPr id="2" name="Content Placeholder 1">
            <a:extLst>
              <a:ext uri="{FF2B5EF4-FFF2-40B4-BE49-F238E27FC236}">
                <a16:creationId xmlns:a16="http://schemas.microsoft.com/office/drawing/2014/main" id="{9EDCE19C-812E-2DF0-63F9-155225F892A7}"/>
              </a:ext>
            </a:extLst>
          </p:cNvPr>
          <p:cNvSpPr>
            <a:spLocks noGrp="1"/>
          </p:cNvSpPr>
          <p:nvPr>
            <p:ph sz="half" idx="1"/>
          </p:nvPr>
        </p:nvSpPr>
        <p:spPr/>
        <p:txBody>
          <a:bodyPr>
            <a:normAutofit fontScale="70000" lnSpcReduction="20000"/>
          </a:bodyPr>
          <a:lstStyle/>
          <a:p>
            <a:r>
              <a:rPr lang="en-US" dirty="0"/>
              <a:t>Your team’s repository should have one unmerged branch, if not, create one now and publish the branch</a:t>
            </a:r>
          </a:p>
          <a:p>
            <a:r>
              <a:rPr lang="en-US" dirty="0"/>
              <a:t>Everyone: Log into GitHub</a:t>
            </a:r>
          </a:p>
          <a:p>
            <a:r>
              <a:rPr lang="en-US" dirty="0"/>
              <a:t>Branch owner: create a Pull Request</a:t>
            </a:r>
          </a:p>
          <a:p>
            <a:r>
              <a:rPr lang="en-US" dirty="0"/>
              <a:t>Team: Review the Pull Request</a:t>
            </a:r>
          </a:p>
          <a:p>
            <a:pPr lvl="1"/>
            <a:r>
              <a:rPr lang="en-US" dirty="0"/>
              <a:t>Look at the commits and files changed</a:t>
            </a:r>
          </a:p>
          <a:p>
            <a:pPr lvl="1"/>
            <a:r>
              <a:rPr lang="en-US" dirty="0"/>
              <a:t>Do the changes look okay? Comment if not</a:t>
            </a:r>
          </a:p>
          <a:p>
            <a:pPr lvl="1"/>
            <a:r>
              <a:rPr lang="en-US" dirty="0"/>
              <a:t>Are there any merge conflicts?</a:t>
            </a:r>
          </a:p>
          <a:p>
            <a:r>
              <a:rPr lang="en-US" dirty="0"/>
              <a:t>Branch owner: address any merge conflicts or comments</a:t>
            </a:r>
          </a:p>
          <a:p>
            <a:r>
              <a:rPr lang="en-US" dirty="0"/>
              <a:t>Team: comment when it looks good to merge</a:t>
            </a:r>
          </a:p>
          <a:p>
            <a:r>
              <a:rPr lang="en-US" dirty="0"/>
              <a:t>Once approved merge the pull request</a:t>
            </a:r>
          </a:p>
          <a:p>
            <a:endParaRPr lang="en-US" dirty="0"/>
          </a:p>
        </p:txBody>
      </p:sp>
      <p:sp>
        <p:nvSpPr>
          <p:cNvPr id="4" name="Content Placeholder 3">
            <a:extLst>
              <a:ext uri="{FF2B5EF4-FFF2-40B4-BE49-F238E27FC236}">
                <a16:creationId xmlns:a16="http://schemas.microsoft.com/office/drawing/2014/main" id="{3B96862A-619B-CEC9-ADE3-9F2356C27C7A}"/>
              </a:ext>
            </a:extLst>
          </p:cNvPr>
          <p:cNvSpPr>
            <a:spLocks noGrp="1"/>
          </p:cNvSpPr>
          <p:nvPr>
            <p:ph sz="half" idx="2"/>
          </p:nvPr>
        </p:nvSpPr>
        <p:spPr/>
        <p:txBody>
          <a:bodyPr>
            <a:normAutofit fontScale="70000" lnSpcReduction="20000"/>
          </a:bodyPr>
          <a:lstStyle/>
          <a:p>
            <a:r>
              <a:rPr lang="en-US" dirty="0"/>
              <a:t>In both this activity and the last one your branch was eventually merged into the main branch. How does this experience compare to the previous activity?</a:t>
            </a:r>
          </a:p>
          <a:p>
            <a:r>
              <a:rPr lang="en-US" dirty="0"/>
              <a:t>If you have extra time, the remaining team members can create their own Pull Requests with new branches.</a:t>
            </a:r>
          </a:p>
        </p:txBody>
      </p:sp>
    </p:spTree>
    <p:extLst>
      <p:ext uri="{BB962C8B-B14F-4D97-AF65-F5344CB8AC3E}">
        <p14:creationId xmlns:p14="http://schemas.microsoft.com/office/powerpoint/2010/main" val="142223424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166A2FB-4C2F-3A42-201E-72C938362A2E}"/>
              </a:ext>
            </a:extLst>
          </p:cNvPr>
          <p:cNvSpPr>
            <a:spLocks noGrp="1"/>
          </p:cNvSpPr>
          <p:nvPr>
            <p:ph sz="quarter" idx="10"/>
          </p:nvPr>
        </p:nvSpPr>
        <p:spPr>
          <a:xfrm>
            <a:off x="4003965" y="1293094"/>
            <a:ext cx="7547648" cy="4830616"/>
          </a:xfrm>
        </p:spPr>
        <p:txBody>
          <a:bodyPr/>
          <a:lstStyle/>
          <a:p>
            <a:pPr>
              <a:lnSpc>
                <a:spcPct val="200000"/>
              </a:lnSpc>
            </a:pPr>
            <a:r>
              <a:rPr lang="en-US" sz="2800" dirty="0"/>
              <a:t>Introduction</a:t>
            </a:r>
          </a:p>
          <a:p>
            <a:pPr>
              <a:lnSpc>
                <a:spcPct val="200000"/>
              </a:lnSpc>
            </a:pPr>
            <a:r>
              <a:rPr lang="en-US" sz="2800" dirty="0"/>
              <a:t>Branches</a:t>
            </a:r>
          </a:p>
          <a:p>
            <a:pPr>
              <a:lnSpc>
                <a:spcPct val="200000"/>
              </a:lnSpc>
            </a:pPr>
            <a:r>
              <a:rPr lang="en-US" sz="2800" dirty="0"/>
              <a:t>Pull Requests</a:t>
            </a:r>
          </a:p>
          <a:p>
            <a:pPr>
              <a:lnSpc>
                <a:spcPct val="200000"/>
              </a:lnSpc>
            </a:pPr>
            <a:r>
              <a:rPr lang="en-US" sz="2800" dirty="0"/>
              <a:t>Git Workflows</a:t>
            </a:r>
          </a:p>
        </p:txBody>
      </p:sp>
      <p:sp>
        <p:nvSpPr>
          <p:cNvPr id="3" name="Title 2">
            <a:extLst>
              <a:ext uri="{FF2B5EF4-FFF2-40B4-BE49-F238E27FC236}">
                <a16:creationId xmlns:a16="http://schemas.microsoft.com/office/drawing/2014/main" id="{EE6EF526-5DB0-C31B-47BD-9F25AF1D77E3}"/>
              </a:ext>
            </a:extLst>
          </p:cNvPr>
          <p:cNvSpPr>
            <a:spLocks noGrp="1"/>
          </p:cNvSpPr>
          <p:nvPr>
            <p:ph type="title"/>
          </p:nvPr>
        </p:nvSpPr>
        <p:spPr/>
        <p:txBody>
          <a:bodyPr/>
          <a:lstStyle/>
          <a:p>
            <a:r>
              <a:rPr lang="en-US" dirty="0"/>
              <a:t>Outline</a:t>
            </a:r>
          </a:p>
        </p:txBody>
      </p:sp>
      <p:sp>
        <p:nvSpPr>
          <p:cNvPr id="4" name="Right Arrow 3">
            <a:extLst>
              <a:ext uri="{FF2B5EF4-FFF2-40B4-BE49-F238E27FC236}">
                <a16:creationId xmlns:a16="http://schemas.microsoft.com/office/drawing/2014/main" id="{FD29B1BD-2257-4E5A-8784-356FCF9DB0FA}"/>
              </a:ext>
            </a:extLst>
          </p:cNvPr>
          <p:cNvSpPr/>
          <p:nvPr/>
        </p:nvSpPr>
        <p:spPr>
          <a:xfrm>
            <a:off x="2064327" y="4347015"/>
            <a:ext cx="1745672" cy="864679"/>
          </a:xfrm>
          <a:prstGeom prst="rightArrow">
            <a:avLst/>
          </a:prstGeom>
          <a:solidFill>
            <a:srgbClr val="D2DCF2"/>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dirty="0">
              <a:solidFill>
                <a:schemeClr val="tx1"/>
              </a:solidFill>
            </a:endParaRPr>
          </a:p>
        </p:txBody>
      </p:sp>
    </p:spTree>
    <p:extLst>
      <p:ext uri="{BB962C8B-B14F-4D97-AF65-F5344CB8AC3E}">
        <p14:creationId xmlns:p14="http://schemas.microsoft.com/office/powerpoint/2010/main" val="20018207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435B052-E187-F1BC-BE18-5169BF0BF9E8}"/>
              </a:ext>
            </a:extLst>
          </p:cNvPr>
          <p:cNvSpPr>
            <a:spLocks noGrp="1"/>
          </p:cNvSpPr>
          <p:nvPr>
            <p:ph type="title"/>
          </p:nvPr>
        </p:nvSpPr>
        <p:spPr/>
        <p:txBody>
          <a:bodyPr/>
          <a:lstStyle/>
          <a:p>
            <a:r>
              <a:rPr lang="en-US" dirty="0"/>
              <a:t>Git Workflows</a:t>
            </a:r>
          </a:p>
        </p:txBody>
      </p:sp>
      <p:sp>
        <p:nvSpPr>
          <p:cNvPr id="2" name="Content Placeholder 1">
            <a:extLst>
              <a:ext uri="{FF2B5EF4-FFF2-40B4-BE49-F238E27FC236}">
                <a16:creationId xmlns:a16="http://schemas.microsoft.com/office/drawing/2014/main" id="{548FB1B8-4629-2D8B-99AD-7D2976C2DC22}"/>
              </a:ext>
            </a:extLst>
          </p:cNvPr>
          <p:cNvSpPr>
            <a:spLocks noGrp="1"/>
          </p:cNvSpPr>
          <p:nvPr>
            <p:ph idx="1"/>
          </p:nvPr>
        </p:nvSpPr>
        <p:spPr/>
        <p:txBody>
          <a:bodyPr>
            <a:normAutofit fontScale="85000" lnSpcReduction="20000"/>
          </a:bodyPr>
          <a:lstStyle/>
          <a:p>
            <a:r>
              <a:rPr lang="en-US" dirty="0"/>
              <a:t>A process for how your team is going to work with a repository, including</a:t>
            </a:r>
          </a:p>
          <a:p>
            <a:pPr lvl="1"/>
            <a:r>
              <a:rPr lang="en-US" dirty="0"/>
              <a:t>How you are going to use branches (branching strategy)</a:t>
            </a:r>
          </a:p>
          <a:p>
            <a:pPr lvl="2"/>
            <a:r>
              <a:rPr lang="en-US" dirty="0"/>
              <a:t>Feature branches, ”lifetime” branches (production, development, release branches)</a:t>
            </a:r>
          </a:p>
          <a:p>
            <a:pPr lvl="2"/>
            <a:r>
              <a:rPr lang="en-US" dirty="0"/>
              <a:t>What is considered the "latest version", or what is "production" vs "in development"</a:t>
            </a:r>
          </a:p>
          <a:p>
            <a:pPr lvl="2"/>
            <a:r>
              <a:rPr lang="en-US" dirty="0"/>
              <a:t>How branches are merged</a:t>
            </a:r>
          </a:p>
          <a:p>
            <a:pPr lvl="1"/>
            <a:r>
              <a:rPr lang="en-US" dirty="0"/>
              <a:t>When you are making pull requests and into what</a:t>
            </a:r>
          </a:p>
          <a:p>
            <a:pPr lvl="1"/>
            <a:r>
              <a:rPr lang="en-US" dirty="0"/>
              <a:t>Testing</a:t>
            </a:r>
          </a:p>
          <a:p>
            <a:pPr lvl="1"/>
            <a:r>
              <a:rPr lang="en-US" dirty="0"/>
              <a:t>Whether you are working in a single, central repository, or separate forked repositories</a:t>
            </a:r>
          </a:p>
          <a:p>
            <a:r>
              <a:rPr lang="en-US" dirty="0"/>
              <a:t>Help everyone stay on the same page about the state of the code</a:t>
            </a:r>
          </a:p>
          <a:p>
            <a:r>
              <a:rPr lang="en-US" dirty="0"/>
              <a:t>Enable communication</a:t>
            </a:r>
          </a:p>
          <a:p>
            <a:r>
              <a:rPr lang="en-US" dirty="0"/>
              <a:t>Tell us</a:t>
            </a:r>
          </a:p>
          <a:p>
            <a:pPr lvl="1"/>
            <a:r>
              <a:rPr lang="en-US" i="0" dirty="0">
                <a:solidFill>
                  <a:srgbClr val="202124"/>
                </a:solidFill>
                <a:effectLst/>
                <a:latin typeface="+mn-lt"/>
              </a:rPr>
              <a:t>What branches are protected</a:t>
            </a:r>
          </a:p>
          <a:p>
            <a:pPr lvl="1"/>
            <a:r>
              <a:rPr lang="en-US" dirty="0">
                <a:solidFill>
                  <a:srgbClr val="202124"/>
                </a:solidFill>
                <a:latin typeface="+mn-lt"/>
              </a:rPr>
              <a:t>What is tested and when</a:t>
            </a:r>
          </a:p>
          <a:p>
            <a:pPr lvl="1"/>
            <a:r>
              <a:rPr lang="en-US" i="0" dirty="0">
                <a:solidFill>
                  <a:srgbClr val="202124"/>
                </a:solidFill>
                <a:effectLst/>
                <a:latin typeface="+mn-lt"/>
              </a:rPr>
              <a:t>What branches are st</a:t>
            </a:r>
            <a:r>
              <a:rPr lang="en-US" dirty="0">
                <a:solidFill>
                  <a:srgbClr val="202124"/>
                </a:solidFill>
                <a:latin typeface="+mn-lt"/>
              </a:rPr>
              <a:t>able</a:t>
            </a:r>
          </a:p>
          <a:p>
            <a:pPr lvl="1"/>
            <a:endParaRPr lang="en-US" dirty="0"/>
          </a:p>
          <a:p>
            <a:pPr lvl="1"/>
            <a:endParaRPr lang="en-US" dirty="0"/>
          </a:p>
          <a:p>
            <a:pPr lvl="1"/>
            <a:endParaRPr lang="en-US" dirty="0"/>
          </a:p>
        </p:txBody>
      </p:sp>
    </p:spTree>
    <p:extLst>
      <p:ext uri="{BB962C8B-B14F-4D97-AF65-F5344CB8AC3E}">
        <p14:creationId xmlns:p14="http://schemas.microsoft.com/office/powerpoint/2010/main" val="269513390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34CC526-3C6B-2788-F9C9-5094DEBBD692}"/>
              </a:ext>
            </a:extLst>
          </p:cNvPr>
          <p:cNvSpPr>
            <a:spLocks noGrp="1"/>
          </p:cNvSpPr>
          <p:nvPr>
            <p:ph type="title"/>
          </p:nvPr>
        </p:nvSpPr>
        <p:spPr/>
        <p:txBody>
          <a:bodyPr>
            <a:normAutofit/>
          </a:bodyPr>
          <a:lstStyle/>
          <a:p>
            <a:r>
              <a:rPr lang="en-US" dirty="0"/>
              <a:t>Centralized or Trunk-Based Workflow</a:t>
            </a:r>
          </a:p>
        </p:txBody>
      </p:sp>
      <p:sp>
        <p:nvSpPr>
          <p:cNvPr id="2" name="Content Placeholder 1">
            <a:extLst>
              <a:ext uri="{FF2B5EF4-FFF2-40B4-BE49-F238E27FC236}">
                <a16:creationId xmlns:a16="http://schemas.microsoft.com/office/drawing/2014/main" id="{FE9B0C2D-93AE-77BA-4E41-E8DD5FD211C6}"/>
              </a:ext>
            </a:extLst>
          </p:cNvPr>
          <p:cNvSpPr>
            <a:spLocks noGrp="1"/>
          </p:cNvSpPr>
          <p:nvPr>
            <p:ph idx="1"/>
          </p:nvPr>
        </p:nvSpPr>
        <p:spPr>
          <a:xfrm>
            <a:off x="838200" y="1825625"/>
            <a:ext cx="6338071" cy="4351338"/>
          </a:xfrm>
        </p:spPr>
        <p:txBody>
          <a:bodyPr/>
          <a:lstStyle/>
          <a:p>
            <a:r>
              <a:rPr lang="en-US" dirty="0"/>
              <a:t>Central repository with one main branch</a:t>
            </a:r>
          </a:p>
          <a:p>
            <a:r>
              <a:rPr lang="en-US" dirty="0"/>
              <a:t>Developers work in their local clone and push less frequently</a:t>
            </a:r>
          </a:p>
          <a:p>
            <a:r>
              <a:rPr lang="en-US" dirty="0"/>
              <a:t>Central repository meant to be stable</a:t>
            </a:r>
          </a:p>
          <a:p>
            <a:r>
              <a:rPr lang="en-US" dirty="0"/>
              <a:t>Resolve conflicts locally before pushing</a:t>
            </a:r>
          </a:p>
          <a:p>
            <a:r>
              <a:rPr lang="en-US" dirty="0"/>
              <a:t>Not the best for collaborative development</a:t>
            </a:r>
          </a:p>
        </p:txBody>
      </p:sp>
      <p:grpSp>
        <p:nvGrpSpPr>
          <p:cNvPr id="6" name="Group 5">
            <a:extLst>
              <a:ext uri="{FF2B5EF4-FFF2-40B4-BE49-F238E27FC236}">
                <a16:creationId xmlns:a16="http://schemas.microsoft.com/office/drawing/2014/main" id="{86EB9C7E-548A-4A9B-AA12-BABE195A81C6}"/>
              </a:ext>
            </a:extLst>
          </p:cNvPr>
          <p:cNvGrpSpPr/>
          <p:nvPr/>
        </p:nvGrpSpPr>
        <p:grpSpPr>
          <a:xfrm>
            <a:off x="7247467" y="1820333"/>
            <a:ext cx="4579498" cy="3498217"/>
            <a:chOff x="7247467" y="1820333"/>
            <a:chExt cx="4579498" cy="3498217"/>
          </a:xfrm>
        </p:grpSpPr>
        <p:sp>
          <p:nvSpPr>
            <p:cNvPr id="4" name="Oval 3">
              <a:extLst>
                <a:ext uri="{FF2B5EF4-FFF2-40B4-BE49-F238E27FC236}">
                  <a16:creationId xmlns:a16="http://schemas.microsoft.com/office/drawing/2014/main" id="{A0669506-081A-6CCB-1B7A-05F2C61AC969}"/>
                </a:ext>
              </a:extLst>
            </p:cNvPr>
            <p:cNvSpPr/>
            <p:nvPr/>
          </p:nvSpPr>
          <p:spPr>
            <a:xfrm>
              <a:off x="8722146" y="1820333"/>
              <a:ext cx="1608667" cy="1608667"/>
            </a:xfrm>
            <a:prstGeom prst="ellipse">
              <a:avLst/>
            </a:prstGeom>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rPr>
                <a:t>Central Repository</a:t>
              </a:r>
            </a:p>
          </p:txBody>
        </p:sp>
        <p:sp>
          <p:nvSpPr>
            <p:cNvPr id="5" name="Rectangle 4">
              <a:extLst>
                <a:ext uri="{FF2B5EF4-FFF2-40B4-BE49-F238E27FC236}">
                  <a16:creationId xmlns:a16="http://schemas.microsoft.com/office/drawing/2014/main" id="{07B49CF0-6FEF-62DD-40B4-89D4A0746C8D}"/>
                </a:ext>
              </a:extLst>
            </p:cNvPr>
            <p:cNvSpPr/>
            <p:nvPr/>
          </p:nvSpPr>
          <p:spPr>
            <a:xfrm>
              <a:off x="7247467" y="3945467"/>
              <a:ext cx="863600" cy="575733"/>
            </a:xfrm>
            <a:prstGeom prst="rect">
              <a:avLst/>
            </a:prstGeom>
            <a:ln/>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sz="1400" b="1" dirty="0">
                  <a:solidFill>
                    <a:schemeClr val="bg1"/>
                  </a:solidFill>
                </a:rPr>
                <a:t>Local</a:t>
              </a:r>
              <a:br>
                <a:rPr lang="en-US" sz="1400" b="1" dirty="0">
                  <a:solidFill>
                    <a:schemeClr val="bg1"/>
                  </a:solidFill>
                </a:rPr>
              </a:br>
              <a:r>
                <a:rPr lang="en-US" sz="1400" b="1" dirty="0">
                  <a:solidFill>
                    <a:schemeClr val="bg1"/>
                  </a:solidFill>
                </a:rPr>
                <a:t>Clone</a:t>
              </a:r>
            </a:p>
          </p:txBody>
        </p:sp>
        <p:sp>
          <p:nvSpPr>
            <p:cNvPr id="7" name="Rectangle 6">
              <a:extLst>
                <a:ext uri="{FF2B5EF4-FFF2-40B4-BE49-F238E27FC236}">
                  <a16:creationId xmlns:a16="http://schemas.microsoft.com/office/drawing/2014/main" id="{6FE74563-3320-87AB-6D14-F5BE9E76D0E8}"/>
                </a:ext>
              </a:extLst>
            </p:cNvPr>
            <p:cNvSpPr/>
            <p:nvPr/>
          </p:nvSpPr>
          <p:spPr>
            <a:xfrm>
              <a:off x="8466666" y="4521200"/>
              <a:ext cx="863600" cy="575733"/>
            </a:xfrm>
            <a:prstGeom prst="rect">
              <a:avLst/>
            </a:prstGeom>
            <a:ln/>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sz="1400" b="1" dirty="0">
                  <a:solidFill>
                    <a:schemeClr val="bg1"/>
                  </a:solidFill>
                </a:rPr>
                <a:t>Local</a:t>
              </a:r>
              <a:br>
                <a:rPr lang="en-US" sz="1400" b="1" dirty="0">
                  <a:solidFill>
                    <a:schemeClr val="bg1"/>
                  </a:solidFill>
                </a:rPr>
              </a:br>
              <a:r>
                <a:rPr lang="en-US" sz="1400" b="1" dirty="0">
                  <a:solidFill>
                    <a:schemeClr val="bg1"/>
                  </a:solidFill>
                </a:rPr>
                <a:t>Clone</a:t>
              </a:r>
            </a:p>
          </p:txBody>
        </p:sp>
        <p:sp>
          <p:nvSpPr>
            <p:cNvPr id="8" name="Rectangle 7">
              <a:extLst>
                <a:ext uri="{FF2B5EF4-FFF2-40B4-BE49-F238E27FC236}">
                  <a16:creationId xmlns:a16="http://schemas.microsoft.com/office/drawing/2014/main" id="{980946DB-224A-6528-9C91-3F800BB19496}"/>
                </a:ext>
              </a:extLst>
            </p:cNvPr>
            <p:cNvSpPr/>
            <p:nvPr/>
          </p:nvSpPr>
          <p:spPr>
            <a:xfrm>
              <a:off x="10963365" y="3945466"/>
              <a:ext cx="863600" cy="575733"/>
            </a:xfrm>
            <a:prstGeom prst="rect">
              <a:avLst/>
            </a:prstGeom>
            <a:ln/>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sz="1400" b="1" dirty="0">
                  <a:solidFill>
                    <a:schemeClr val="bg1"/>
                  </a:solidFill>
                </a:rPr>
                <a:t>Local</a:t>
              </a:r>
              <a:br>
                <a:rPr lang="en-US" sz="1400" b="1" dirty="0">
                  <a:solidFill>
                    <a:schemeClr val="bg1"/>
                  </a:solidFill>
                </a:rPr>
              </a:br>
              <a:r>
                <a:rPr lang="en-US" sz="1400" b="1" dirty="0">
                  <a:solidFill>
                    <a:schemeClr val="bg1"/>
                  </a:solidFill>
                </a:rPr>
                <a:t>Clone</a:t>
              </a:r>
            </a:p>
          </p:txBody>
        </p:sp>
        <p:sp>
          <p:nvSpPr>
            <p:cNvPr id="9" name="Rectangle 8">
              <a:extLst>
                <a:ext uri="{FF2B5EF4-FFF2-40B4-BE49-F238E27FC236}">
                  <a16:creationId xmlns:a16="http://schemas.microsoft.com/office/drawing/2014/main" id="{FDB44420-5DA8-EC0E-65A6-C3EBDD629A22}"/>
                </a:ext>
              </a:extLst>
            </p:cNvPr>
            <p:cNvSpPr/>
            <p:nvPr/>
          </p:nvSpPr>
          <p:spPr>
            <a:xfrm>
              <a:off x="9744165" y="4521200"/>
              <a:ext cx="863600" cy="575733"/>
            </a:xfrm>
            <a:prstGeom prst="rect">
              <a:avLst/>
            </a:prstGeom>
            <a:ln/>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sz="1400" b="1" dirty="0">
                  <a:solidFill>
                    <a:schemeClr val="bg1"/>
                  </a:solidFill>
                </a:rPr>
                <a:t>Local</a:t>
              </a:r>
              <a:br>
                <a:rPr lang="en-US" sz="1400" b="1" dirty="0">
                  <a:solidFill>
                    <a:schemeClr val="bg1"/>
                  </a:solidFill>
                </a:rPr>
              </a:br>
              <a:r>
                <a:rPr lang="en-US" sz="1400" b="1" dirty="0">
                  <a:solidFill>
                    <a:schemeClr val="bg1"/>
                  </a:solidFill>
                </a:rPr>
                <a:t>Clone</a:t>
              </a:r>
            </a:p>
          </p:txBody>
        </p:sp>
        <p:cxnSp>
          <p:nvCxnSpPr>
            <p:cNvPr id="11" name="Straight Arrow Connector 10">
              <a:extLst>
                <a:ext uri="{FF2B5EF4-FFF2-40B4-BE49-F238E27FC236}">
                  <a16:creationId xmlns:a16="http://schemas.microsoft.com/office/drawing/2014/main" id="{1A23027A-23BE-FAAD-B7C3-F8E8EB6D7E53}"/>
                </a:ext>
              </a:extLst>
            </p:cNvPr>
            <p:cNvCxnSpPr>
              <a:stCxn id="5" idx="0"/>
              <a:endCxn id="4" idx="2"/>
            </p:cNvCxnSpPr>
            <p:nvPr/>
          </p:nvCxnSpPr>
          <p:spPr>
            <a:xfrm flipV="1">
              <a:off x="7679267" y="2624667"/>
              <a:ext cx="1042879" cy="1320800"/>
            </a:xfrm>
            <a:prstGeom prst="straightConnector1">
              <a:avLst/>
            </a:prstGeom>
            <a:ln w="3810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705942A1-F541-BD8E-1FAA-0D9753954561}"/>
                </a:ext>
              </a:extLst>
            </p:cNvPr>
            <p:cNvCxnSpPr>
              <a:cxnSpLocks/>
              <a:stCxn id="7" idx="0"/>
              <a:endCxn id="4" idx="3"/>
            </p:cNvCxnSpPr>
            <p:nvPr/>
          </p:nvCxnSpPr>
          <p:spPr>
            <a:xfrm flipV="1">
              <a:off x="8898466" y="3193416"/>
              <a:ext cx="59264" cy="1327784"/>
            </a:xfrm>
            <a:prstGeom prst="straightConnector1">
              <a:avLst/>
            </a:prstGeom>
            <a:ln w="3810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0D87A1BC-BC1D-55A7-BAA2-8BB7F13408CC}"/>
                </a:ext>
              </a:extLst>
            </p:cNvPr>
            <p:cNvCxnSpPr>
              <a:cxnSpLocks/>
              <a:stCxn id="9" idx="0"/>
              <a:endCxn id="4" idx="5"/>
            </p:cNvCxnSpPr>
            <p:nvPr/>
          </p:nvCxnSpPr>
          <p:spPr>
            <a:xfrm flipH="1" flipV="1">
              <a:off x="10095229" y="3193416"/>
              <a:ext cx="80736" cy="1327784"/>
            </a:xfrm>
            <a:prstGeom prst="straightConnector1">
              <a:avLst/>
            </a:prstGeom>
            <a:ln w="3810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330F9035-55AB-2F7D-BBA2-F43CC03FB517}"/>
                </a:ext>
              </a:extLst>
            </p:cNvPr>
            <p:cNvCxnSpPr>
              <a:cxnSpLocks/>
              <a:stCxn id="8" idx="0"/>
              <a:endCxn id="4" idx="6"/>
            </p:cNvCxnSpPr>
            <p:nvPr/>
          </p:nvCxnSpPr>
          <p:spPr>
            <a:xfrm flipH="1" flipV="1">
              <a:off x="10330813" y="2624667"/>
              <a:ext cx="1064352" cy="1320799"/>
            </a:xfrm>
            <a:prstGeom prst="straightConnector1">
              <a:avLst/>
            </a:prstGeom>
            <a:ln w="3810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grpSp>
          <p:nvGrpSpPr>
            <p:cNvPr id="37" name="Group 36">
              <a:extLst>
                <a:ext uri="{FF2B5EF4-FFF2-40B4-BE49-F238E27FC236}">
                  <a16:creationId xmlns:a16="http://schemas.microsoft.com/office/drawing/2014/main" id="{41DAEE12-2392-8E3D-30F6-56BE3030E59F}"/>
                </a:ext>
              </a:extLst>
            </p:cNvPr>
            <p:cNvGrpSpPr/>
            <p:nvPr/>
          </p:nvGrpSpPr>
          <p:grpSpPr>
            <a:xfrm>
              <a:off x="7331119" y="4626734"/>
              <a:ext cx="721648" cy="100800"/>
              <a:chOff x="4312800" y="5096933"/>
              <a:chExt cx="721648" cy="100800"/>
            </a:xfrm>
          </p:grpSpPr>
          <p:sp>
            <p:nvSpPr>
              <p:cNvPr id="25" name="Oval 24">
                <a:extLst>
                  <a:ext uri="{FF2B5EF4-FFF2-40B4-BE49-F238E27FC236}">
                    <a16:creationId xmlns:a16="http://schemas.microsoft.com/office/drawing/2014/main" id="{B25D111E-A7C1-2902-FF0A-45D2B2E8A829}"/>
                  </a:ext>
                </a:extLst>
              </p:cNvPr>
              <p:cNvSpPr/>
              <p:nvPr/>
            </p:nvSpPr>
            <p:spPr>
              <a:xfrm>
                <a:off x="4312800" y="5096933"/>
                <a:ext cx="100800" cy="100800"/>
              </a:xfrm>
              <a:prstGeom prst="ellipse">
                <a:avLst/>
              </a:prstGeom>
              <a:solidFill>
                <a:srgbClr val="D2DCF2"/>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dirty="0">
                  <a:solidFill>
                    <a:schemeClr val="tx1"/>
                  </a:solidFill>
                </a:endParaRPr>
              </a:p>
            </p:txBody>
          </p:sp>
          <p:sp>
            <p:nvSpPr>
              <p:cNvPr id="26" name="Oval 25">
                <a:extLst>
                  <a:ext uri="{FF2B5EF4-FFF2-40B4-BE49-F238E27FC236}">
                    <a16:creationId xmlns:a16="http://schemas.microsoft.com/office/drawing/2014/main" id="{F88DBA96-F829-3A99-A7DB-248D19DCD649}"/>
                  </a:ext>
                </a:extLst>
              </p:cNvPr>
              <p:cNvSpPr/>
              <p:nvPr/>
            </p:nvSpPr>
            <p:spPr>
              <a:xfrm>
                <a:off x="4519749" y="5096933"/>
                <a:ext cx="100800" cy="100800"/>
              </a:xfrm>
              <a:prstGeom prst="ellipse">
                <a:avLst/>
              </a:prstGeom>
              <a:solidFill>
                <a:srgbClr val="D2DCF2"/>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dirty="0">
                  <a:solidFill>
                    <a:schemeClr val="tx1"/>
                  </a:solidFill>
                </a:endParaRPr>
              </a:p>
            </p:txBody>
          </p:sp>
          <p:sp>
            <p:nvSpPr>
              <p:cNvPr id="27" name="Oval 26">
                <a:extLst>
                  <a:ext uri="{FF2B5EF4-FFF2-40B4-BE49-F238E27FC236}">
                    <a16:creationId xmlns:a16="http://schemas.microsoft.com/office/drawing/2014/main" id="{D65B859C-2454-4CAA-6D8B-3C87162C6DAD}"/>
                  </a:ext>
                </a:extLst>
              </p:cNvPr>
              <p:cNvSpPr/>
              <p:nvPr/>
            </p:nvSpPr>
            <p:spPr>
              <a:xfrm>
                <a:off x="4726699" y="5096933"/>
                <a:ext cx="100800" cy="100800"/>
              </a:xfrm>
              <a:prstGeom prst="ellipse">
                <a:avLst/>
              </a:prstGeom>
              <a:solidFill>
                <a:srgbClr val="D2DCF2"/>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dirty="0">
                  <a:solidFill>
                    <a:schemeClr val="tx1"/>
                  </a:solidFill>
                </a:endParaRPr>
              </a:p>
            </p:txBody>
          </p:sp>
          <p:cxnSp>
            <p:nvCxnSpPr>
              <p:cNvPr id="29" name="Straight Arrow Connector 28">
                <a:extLst>
                  <a:ext uri="{FF2B5EF4-FFF2-40B4-BE49-F238E27FC236}">
                    <a16:creationId xmlns:a16="http://schemas.microsoft.com/office/drawing/2014/main" id="{AE719BF9-F913-746D-E7C4-741A45B33C12}"/>
                  </a:ext>
                </a:extLst>
              </p:cNvPr>
              <p:cNvCxnSpPr>
                <a:stCxn id="25" idx="6"/>
                <a:endCxn id="26" idx="2"/>
              </p:cNvCxnSpPr>
              <p:nvPr/>
            </p:nvCxnSpPr>
            <p:spPr>
              <a:xfrm>
                <a:off x="4413600" y="5147333"/>
                <a:ext cx="106149"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54C87A50-ED09-BED0-7EC8-A99ECFB52C15}"/>
                  </a:ext>
                </a:extLst>
              </p:cNvPr>
              <p:cNvCxnSpPr>
                <a:cxnSpLocks/>
                <a:stCxn id="26" idx="6"/>
                <a:endCxn id="27" idx="2"/>
              </p:cNvCxnSpPr>
              <p:nvPr/>
            </p:nvCxnSpPr>
            <p:spPr>
              <a:xfrm>
                <a:off x="4620549" y="5147333"/>
                <a:ext cx="106150"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3" name="Oval 32">
                <a:extLst>
                  <a:ext uri="{FF2B5EF4-FFF2-40B4-BE49-F238E27FC236}">
                    <a16:creationId xmlns:a16="http://schemas.microsoft.com/office/drawing/2014/main" id="{C4655CDC-2B85-7D33-0590-B45D5ACA9770}"/>
                  </a:ext>
                </a:extLst>
              </p:cNvPr>
              <p:cNvSpPr/>
              <p:nvPr/>
            </p:nvSpPr>
            <p:spPr>
              <a:xfrm>
                <a:off x="4933648" y="5096933"/>
                <a:ext cx="100800" cy="100800"/>
              </a:xfrm>
              <a:prstGeom prst="ellipse">
                <a:avLst/>
              </a:prstGeom>
              <a:solidFill>
                <a:srgbClr val="D2DCF2"/>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dirty="0">
                  <a:solidFill>
                    <a:schemeClr val="tx1"/>
                  </a:solidFill>
                </a:endParaRPr>
              </a:p>
            </p:txBody>
          </p:sp>
          <p:cxnSp>
            <p:nvCxnSpPr>
              <p:cNvPr id="34" name="Straight Arrow Connector 33">
                <a:extLst>
                  <a:ext uri="{FF2B5EF4-FFF2-40B4-BE49-F238E27FC236}">
                    <a16:creationId xmlns:a16="http://schemas.microsoft.com/office/drawing/2014/main" id="{CEA562C7-04F5-E2EC-F58B-F3094E6F7B59}"/>
                  </a:ext>
                </a:extLst>
              </p:cNvPr>
              <p:cNvCxnSpPr>
                <a:cxnSpLocks/>
                <a:stCxn id="27" idx="6"/>
                <a:endCxn id="33" idx="2"/>
              </p:cNvCxnSpPr>
              <p:nvPr/>
            </p:nvCxnSpPr>
            <p:spPr>
              <a:xfrm>
                <a:off x="4827499" y="5147333"/>
                <a:ext cx="106149"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38" name="Group 37">
              <a:extLst>
                <a:ext uri="{FF2B5EF4-FFF2-40B4-BE49-F238E27FC236}">
                  <a16:creationId xmlns:a16="http://schemas.microsoft.com/office/drawing/2014/main" id="{79FF3934-FE1A-35B6-7414-323CDA6384A5}"/>
                </a:ext>
              </a:extLst>
            </p:cNvPr>
            <p:cNvGrpSpPr/>
            <p:nvPr/>
          </p:nvGrpSpPr>
          <p:grpSpPr>
            <a:xfrm>
              <a:off x="9161638" y="2924169"/>
              <a:ext cx="721648" cy="100800"/>
              <a:chOff x="4312800" y="5096933"/>
              <a:chExt cx="721648" cy="100800"/>
            </a:xfrm>
          </p:grpSpPr>
          <p:sp>
            <p:nvSpPr>
              <p:cNvPr id="39" name="Oval 38">
                <a:extLst>
                  <a:ext uri="{FF2B5EF4-FFF2-40B4-BE49-F238E27FC236}">
                    <a16:creationId xmlns:a16="http://schemas.microsoft.com/office/drawing/2014/main" id="{F3DC8029-D999-B345-D236-7AE65DA05365}"/>
                  </a:ext>
                </a:extLst>
              </p:cNvPr>
              <p:cNvSpPr/>
              <p:nvPr/>
            </p:nvSpPr>
            <p:spPr>
              <a:xfrm>
                <a:off x="4312800" y="5096933"/>
                <a:ext cx="100800" cy="100800"/>
              </a:xfrm>
              <a:prstGeom prst="ellipse">
                <a:avLst/>
              </a:prstGeom>
              <a:solidFill>
                <a:srgbClr val="D2DCF2"/>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dirty="0">
                  <a:solidFill>
                    <a:schemeClr val="tx1"/>
                  </a:solidFill>
                </a:endParaRPr>
              </a:p>
            </p:txBody>
          </p:sp>
          <p:sp>
            <p:nvSpPr>
              <p:cNvPr id="40" name="Oval 39">
                <a:extLst>
                  <a:ext uri="{FF2B5EF4-FFF2-40B4-BE49-F238E27FC236}">
                    <a16:creationId xmlns:a16="http://schemas.microsoft.com/office/drawing/2014/main" id="{47523B44-D9A1-63F7-E3A5-5578DCC1BAF1}"/>
                  </a:ext>
                </a:extLst>
              </p:cNvPr>
              <p:cNvSpPr/>
              <p:nvPr/>
            </p:nvSpPr>
            <p:spPr>
              <a:xfrm>
                <a:off x="4519749" y="5096933"/>
                <a:ext cx="100800" cy="100800"/>
              </a:xfrm>
              <a:prstGeom prst="ellipse">
                <a:avLst/>
              </a:prstGeom>
              <a:solidFill>
                <a:srgbClr val="D2DCF2"/>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dirty="0">
                  <a:solidFill>
                    <a:schemeClr val="tx1"/>
                  </a:solidFill>
                </a:endParaRPr>
              </a:p>
            </p:txBody>
          </p:sp>
          <p:sp>
            <p:nvSpPr>
              <p:cNvPr id="41" name="Oval 40">
                <a:extLst>
                  <a:ext uri="{FF2B5EF4-FFF2-40B4-BE49-F238E27FC236}">
                    <a16:creationId xmlns:a16="http://schemas.microsoft.com/office/drawing/2014/main" id="{6158AD7A-B809-1304-DEA4-8262085DC4E1}"/>
                  </a:ext>
                </a:extLst>
              </p:cNvPr>
              <p:cNvSpPr/>
              <p:nvPr/>
            </p:nvSpPr>
            <p:spPr>
              <a:xfrm>
                <a:off x="4726699" y="5096933"/>
                <a:ext cx="100800" cy="100800"/>
              </a:xfrm>
              <a:prstGeom prst="ellipse">
                <a:avLst/>
              </a:prstGeom>
              <a:solidFill>
                <a:srgbClr val="D2DCF2"/>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dirty="0">
                  <a:solidFill>
                    <a:schemeClr val="tx1"/>
                  </a:solidFill>
                </a:endParaRPr>
              </a:p>
            </p:txBody>
          </p:sp>
          <p:cxnSp>
            <p:nvCxnSpPr>
              <p:cNvPr id="42" name="Straight Arrow Connector 41">
                <a:extLst>
                  <a:ext uri="{FF2B5EF4-FFF2-40B4-BE49-F238E27FC236}">
                    <a16:creationId xmlns:a16="http://schemas.microsoft.com/office/drawing/2014/main" id="{A15AD539-8BED-C13C-8BE4-384D3453BD5F}"/>
                  </a:ext>
                </a:extLst>
              </p:cNvPr>
              <p:cNvCxnSpPr>
                <a:stCxn id="39" idx="6"/>
                <a:endCxn id="40" idx="2"/>
              </p:cNvCxnSpPr>
              <p:nvPr/>
            </p:nvCxnSpPr>
            <p:spPr>
              <a:xfrm>
                <a:off x="4413600" y="5147333"/>
                <a:ext cx="106149"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a:extLst>
                  <a:ext uri="{FF2B5EF4-FFF2-40B4-BE49-F238E27FC236}">
                    <a16:creationId xmlns:a16="http://schemas.microsoft.com/office/drawing/2014/main" id="{161DAF7B-C790-9613-A6E8-20AC6B85C4D8}"/>
                  </a:ext>
                </a:extLst>
              </p:cNvPr>
              <p:cNvCxnSpPr>
                <a:cxnSpLocks/>
                <a:stCxn id="40" idx="6"/>
                <a:endCxn id="41" idx="2"/>
              </p:cNvCxnSpPr>
              <p:nvPr/>
            </p:nvCxnSpPr>
            <p:spPr>
              <a:xfrm>
                <a:off x="4620549" y="5147333"/>
                <a:ext cx="106150"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4" name="Oval 43">
                <a:extLst>
                  <a:ext uri="{FF2B5EF4-FFF2-40B4-BE49-F238E27FC236}">
                    <a16:creationId xmlns:a16="http://schemas.microsoft.com/office/drawing/2014/main" id="{B26399DB-5D21-2702-4557-97C082DED5B2}"/>
                  </a:ext>
                </a:extLst>
              </p:cNvPr>
              <p:cNvSpPr/>
              <p:nvPr/>
            </p:nvSpPr>
            <p:spPr>
              <a:xfrm>
                <a:off x="4933648" y="5096933"/>
                <a:ext cx="100800" cy="100800"/>
              </a:xfrm>
              <a:prstGeom prst="ellipse">
                <a:avLst/>
              </a:prstGeom>
              <a:solidFill>
                <a:srgbClr val="D2DCF2"/>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dirty="0">
                  <a:solidFill>
                    <a:schemeClr val="tx1"/>
                  </a:solidFill>
                </a:endParaRPr>
              </a:p>
            </p:txBody>
          </p:sp>
          <p:cxnSp>
            <p:nvCxnSpPr>
              <p:cNvPr id="45" name="Straight Arrow Connector 44">
                <a:extLst>
                  <a:ext uri="{FF2B5EF4-FFF2-40B4-BE49-F238E27FC236}">
                    <a16:creationId xmlns:a16="http://schemas.microsoft.com/office/drawing/2014/main" id="{F84BB779-9FC7-A5A8-3919-889CA6622636}"/>
                  </a:ext>
                </a:extLst>
              </p:cNvPr>
              <p:cNvCxnSpPr>
                <a:cxnSpLocks/>
                <a:stCxn id="41" idx="6"/>
                <a:endCxn id="44" idx="2"/>
              </p:cNvCxnSpPr>
              <p:nvPr/>
            </p:nvCxnSpPr>
            <p:spPr>
              <a:xfrm>
                <a:off x="4827499" y="5147333"/>
                <a:ext cx="106149"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46" name="Group 45">
              <a:extLst>
                <a:ext uri="{FF2B5EF4-FFF2-40B4-BE49-F238E27FC236}">
                  <a16:creationId xmlns:a16="http://schemas.microsoft.com/office/drawing/2014/main" id="{03EB70E6-2190-4E83-74E1-C7078A952B48}"/>
                </a:ext>
              </a:extLst>
            </p:cNvPr>
            <p:cNvGrpSpPr/>
            <p:nvPr/>
          </p:nvGrpSpPr>
          <p:grpSpPr>
            <a:xfrm>
              <a:off x="8561408" y="5217750"/>
              <a:ext cx="721648" cy="100800"/>
              <a:chOff x="4312800" y="5096933"/>
              <a:chExt cx="721648" cy="100800"/>
            </a:xfrm>
          </p:grpSpPr>
          <p:sp>
            <p:nvSpPr>
              <p:cNvPr id="47" name="Oval 46">
                <a:extLst>
                  <a:ext uri="{FF2B5EF4-FFF2-40B4-BE49-F238E27FC236}">
                    <a16:creationId xmlns:a16="http://schemas.microsoft.com/office/drawing/2014/main" id="{A4D63EDF-202F-A708-FFB7-6BA756EDF180}"/>
                  </a:ext>
                </a:extLst>
              </p:cNvPr>
              <p:cNvSpPr/>
              <p:nvPr/>
            </p:nvSpPr>
            <p:spPr>
              <a:xfrm>
                <a:off x="4312800" y="5096933"/>
                <a:ext cx="100800" cy="100800"/>
              </a:xfrm>
              <a:prstGeom prst="ellipse">
                <a:avLst/>
              </a:prstGeom>
              <a:solidFill>
                <a:srgbClr val="D2DCF2"/>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dirty="0">
                  <a:solidFill>
                    <a:schemeClr val="tx1"/>
                  </a:solidFill>
                </a:endParaRPr>
              </a:p>
            </p:txBody>
          </p:sp>
          <p:sp>
            <p:nvSpPr>
              <p:cNvPr id="48" name="Oval 47">
                <a:extLst>
                  <a:ext uri="{FF2B5EF4-FFF2-40B4-BE49-F238E27FC236}">
                    <a16:creationId xmlns:a16="http://schemas.microsoft.com/office/drawing/2014/main" id="{9AF917EB-FF1B-B75C-34DA-4E5CBF5E64FA}"/>
                  </a:ext>
                </a:extLst>
              </p:cNvPr>
              <p:cNvSpPr/>
              <p:nvPr/>
            </p:nvSpPr>
            <p:spPr>
              <a:xfrm>
                <a:off x="4519749" y="5096933"/>
                <a:ext cx="100800" cy="100800"/>
              </a:xfrm>
              <a:prstGeom prst="ellipse">
                <a:avLst/>
              </a:prstGeom>
              <a:solidFill>
                <a:srgbClr val="D2DCF2"/>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dirty="0">
                  <a:solidFill>
                    <a:schemeClr val="tx1"/>
                  </a:solidFill>
                </a:endParaRPr>
              </a:p>
            </p:txBody>
          </p:sp>
          <p:sp>
            <p:nvSpPr>
              <p:cNvPr id="49" name="Oval 48">
                <a:extLst>
                  <a:ext uri="{FF2B5EF4-FFF2-40B4-BE49-F238E27FC236}">
                    <a16:creationId xmlns:a16="http://schemas.microsoft.com/office/drawing/2014/main" id="{C251D10A-800D-D34E-D142-57133BECCB6A}"/>
                  </a:ext>
                </a:extLst>
              </p:cNvPr>
              <p:cNvSpPr/>
              <p:nvPr/>
            </p:nvSpPr>
            <p:spPr>
              <a:xfrm>
                <a:off x="4726699" y="5096933"/>
                <a:ext cx="100800" cy="100800"/>
              </a:xfrm>
              <a:prstGeom prst="ellipse">
                <a:avLst/>
              </a:prstGeom>
              <a:solidFill>
                <a:srgbClr val="D2DCF2"/>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dirty="0">
                  <a:solidFill>
                    <a:schemeClr val="tx1"/>
                  </a:solidFill>
                </a:endParaRPr>
              </a:p>
            </p:txBody>
          </p:sp>
          <p:cxnSp>
            <p:nvCxnSpPr>
              <p:cNvPr id="50" name="Straight Arrow Connector 49">
                <a:extLst>
                  <a:ext uri="{FF2B5EF4-FFF2-40B4-BE49-F238E27FC236}">
                    <a16:creationId xmlns:a16="http://schemas.microsoft.com/office/drawing/2014/main" id="{3B242D69-8B65-1E95-BC99-471CABA824E2}"/>
                  </a:ext>
                </a:extLst>
              </p:cNvPr>
              <p:cNvCxnSpPr>
                <a:stCxn id="47" idx="6"/>
                <a:endCxn id="48" idx="2"/>
              </p:cNvCxnSpPr>
              <p:nvPr/>
            </p:nvCxnSpPr>
            <p:spPr>
              <a:xfrm>
                <a:off x="4413600" y="5147333"/>
                <a:ext cx="106149"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1" name="Straight Arrow Connector 50">
                <a:extLst>
                  <a:ext uri="{FF2B5EF4-FFF2-40B4-BE49-F238E27FC236}">
                    <a16:creationId xmlns:a16="http://schemas.microsoft.com/office/drawing/2014/main" id="{97FA63C4-BB6B-8344-0681-45E6BF4B77FC}"/>
                  </a:ext>
                </a:extLst>
              </p:cNvPr>
              <p:cNvCxnSpPr>
                <a:cxnSpLocks/>
                <a:stCxn id="48" idx="6"/>
                <a:endCxn id="49" idx="2"/>
              </p:cNvCxnSpPr>
              <p:nvPr/>
            </p:nvCxnSpPr>
            <p:spPr>
              <a:xfrm>
                <a:off x="4620549" y="5147333"/>
                <a:ext cx="106150"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2" name="Oval 51">
                <a:extLst>
                  <a:ext uri="{FF2B5EF4-FFF2-40B4-BE49-F238E27FC236}">
                    <a16:creationId xmlns:a16="http://schemas.microsoft.com/office/drawing/2014/main" id="{DB7627E6-140C-99B8-7478-F8115ECF699E}"/>
                  </a:ext>
                </a:extLst>
              </p:cNvPr>
              <p:cNvSpPr/>
              <p:nvPr/>
            </p:nvSpPr>
            <p:spPr>
              <a:xfrm>
                <a:off x="4933648" y="5096933"/>
                <a:ext cx="100800" cy="100800"/>
              </a:xfrm>
              <a:prstGeom prst="ellipse">
                <a:avLst/>
              </a:prstGeom>
              <a:solidFill>
                <a:srgbClr val="D2DCF2"/>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dirty="0">
                  <a:solidFill>
                    <a:schemeClr val="tx1"/>
                  </a:solidFill>
                </a:endParaRPr>
              </a:p>
            </p:txBody>
          </p:sp>
          <p:cxnSp>
            <p:nvCxnSpPr>
              <p:cNvPr id="53" name="Straight Arrow Connector 52">
                <a:extLst>
                  <a:ext uri="{FF2B5EF4-FFF2-40B4-BE49-F238E27FC236}">
                    <a16:creationId xmlns:a16="http://schemas.microsoft.com/office/drawing/2014/main" id="{00218374-DA03-77F5-C3BD-3A7A005DBD71}"/>
                  </a:ext>
                </a:extLst>
              </p:cNvPr>
              <p:cNvCxnSpPr>
                <a:cxnSpLocks/>
                <a:stCxn id="49" idx="6"/>
                <a:endCxn id="52" idx="2"/>
              </p:cNvCxnSpPr>
              <p:nvPr/>
            </p:nvCxnSpPr>
            <p:spPr>
              <a:xfrm>
                <a:off x="4827499" y="5147333"/>
                <a:ext cx="106149"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54" name="Group 53">
              <a:extLst>
                <a:ext uri="{FF2B5EF4-FFF2-40B4-BE49-F238E27FC236}">
                  <a16:creationId xmlns:a16="http://schemas.microsoft.com/office/drawing/2014/main" id="{47B05DC2-914E-518B-0BB8-F006217106D0}"/>
                </a:ext>
              </a:extLst>
            </p:cNvPr>
            <p:cNvGrpSpPr/>
            <p:nvPr/>
          </p:nvGrpSpPr>
          <p:grpSpPr>
            <a:xfrm>
              <a:off x="9815141" y="5217750"/>
              <a:ext cx="721648" cy="100800"/>
              <a:chOff x="4312800" y="5096933"/>
              <a:chExt cx="721648" cy="100800"/>
            </a:xfrm>
          </p:grpSpPr>
          <p:sp>
            <p:nvSpPr>
              <p:cNvPr id="55" name="Oval 54">
                <a:extLst>
                  <a:ext uri="{FF2B5EF4-FFF2-40B4-BE49-F238E27FC236}">
                    <a16:creationId xmlns:a16="http://schemas.microsoft.com/office/drawing/2014/main" id="{ACDD5F0E-00B2-3E77-2EAD-1C2706B9BC65}"/>
                  </a:ext>
                </a:extLst>
              </p:cNvPr>
              <p:cNvSpPr/>
              <p:nvPr/>
            </p:nvSpPr>
            <p:spPr>
              <a:xfrm>
                <a:off x="4312800" y="5096933"/>
                <a:ext cx="100800" cy="100800"/>
              </a:xfrm>
              <a:prstGeom prst="ellipse">
                <a:avLst/>
              </a:prstGeom>
              <a:solidFill>
                <a:srgbClr val="D2DCF2"/>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dirty="0">
                  <a:solidFill>
                    <a:schemeClr val="tx1"/>
                  </a:solidFill>
                </a:endParaRPr>
              </a:p>
            </p:txBody>
          </p:sp>
          <p:sp>
            <p:nvSpPr>
              <p:cNvPr id="56" name="Oval 55">
                <a:extLst>
                  <a:ext uri="{FF2B5EF4-FFF2-40B4-BE49-F238E27FC236}">
                    <a16:creationId xmlns:a16="http://schemas.microsoft.com/office/drawing/2014/main" id="{960A1BE0-121D-01DA-C151-C876945AB6F3}"/>
                  </a:ext>
                </a:extLst>
              </p:cNvPr>
              <p:cNvSpPr/>
              <p:nvPr/>
            </p:nvSpPr>
            <p:spPr>
              <a:xfrm>
                <a:off x="4519749" y="5096933"/>
                <a:ext cx="100800" cy="100800"/>
              </a:xfrm>
              <a:prstGeom prst="ellipse">
                <a:avLst/>
              </a:prstGeom>
              <a:solidFill>
                <a:srgbClr val="D2DCF2"/>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dirty="0">
                  <a:solidFill>
                    <a:schemeClr val="tx1"/>
                  </a:solidFill>
                </a:endParaRPr>
              </a:p>
            </p:txBody>
          </p:sp>
          <p:sp>
            <p:nvSpPr>
              <p:cNvPr id="57" name="Oval 56">
                <a:extLst>
                  <a:ext uri="{FF2B5EF4-FFF2-40B4-BE49-F238E27FC236}">
                    <a16:creationId xmlns:a16="http://schemas.microsoft.com/office/drawing/2014/main" id="{1A5FBE3E-7048-7FD1-1DCD-007D47F5BBE1}"/>
                  </a:ext>
                </a:extLst>
              </p:cNvPr>
              <p:cNvSpPr/>
              <p:nvPr/>
            </p:nvSpPr>
            <p:spPr>
              <a:xfrm>
                <a:off x="4726699" y="5096933"/>
                <a:ext cx="100800" cy="100800"/>
              </a:xfrm>
              <a:prstGeom prst="ellipse">
                <a:avLst/>
              </a:prstGeom>
              <a:solidFill>
                <a:srgbClr val="D2DCF2"/>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dirty="0">
                  <a:solidFill>
                    <a:schemeClr val="tx1"/>
                  </a:solidFill>
                </a:endParaRPr>
              </a:p>
            </p:txBody>
          </p:sp>
          <p:cxnSp>
            <p:nvCxnSpPr>
              <p:cNvPr id="58" name="Straight Arrow Connector 57">
                <a:extLst>
                  <a:ext uri="{FF2B5EF4-FFF2-40B4-BE49-F238E27FC236}">
                    <a16:creationId xmlns:a16="http://schemas.microsoft.com/office/drawing/2014/main" id="{C4D16C79-8D4F-E441-34AE-EFF661550160}"/>
                  </a:ext>
                </a:extLst>
              </p:cNvPr>
              <p:cNvCxnSpPr>
                <a:stCxn id="55" idx="6"/>
                <a:endCxn id="56" idx="2"/>
              </p:cNvCxnSpPr>
              <p:nvPr/>
            </p:nvCxnSpPr>
            <p:spPr>
              <a:xfrm>
                <a:off x="4413600" y="5147333"/>
                <a:ext cx="106149"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9" name="Straight Arrow Connector 58">
                <a:extLst>
                  <a:ext uri="{FF2B5EF4-FFF2-40B4-BE49-F238E27FC236}">
                    <a16:creationId xmlns:a16="http://schemas.microsoft.com/office/drawing/2014/main" id="{470932A0-221F-F6BF-62D6-D54A2E554AD8}"/>
                  </a:ext>
                </a:extLst>
              </p:cNvPr>
              <p:cNvCxnSpPr>
                <a:cxnSpLocks/>
                <a:stCxn id="56" idx="6"/>
                <a:endCxn id="57" idx="2"/>
              </p:cNvCxnSpPr>
              <p:nvPr/>
            </p:nvCxnSpPr>
            <p:spPr>
              <a:xfrm>
                <a:off x="4620549" y="5147333"/>
                <a:ext cx="106150"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0" name="Oval 59">
                <a:extLst>
                  <a:ext uri="{FF2B5EF4-FFF2-40B4-BE49-F238E27FC236}">
                    <a16:creationId xmlns:a16="http://schemas.microsoft.com/office/drawing/2014/main" id="{918EBDBE-EE71-7F09-2692-6CB41F3DDEDD}"/>
                  </a:ext>
                </a:extLst>
              </p:cNvPr>
              <p:cNvSpPr/>
              <p:nvPr/>
            </p:nvSpPr>
            <p:spPr>
              <a:xfrm>
                <a:off x="4933648" y="5096933"/>
                <a:ext cx="100800" cy="100800"/>
              </a:xfrm>
              <a:prstGeom prst="ellipse">
                <a:avLst/>
              </a:prstGeom>
              <a:solidFill>
                <a:srgbClr val="D2DCF2"/>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dirty="0">
                  <a:solidFill>
                    <a:schemeClr val="tx1"/>
                  </a:solidFill>
                </a:endParaRPr>
              </a:p>
            </p:txBody>
          </p:sp>
          <p:cxnSp>
            <p:nvCxnSpPr>
              <p:cNvPr id="61" name="Straight Arrow Connector 60">
                <a:extLst>
                  <a:ext uri="{FF2B5EF4-FFF2-40B4-BE49-F238E27FC236}">
                    <a16:creationId xmlns:a16="http://schemas.microsoft.com/office/drawing/2014/main" id="{EABA8204-AD40-F82A-2174-2F175D1533F9}"/>
                  </a:ext>
                </a:extLst>
              </p:cNvPr>
              <p:cNvCxnSpPr>
                <a:cxnSpLocks/>
                <a:stCxn id="57" idx="6"/>
                <a:endCxn id="60" idx="2"/>
              </p:cNvCxnSpPr>
              <p:nvPr/>
            </p:nvCxnSpPr>
            <p:spPr>
              <a:xfrm>
                <a:off x="4827499" y="5147333"/>
                <a:ext cx="106149"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62" name="Group 61">
              <a:extLst>
                <a:ext uri="{FF2B5EF4-FFF2-40B4-BE49-F238E27FC236}">
                  <a16:creationId xmlns:a16="http://schemas.microsoft.com/office/drawing/2014/main" id="{6C700D8A-7041-5782-8D0D-34AF80C0D92E}"/>
                </a:ext>
              </a:extLst>
            </p:cNvPr>
            <p:cNvGrpSpPr/>
            <p:nvPr/>
          </p:nvGrpSpPr>
          <p:grpSpPr>
            <a:xfrm>
              <a:off x="11034341" y="4626734"/>
              <a:ext cx="721648" cy="100800"/>
              <a:chOff x="4312800" y="5096933"/>
              <a:chExt cx="721648" cy="100800"/>
            </a:xfrm>
          </p:grpSpPr>
          <p:sp>
            <p:nvSpPr>
              <p:cNvPr id="63" name="Oval 62">
                <a:extLst>
                  <a:ext uri="{FF2B5EF4-FFF2-40B4-BE49-F238E27FC236}">
                    <a16:creationId xmlns:a16="http://schemas.microsoft.com/office/drawing/2014/main" id="{2049B335-BE2E-C5D9-04AE-83A0BEBB48B0}"/>
                  </a:ext>
                </a:extLst>
              </p:cNvPr>
              <p:cNvSpPr/>
              <p:nvPr/>
            </p:nvSpPr>
            <p:spPr>
              <a:xfrm>
                <a:off x="4312800" y="5096933"/>
                <a:ext cx="100800" cy="100800"/>
              </a:xfrm>
              <a:prstGeom prst="ellipse">
                <a:avLst/>
              </a:prstGeom>
              <a:solidFill>
                <a:srgbClr val="D2DCF2"/>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dirty="0">
                  <a:solidFill>
                    <a:schemeClr val="tx1"/>
                  </a:solidFill>
                </a:endParaRPr>
              </a:p>
            </p:txBody>
          </p:sp>
          <p:sp>
            <p:nvSpPr>
              <p:cNvPr id="64" name="Oval 63">
                <a:extLst>
                  <a:ext uri="{FF2B5EF4-FFF2-40B4-BE49-F238E27FC236}">
                    <a16:creationId xmlns:a16="http://schemas.microsoft.com/office/drawing/2014/main" id="{4CCA816A-CFCD-C4F7-18E5-BC1AE027E127}"/>
                  </a:ext>
                </a:extLst>
              </p:cNvPr>
              <p:cNvSpPr/>
              <p:nvPr/>
            </p:nvSpPr>
            <p:spPr>
              <a:xfrm>
                <a:off x="4519749" y="5096933"/>
                <a:ext cx="100800" cy="100800"/>
              </a:xfrm>
              <a:prstGeom prst="ellipse">
                <a:avLst/>
              </a:prstGeom>
              <a:solidFill>
                <a:srgbClr val="D2DCF2"/>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dirty="0">
                  <a:solidFill>
                    <a:schemeClr val="tx1"/>
                  </a:solidFill>
                </a:endParaRPr>
              </a:p>
            </p:txBody>
          </p:sp>
          <p:sp>
            <p:nvSpPr>
              <p:cNvPr id="65" name="Oval 64">
                <a:extLst>
                  <a:ext uri="{FF2B5EF4-FFF2-40B4-BE49-F238E27FC236}">
                    <a16:creationId xmlns:a16="http://schemas.microsoft.com/office/drawing/2014/main" id="{BE6AAB41-BE8D-624E-9053-BE5EAF205BE2}"/>
                  </a:ext>
                </a:extLst>
              </p:cNvPr>
              <p:cNvSpPr/>
              <p:nvPr/>
            </p:nvSpPr>
            <p:spPr>
              <a:xfrm>
                <a:off x="4726699" y="5096933"/>
                <a:ext cx="100800" cy="100800"/>
              </a:xfrm>
              <a:prstGeom prst="ellipse">
                <a:avLst/>
              </a:prstGeom>
              <a:solidFill>
                <a:srgbClr val="D2DCF2"/>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dirty="0">
                  <a:solidFill>
                    <a:schemeClr val="tx1"/>
                  </a:solidFill>
                </a:endParaRPr>
              </a:p>
            </p:txBody>
          </p:sp>
          <p:cxnSp>
            <p:nvCxnSpPr>
              <p:cNvPr id="66" name="Straight Arrow Connector 65">
                <a:extLst>
                  <a:ext uri="{FF2B5EF4-FFF2-40B4-BE49-F238E27FC236}">
                    <a16:creationId xmlns:a16="http://schemas.microsoft.com/office/drawing/2014/main" id="{F3E92331-321B-A459-A232-78F037A1099A}"/>
                  </a:ext>
                </a:extLst>
              </p:cNvPr>
              <p:cNvCxnSpPr>
                <a:stCxn id="63" idx="6"/>
                <a:endCxn id="64" idx="2"/>
              </p:cNvCxnSpPr>
              <p:nvPr/>
            </p:nvCxnSpPr>
            <p:spPr>
              <a:xfrm>
                <a:off x="4413600" y="5147333"/>
                <a:ext cx="106149"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7" name="Straight Arrow Connector 66">
                <a:extLst>
                  <a:ext uri="{FF2B5EF4-FFF2-40B4-BE49-F238E27FC236}">
                    <a16:creationId xmlns:a16="http://schemas.microsoft.com/office/drawing/2014/main" id="{B78E478F-52C8-493F-6491-2A9602BFCD66}"/>
                  </a:ext>
                </a:extLst>
              </p:cNvPr>
              <p:cNvCxnSpPr>
                <a:cxnSpLocks/>
                <a:stCxn id="64" idx="6"/>
                <a:endCxn id="65" idx="2"/>
              </p:cNvCxnSpPr>
              <p:nvPr/>
            </p:nvCxnSpPr>
            <p:spPr>
              <a:xfrm>
                <a:off x="4620549" y="5147333"/>
                <a:ext cx="106150"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8" name="Oval 67">
                <a:extLst>
                  <a:ext uri="{FF2B5EF4-FFF2-40B4-BE49-F238E27FC236}">
                    <a16:creationId xmlns:a16="http://schemas.microsoft.com/office/drawing/2014/main" id="{253D0D07-3318-95A1-8D3D-4B592B3E7D19}"/>
                  </a:ext>
                </a:extLst>
              </p:cNvPr>
              <p:cNvSpPr/>
              <p:nvPr/>
            </p:nvSpPr>
            <p:spPr>
              <a:xfrm>
                <a:off x="4933648" y="5096933"/>
                <a:ext cx="100800" cy="100800"/>
              </a:xfrm>
              <a:prstGeom prst="ellipse">
                <a:avLst/>
              </a:prstGeom>
              <a:solidFill>
                <a:srgbClr val="D2DCF2"/>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dirty="0">
                  <a:solidFill>
                    <a:schemeClr val="tx1"/>
                  </a:solidFill>
                </a:endParaRPr>
              </a:p>
            </p:txBody>
          </p:sp>
          <p:cxnSp>
            <p:nvCxnSpPr>
              <p:cNvPr id="69" name="Straight Arrow Connector 68">
                <a:extLst>
                  <a:ext uri="{FF2B5EF4-FFF2-40B4-BE49-F238E27FC236}">
                    <a16:creationId xmlns:a16="http://schemas.microsoft.com/office/drawing/2014/main" id="{D02D748F-B098-F4B1-C7FF-147C88F65626}"/>
                  </a:ext>
                </a:extLst>
              </p:cNvPr>
              <p:cNvCxnSpPr>
                <a:cxnSpLocks/>
                <a:stCxn id="65" idx="6"/>
                <a:endCxn id="68" idx="2"/>
              </p:cNvCxnSpPr>
              <p:nvPr/>
            </p:nvCxnSpPr>
            <p:spPr>
              <a:xfrm>
                <a:off x="4827499" y="5147333"/>
                <a:ext cx="106149"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spTree>
    <p:extLst>
      <p:ext uri="{BB962C8B-B14F-4D97-AF65-F5344CB8AC3E}">
        <p14:creationId xmlns:p14="http://schemas.microsoft.com/office/powerpoint/2010/main" val="229790907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ED8D117-FA24-B9B4-4019-776686996416}"/>
              </a:ext>
            </a:extLst>
          </p:cNvPr>
          <p:cNvSpPr>
            <a:spLocks noGrp="1"/>
          </p:cNvSpPr>
          <p:nvPr>
            <p:ph type="title"/>
          </p:nvPr>
        </p:nvSpPr>
        <p:spPr/>
        <p:txBody>
          <a:bodyPr/>
          <a:lstStyle/>
          <a:p>
            <a:r>
              <a:rPr lang="en-US" dirty="0"/>
              <a:t>GitHub Flow</a:t>
            </a:r>
          </a:p>
        </p:txBody>
      </p:sp>
      <p:sp>
        <p:nvSpPr>
          <p:cNvPr id="2" name="Content Placeholder 1">
            <a:extLst>
              <a:ext uri="{FF2B5EF4-FFF2-40B4-BE49-F238E27FC236}">
                <a16:creationId xmlns:a16="http://schemas.microsoft.com/office/drawing/2014/main" id="{491D346A-07F1-B78D-8736-8B46F20E3D3A}"/>
              </a:ext>
            </a:extLst>
          </p:cNvPr>
          <p:cNvSpPr>
            <a:spLocks noGrp="1"/>
          </p:cNvSpPr>
          <p:nvPr>
            <p:ph idx="1"/>
          </p:nvPr>
        </p:nvSpPr>
        <p:spPr>
          <a:xfrm>
            <a:off x="838200" y="1825624"/>
            <a:ext cx="6106884" cy="4467689"/>
          </a:xfrm>
        </p:spPr>
        <p:txBody>
          <a:bodyPr>
            <a:normAutofit fontScale="77500" lnSpcReduction="20000"/>
          </a:bodyPr>
          <a:lstStyle/>
          <a:p>
            <a:pPr>
              <a:lnSpc>
                <a:spcPct val="100000"/>
              </a:lnSpc>
              <a:spcBef>
                <a:spcPts val="1200"/>
              </a:spcBef>
              <a:spcAft>
                <a:spcPts val="0"/>
              </a:spcAft>
            </a:pPr>
            <a:r>
              <a:rPr lang="en-US" dirty="0"/>
              <a:t>A feature branching workflow</a:t>
            </a:r>
          </a:p>
          <a:p>
            <a:pPr>
              <a:lnSpc>
                <a:spcPct val="100000"/>
              </a:lnSpc>
              <a:spcBef>
                <a:spcPts val="1200"/>
              </a:spcBef>
              <a:spcAft>
                <a:spcPts val="0"/>
              </a:spcAft>
            </a:pPr>
            <a:r>
              <a:rPr lang="en-US" dirty="0"/>
              <a:t>Published as viable alternative to Git Flow (we’ll see this next)</a:t>
            </a:r>
          </a:p>
          <a:p>
            <a:pPr>
              <a:lnSpc>
                <a:spcPct val="100000"/>
              </a:lnSpc>
              <a:spcBef>
                <a:spcPts val="1200"/>
              </a:spcBef>
              <a:spcAft>
                <a:spcPts val="0"/>
              </a:spcAft>
            </a:pPr>
            <a:r>
              <a:rPr lang="en-US" dirty="0"/>
              <a:t>No structured release schedule</a:t>
            </a:r>
          </a:p>
          <a:p>
            <a:pPr>
              <a:lnSpc>
                <a:spcPct val="100000"/>
              </a:lnSpc>
              <a:spcBef>
                <a:spcPts val="1200"/>
              </a:spcBef>
              <a:spcAft>
                <a:spcPts val="0"/>
              </a:spcAft>
            </a:pPr>
            <a:r>
              <a:rPr lang="en-US" dirty="0"/>
              <a:t>Continuous deployment &amp; continuous integration </a:t>
            </a:r>
          </a:p>
          <a:p>
            <a:pPr>
              <a:lnSpc>
                <a:spcPct val="100000"/>
              </a:lnSpc>
              <a:spcBef>
                <a:spcPts val="1200"/>
              </a:spcBef>
              <a:spcAft>
                <a:spcPts val="0"/>
              </a:spcAft>
            </a:pPr>
            <a:r>
              <a:rPr lang="en-US" dirty="0"/>
              <a:t>Simpler workflow</a:t>
            </a:r>
          </a:p>
          <a:p>
            <a:pPr>
              <a:lnSpc>
                <a:spcPct val="100000"/>
              </a:lnSpc>
            </a:pPr>
            <a:r>
              <a:rPr lang="en-US" dirty="0"/>
              <a:t>Key Ideas</a:t>
            </a:r>
          </a:p>
          <a:p>
            <a:pPr lvl="1">
              <a:lnSpc>
                <a:spcPct val="100000"/>
              </a:lnSpc>
            </a:pPr>
            <a:r>
              <a:rPr lang="en-US" dirty="0"/>
              <a:t>All commits in the main branch are deployable</a:t>
            </a:r>
          </a:p>
          <a:p>
            <a:pPr lvl="1">
              <a:lnSpc>
                <a:spcPct val="100000"/>
              </a:lnSpc>
            </a:pPr>
            <a:r>
              <a:rPr lang="en-US" dirty="0"/>
              <a:t>Base feature branches off main</a:t>
            </a:r>
          </a:p>
          <a:p>
            <a:pPr lvl="1">
              <a:lnSpc>
                <a:spcPct val="100000"/>
              </a:lnSpc>
            </a:pPr>
            <a:r>
              <a:rPr lang="en-US" dirty="0"/>
              <a:t>Push local repository to remote constantly</a:t>
            </a:r>
          </a:p>
          <a:p>
            <a:pPr lvl="1">
              <a:lnSpc>
                <a:spcPct val="100000"/>
              </a:lnSpc>
            </a:pPr>
            <a:r>
              <a:rPr lang="en-US" dirty="0"/>
              <a:t>Open Pull Requests early to start dialogue</a:t>
            </a:r>
          </a:p>
          <a:p>
            <a:pPr lvl="1">
              <a:lnSpc>
                <a:spcPct val="100000"/>
              </a:lnSpc>
            </a:pPr>
            <a:r>
              <a:rPr lang="en-US" dirty="0"/>
              <a:t>Merge into main after Pull Request review </a:t>
            </a:r>
          </a:p>
        </p:txBody>
      </p:sp>
      <p:pic>
        <p:nvPicPr>
          <p:cNvPr id="4" name="Picture 3" descr="Diagram showing the process of GitHub flow. Time progresses top to bottom. There are three arrows showing branches: one main and two features branches. Initial commits from feature branches stem from the main branch, and the last commit of each feature branch merges into the main branch.">
            <a:extLst>
              <a:ext uri="{FF2B5EF4-FFF2-40B4-BE49-F238E27FC236}">
                <a16:creationId xmlns:a16="http://schemas.microsoft.com/office/drawing/2014/main" id="{32724147-02AA-4263-2F6A-A921F4E2D96A}"/>
              </a:ext>
            </a:extLst>
          </p:cNvPr>
          <p:cNvPicPr>
            <a:picLocks noChangeAspect="1"/>
          </p:cNvPicPr>
          <p:nvPr/>
        </p:nvPicPr>
        <p:blipFill>
          <a:blip r:embed="rId3"/>
          <a:stretch>
            <a:fillRect/>
          </a:stretch>
        </p:blipFill>
        <p:spPr>
          <a:xfrm>
            <a:off x="7018614" y="1387869"/>
            <a:ext cx="5078896" cy="4507845"/>
          </a:xfrm>
          <a:prstGeom prst="rect">
            <a:avLst/>
          </a:prstGeom>
        </p:spPr>
      </p:pic>
      <p:sp>
        <p:nvSpPr>
          <p:cNvPr id="5" name="TextBox 4">
            <a:extLst>
              <a:ext uri="{FF2B5EF4-FFF2-40B4-BE49-F238E27FC236}">
                <a16:creationId xmlns:a16="http://schemas.microsoft.com/office/drawing/2014/main" id="{BA62F34F-B5A0-83BA-4A67-1B665C7867CC}"/>
              </a:ext>
            </a:extLst>
          </p:cNvPr>
          <p:cNvSpPr txBox="1"/>
          <p:nvPr/>
        </p:nvSpPr>
        <p:spPr>
          <a:xfrm>
            <a:off x="6809014" y="5895714"/>
            <a:ext cx="6106884" cy="369332"/>
          </a:xfrm>
          <a:prstGeom prst="rect">
            <a:avLst/>
          </a:prstGeom>
          <a:noFill/>
        </p:spPr>
        <p:txBody>
          <a:bodyPr wrap="square">
            <a:spAutoFit/>
          </a:bodyPr>
          <a:lstStyle/>
          <a:p>
            <a:r>
              <a:rPr lang="en-US" dirty="0">
                <a:hlinkClick r:id="rId4"/>
              </a:rPr>
              <a:t>https://scottchacon.com/2011/08/31/github-flow</a:t>
            </a:r>
            <a:endParaRPr lang="en-US" dirty="0"/>
          </a:p>
        </p:txBody>
      </p:sp>
      <p:sp>
        <p:nvSpPr>
          <p:cNvPr id="6" name="TextBox 5">
            <a:extLst>
              <a:ext uri="{FF2B5EF4-FFF2-40B4-BE49-F238E27FC236}">
                <a16:creationId xmlns:a16="http://schemas.microsoft.com/office/drawing/2014/main" id="{CAD9C5E5-F67B-19BF-0B3D-78593DA9EE81}"/>
              </a:ext>
            </a:extLst>
          </p:cNvPr>
          <p:cNvSpPr txBox="1"/>
          <p:nvPr/>
        </p:nvSpPr>
        <p:spPr>
          <a:xfrm>
            <a:off x="1681843" y="6293314"/>
            <a:ext cx="10221684" cy="646331"/>
          </a:xfrm>
          <a:prstGeom prst="rect">
            <a:avLst/>
          </a:prstGeom>
          <a:noFill/>
        </p:spPr>
        <p:txBody>
          <a:bodyPr wrap="square">
            <a:spAutoFit/>
          </a:bodyPr>
          <a:lstStyle/>
          <a:p>
            <a:pPr>
              <a:spcBef>
                <a:spcPts val="400"/>
              </a:spcBef>
            </a:pPr>
            <a:r>
              <a:rPr lang="en-US" sz="1800" b="0" i="0" dirty="0">
                <a:solidFill>
                  <a:srgbClr val="111111"/>
                </a:solidFill>
                <a:effectLst/>
                <a:latin typeface="+mn-lt"/>
              </a:rPr>
              <a:t>David M. Rogers, </a:t>
            </a:r>
            <a:r>
              <a:rPr lang="en-US" dirty="0"/>
              <a:t>Collaborative Software Development in</a:t>
            </a:r>
            <a:r>
              <a:rPr lang="en-US" sz="1800" b="0" i="0" dirty="0">
                <a:solidFill>
                  <a:srgbClr val="111111"/>
                </a:solidFill>
                <a:effectLst/>
                <a:latin typeface="+mn-lt"/>
              </a:rPr>
              <a:t> Better Scientific Software tutorial, in ISC High Performance, Hamburg, Germany and online, 2023. DOI: </a:t>
            </a:r>
            <a:r>
              <a:rPr lang="en-US" sz="1800" b="0" i="0" u="sng" dirty="0">
                <a:solidFill>
                  <a:srgbClr val="111111"/>
                </a:solidFill>
                <a:effectLst/>
                <a:latin typeface="+mn-lt"/>
                <a:hlinkClick r:id="rId5"/>
              </a:rPr>
              <a:t>10.6084/m9.figshare.22790762</a:t>
            </a:r>
            <a:r>
              <a:rPr lang="en-US" sz="1800" b="0" i="0" dirty="0">
                <a:solidFill>
                  <a:srgbClr val="111111"/>
                </a:solidFill>
                <a:effectLst/>
                <a:latin typeface="+mn-lt"/>
              </a:rPr>
              <a:t>.</a:t>
            </a:r>
          </a:p>
        </p:txBody>
      </p:sp>
    </p:spTree>
    <p:extLst>
      <p:ext uri="{BB962C8B-B14F-4D97-AF65-F5344CB8AC3E}">
        <p14:creationId xmlns:p14="http://schemas.microsoft.com/office/powerpoint/2010/main" val="413607067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ED8D117-FA24-B9B4-4019-776686996416}"/>
              </a:ext>
            </a:extLst>
          </p:cNvPr>
          <p:cNvSpPr>
            <a:spLocks noGrp="1"/>
          </p:cNvSpPr>
          <p:nvPr>
            <p:ph type="title"/>
          </p:nvPr>
        </p:nvSpPr>
        <p:spPr/>
        <p:txBody>
          <a:bodyPr/>
          <a:lstStyle/>
          <a:p>
            <a:r>
              <a:rPr lang="en-US" dirty="0"/>
              <a:t>Git Flow</a:t>
            </a:r>
          </a:p>
        </p:txBody>
      </p:sp>
      <p:sp>
        <p:nvSpPr>
          <p:cNvPr id="2" name="Content Placeholder 1">
            <a:extLst>
              <a:ext uri="{FF2B5EF4-FFF2-40B4-BE49-F238E27FC236}">
                <a16:creationId xmlns:a16="http://schemas.microsoft.com/office/drawing/2014/main" id="{491D346A-07F1-B78D-8736-8B46F20E3D3A}"/>
              </a:ext>
            </a:extLst>
          </p:cNvPr>
          <p:cNvSpPr>
            <a:spLocks noGrp="1"/>
          </p:cNvSpPr>
          <p:nvPr>
            <p:ph idx="1"/>
          </p:nvPr>
        </p:nvSpPr>
        <p:spPr>
          <a:xfrm>
            <a:off x="838200" y="1825624"/>
            <a:ext cx="5279570" cy="3687280"/>
          </a:xfrm>
        </p:spPr>
        <p:txBody>
          <a:bodyPr>
            <a:normAutofit fontScale="77500" lnSpcReduction="20000"/>
          </a:bodyPr>
          <a:lstStyle/>
          <a:p>
            <a:pPr marL="285750" indent="-285750"/>
            <a:r>
              <a:rPr lang="en-US" dirty="0"/>
              <a:t>Full-featured workflow</a:t>
            </a:r>
          </a:p>
          <a:p>
            <a:pPr marL="285750" indent="-285750"/>
            <a:r>
              <a:rPr lang="en-US" dirty="0"/>
              <a:t>Increased complexity</a:t>
            </a:r>
          </a:p>
          <a:p>
            <a:pPr marL="285750" indent="-285750"/>
            <a:r>
              <a:rPr lang="en-US" dirty="0"/>
              <a:t>Designed for Software with official releases</a:t>
            </a:r>
          </a:p>
          <a:p>
            <a:pPr marL="285750" indent="-285750"/>
            <a:r>
              <a:rPr lang="en-US" dirty="0"/>
              <a:t>Feature branches based off of develop</a:t>
            </a:r>
          </a:p>
          <a:p>
            <a:pPr marL="285750" indent="-285750"/>
            <a:r>
              <a:rPr lang="en-US" dirty="0">
                <a:hlinkClick r:id="rId3"/>
              </a:rPr>
              <a:t>Git extensions</a:t>
            </a:r>
            <a:r>
              <a:rPr lang="en-US" dirty="0"/>
              <a:t> to enforce policy</a:t>
            </a:r>
          </a:p>
          <a:p>
            <a:pPr marL="285750" indent="-285750"/>
            <a:r>
              <a:rPr lang="en-US" dirty="0"/>
              <a:t>How are develop and main synchronized?</a:t>
            </a:r>
          </a:p>
          <a:p>
            <a:pPr marL="285750" indent="-285750"/>
            <a:r>
              <a:rPr lang="en-US" dirty="0"/>
              <a:t>Where do merge conflicts occur and how are they resolved?</a:t>
            </a:r>
          </a:p>
        </p:txBody>
      </p:sp>
      <p:pic>
        <p:nvPicPr>
          <p:cNvPr id="6" name="Picture 5" descr="Diagram showing the process of git flow. Time progresses top to bottom. There are many arrows showing branches: several feature branches, a development branch, a release branch, a hotfix branch and a main branch. Feature branches start from commits on the development branch, and merge back into the development branch. Development branch recieves merges to and from the release branch, and the release branch commits merge into the main branch.">
            <a:extLst>
              <a:ext uri="{FF2B5EF4-FFF2-40B4-BE49-F238E27FC236}">
                <a16:creationId xmlns:a16="http://schemas.microsoft.com/office/drawing/2014/main" id="{2E9AA4C8-B8D9-7B02-E990-8CFDCCF6A3F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792685" y="1111714"/>
            <a:ext cx="3886200" cy="5181600"/>
          </a:xfrm>
          <a:prstGeom prst="rect">
            <a:avLst/>
          </a:prstGeom>
        </p:spPr>
      </p:pic>
      <p:sp>
        <p:nvSpPr>
          <p:cNvPr id="7" name="TextBox 6">
            <a:extLst>
              <a:ext uri="{FF2B5EF4-FFF2-40B4-BE49-F238E27FC236}">
                <a16:creationId xmlns:a16="http://schemas.microsoft.com/office/drawing/2014/main" id="{A341BAF7-4255-3AE0-B0FC-F8F359B4FC1D}"/>
              </a:ext>
            </a:extLst>
          </p:cNvPr>
          <p:cNvSpPr txBox="1"/>
          <p:nvPr/>
        </p:nvSpPr>
        <p:spPr>
          <a:xfrm>
            <a:off x="1681843" y="5357188"/>
            <a:ext cx="5593669" cy="1071062"/>
          </a:xfrm>
          <a:prstGeom prst="rect">
            <a:avLst/>
          </a:prstGeom>
          <a:noFill/>
        </p:spPr>
        <p:txBody>
          <a:bodyPr wrap="square" lIns="118872" tIns="91440" rIns="118872" bIns="91440" rtlCol="0" anchor="ctr" anchorCtr="0">
            <a:spAutoFit/>
          </a:bodyPr>
          <a:lstStyle/>
          <a:p>
            <a:pPr algn="l">
              <a:lnSpc>
                <a:spcPct val="90000"/>
              </a:lnSpc>
            </a:pPr>
            <a:r>
              <a:rPr lang="en-US" sz="1600" b="1" dirty="0"/>
              <a:t>Author: </a:t>
            </a:r>
            <a:r>
              <a:rPr lang="en-US" sz="1600" dirty="0"/>
              <a:t>Vincent Driessen</a:t>
            </a:r>
          </a:p>
          <a:p>
            <a:pPr>
              <a:lnSpc>
                <a:spcPct val="90000"/>
              </a:lnSpc>
            </a:pPr>
            <a:r>
              <a:rPr lang="en-US" sz="1600" b="1" dirty="0"/>
              <a:t>Original Blog: </a:t>
            </a:r>
            <a:r>
              <a:rPr lang="en-US" sz="1600" b="1" dirty="0">
                <a:hlinkClick r:id="rId5"/>
              </a:rPr>
              <a:t>https://nvie.com/posts/a-successful-git-branching-model/</a:t>
            </a:r>
            <a:endParaRPr lang="en-US" sz="1600" b="1" dirty="0"/>
          </a:p>
          <a:p>
            <a:pPr>
              <a:lnSpc>
                <a:spcPct val="90000"/>
              </a:lnSpc>
            </a:pPr>
            <a:r>
              <a:rPr lang="en-US" sz="1600" b="1" dirty="0"/>
              <a:t>License: </a:t>
            </a:r>
            <a:r>
              <a:rPr lang="en-US" sz="1600" dirty="0"/>
              <a:t>Creative Commons </a:t>
            </a:r>
            <a:endParaRPr lang="en-US" sz="1600" b="1" dirty="0"/>
          </a:p>
        </p:txBody>
      </p:sp>
      <p:pic>
        <p:nvPicPr>
          <p:cNvPr id="8" name="Picture 7">
            <a:extLst>
              <a:ext uri="{FF2B5EF4-FFF2-40B4-BE49-F238E27FC236}">
                <a16:creationId xmlns:a16="http://schemas.microsoft.com/office/drawing/2014/main" id="{2F9AC7D3-0547-4696-8647-AEC7F8865B1F}"/>
              </a:ext>
            </a:extLst>
          </p:cNvPr>
          <p:cNvPicPr>
            <a:picLocks noChangeAspect="1"/>
          </p:cNvPicPr>
          <p:nvPr/>
        </p:nvPicPr>
        <p:blipFill>
          <a:blip r:embed="rId6"/>
          <a:stretch>
            <a:fillRect/>
          </a:stretch>
        </p:blipFill>
        <p:spPr>
          <a:xfrm>
            <a:off x="5568043" y="5935916"/>
            <a:ext cx="1356767" cy="323577"/>
          </a:xfrm>
          <a:prstGeom prst="rect">
            <a:avLst/>
          </a:prstGeom>
        </p:spPr>
      </p:pic>
      <p:sp>
        <p:nvSpPr>
          <p:cNvPr id="9" name="TextBox 8">
            <a:extLst>
              <a:ext uri="{FF2B5EF4-FFF2-40B4-BE49-F238E27FC236}">
                <a16:creationId xmlns:a16="http://schemas.microsoft.com/office/drawing/2014/main" id="{3F99EB84-CE5C-BE2B-A2FF-9AC2A0E34DB0}"/>
              </a:ext>
            </a:extLst>
          </p:cNvPr>
          <p:cNvSpPr txBox="1"/>
          <p:nvPr/>
        </p:nvSpPr>
        <p:spPr>
          <a:xfrm>
            <a:off x="1681843" y="6293314"/>
            <a:ext cx="10221684" cy="646331"/>
          </a:xfrm>
          <a:prstGeom prst="rect">
            <a:avLst/>
          </a:prstGeom>
          <a:noFill/>
        </p:spPr>
        <p:txBody>
          <a:bodyPr wrap="square">
            <a:spAutoFit/>
          </a:bodyPr>
          <a:lstStyle/>
          <a:p>
            <a:pPr>
              <a:spcBef>
                <a:spcPts val="400"/>
              </a:spcBef>
            </a:pPr>
            <a:r>
              <a:rPr lang="en-US" sz="1800" b="0" i="0" dirty="0">
                <a:solidFill>
                  <a:srgbClr val="111111"/>
                </a:solidFill>
                <a:effectLst/>
                <a:latin typeface="+mn-lt"/>
              </a:rPr>
              <a:t>David M. Rogers, </a:t>
            </a:r>
            <a:r>
              <a:rPr lang="en-US" dirty="0"/>
              <a:t>Collaborative Software Development in</a:t>
            </a:r>
            <a:r>
              <a:rPr lang="en-US" sz="1800" b="0" i="0" dirty="0">
                <a:solidFill>
                  <a:srgbClr val="111111"/>
                </a:solidFill>
                <a:effectLst/>
                <a:latin typeface="+mn-lt"/>
              </a:rPr>
              <a:t> Better Scientific Software tutorial, in ISC High Performance, Hamburg, Germany and online, 2023. DOI: </a:t>
            </a:r>
            <a:r>
              <a:rPr lang="en-US" sz="1800" b="0" i="0" u="sng" dirty="0">
                <a:solidFill>
                  <a:srgbClr val="111111"/>
                </a:solidFill>
                <a:effectLst/>
                <a:latin typeface="+mn-lt"/>
                <a:hlinkClick r:id="rId7"/>
              </a:rPr>
              <a:t>10.6084/m9.figshare.22790762</a:t>
            </a:r>
            <a:r>
              <a:rPr lang="en-US" sz="1800" b="0" i="0" dirty="0">
                <a:solidFill>
                  <a:srgbClr val="111111"/>
                </a:solidFill>
                <a:effectLst/>
                <a:latin typeface="+mn-lt"/>
              </a:rPr>
              <a:t>.</a:t>
            </a:r>
          </a:p>
        </p:txBody>
      </p:sp>
    </p:spTree>
    <p:extLst>
      <p:ext uri="{BB962C8B-B14F-4D97-AF65-F5344CB8AC3E}">
        <p14:creationId xmlns:p14="http://schemas.microsoft.com/office/powerpoint/2010/main" val="259631593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ED8D117-FA24-B9B4-4019-776686996416}"/>
              </a:ext>
            </a:extLst>
          </p:cNvPr>
          <p:cNvSpPr>
            <a:spLocks noGrp="1"/>
          </p:cNvSpPr>
          <p:nvPr>
            <p:ph type="title"/>
          </p:nvPr>
        </p:nvSpPr>
        <p:spPr/>
        <p:txBody>
          <a:bodyPr/>
          <a:lstStyle/>
          <a:p>
            <a:r>
              <a:rPr lang="en-US" dirty="0"/>
              <a:t>GitLab Flow</a:t>
            </a:r>
          </a:p>
        </p:txBody>
      </p:sp>
      <p:sp>
        <p:nvSpPr>
          <p:cNvPr id="11" name="Content Placeholder 10">
            <a:extLst>
              <a:ext uri="{FF2B5EF4-FFF2-40B4-BE49-F238E27FC236}">
                <a16:creationId xmlns:a16="http://schemas.microsoft.com/office/drawing/2014/main" id="{9EDE94EB-36AE-1E7E-6095-A6D1EE5B4725}"/>
              </a:ext>
            </a:extLst>
          </p:cNvPr>
          <p:cNvSpPr>
            <a:spLocks noGrp="1"/>
          </p:cNvSpPr>
          <p:nvPr>
            <p:ph idx="1"/>
          </p:nvPr>
        </p:nvSpPr>
        <p:spPr>
          <a:xfrm>
            <a:off x="838200" y="1825625"/>
            <a:ext cx="6614847" cy="4420960"/>
          </a:xfrm>
        </p:spPr>
        <p:txBody>
          <a:bodyPr>
            <a:normAutofit fontScale="92500" lnSpcReduction="20000"/>
          </a:bodyPr>
          <a:lstStyle/>
          <a:p>
            <a:r>
              <a:rPr lang="en-US" dirty="0"/>
              <a:t>Published as viable alternative to Git Flow &amp; GitHub Flow</a:t>
            </a:r>
          </a:p>
          <a:p>
            <a:r>
              <a:rPr lang="en-US" dirty="0"/>
              <a:t>Semi-structured release schedule</a:t>
            </a:r>
          </a:p>
          <a:p>
            <a:r>
              <a:rPr lang="en-US" dirty="0"/>
              <a:t>Simplifies difficulties in synchronizing infinite lifetime branches</a:t>
            </a:r>
          </a:p>
          <a:p>
            <a:r>
              <a:rPr lang="en-US" dirty="0"/>
              <a:t>Key Ideas</a:t>
            </a:r>
          </a:p>
          <a:p>
            <a:pPr lvl="1"/>
            <a:r>
              <a:rPr lang="en-US" dirty="0"/>
              <a:t>Main branch is staging area</a:t>
            </a:r>
          </a:p>
          <a:p>
            <a:pPr lvl="1"/>
            <a:r>
              <a:rPr lang="en-US" dirty="0"/>
              <a:t>Mature code in main flows downstream into pre-production  &amp; production infinite lifetime branches</a:t>
            </a:r>
          </a:p>
          <a:p>
            <a:pPr lvl="1"/>
            <a:r>
              <a:rPr lang="en-US" dirty="0"/>
              <a:t>Allow for release branches with downstream flow</a:t>
            </a:r>
          </a:p>
          <a:p>
            <a:pPr lvl="2"/>
            <a:r>
              <a:rPr lang="en-US" dirty="0"/>
              <a:t>Fixes made upstream &amp; merged into main</a:t>
            </a:r>
          </a:p>
          <a:p>
            <a:pPr lvl="2"/>
            <a:r>
              <a:rPr lang="en-US" dirty="0"/>
              <a:t>Fixes cherry picked into release branch</a:t>
            </a:r>
          </a:p>
          <a:p>
            <a:endParaRPr lang="en-US" dirty="0"/>
          </a:p>
          <a:p>
            <a:endParaRPr lang="en-US" dirty="0"/>
          </a:p>
        </p:txBody>
      </p:sp>
      <p:grpSp>
        <p:nvGrpSpPr>
          <p:cNvPr id="14" name="Group 13" descr="Diagram showing the process of GitLab flow. Time progresses top to bottom. There are four branches (left to right): a feature branch, a main branch, a pre-production branch, and a production branch. Feature branch starts with a commit from the main, and then merges back into main. Commits from main first merge into “pre-production” and then from “pre-production” into “production”.">
            <a:extLst>
              <a:ext uri="{FF2B5EF4-FFF2-40B4-BE49-F238E27FC236}">
                <a16:creationId xmlns:a16="http://schemas.microsoft.com/office/drawing/2014/main" id="{DDAD3557-235A-B375-6B9C-7AF0496FB7C5}"/>
              </a:ext>
            </a:extLst>
          </p:cNvPr>
          <p:cNvGrpSpPr/>
          <p:nvPr/>
        </p:nvGrpSpPr>
        <p:grpSpPr>
          <a:xfrm>
            <a:off x="7264561" y="1293094"/>
            <a:ext cx="4446076" cy="3622765"/>
            <a:chOff x="3145815" y="1384829"/>
            <a:chExt cx="4446076" cy="3622765"/>
          </a:xfrm>
        </p:grpSpPr>
        <p:sp>
          <p:nvSpPr>
            <p:cNvPr id="15" name="TextBox 14">
              <a:extLst>
                <a:ext uri="{FF2B5EF4-FFF2-40B4-BE49-F238E27FC236}">
                  <a16:creationId xmlns:a16="http://schemas.microsoft.com/office/drawing/2014/main" id="{0C5E89FB-6DC3-6997-2BD4-BA697559C813}"/>
                </a:ext>
              </a:extLst>
            </p:cNvPr>
            <p:cNvSpPr txBox="1"/>
            <p:nvPr/>
          </p:nvSpPr>
          <p:spPr>
            <a:xfrm>
              <a:off x="4018716" y="1384829"/>
              <a:ext cx="702351" cy="350865"/>
            </a:xfrm>
            <a:prstGeom prst="rect">
              <a:avLst/>
            </a:prstGeom>
            <a:solidFill>
              <a:schemeClr val="bg1"/>
            </a:solidFill>
          </p:spPr>
          <p:txBody>
            <a:bodyPr wrap="square" lIns="118872" tIns="91440" rIns="118872" bIns="91440" rtlCol="0" anchor="ctr" anchorCtr="0">
              <a:spAutoFit/>
            </a:bodyPr>
            <a:lstStyle/>
            <a:p>
              <a:pPr algn="l">
                <a:lnSpc>
                  <a:spcPct val="90000"/>
                </a:lnSpc>
              </a:pPr>
              <a:r>
                <a:rPr lang="en-US" sz="1200" b="1" dirty="0"/>
                <a:t>  main  </a:t>
              </a:r>
            </a:p>
          </p:txBody>
        </p:sp>
        <p:sp>
          <p:nvSpPr>
            <p:cNvPr id="16" name="TextBox 15">
              <a:extLst>
                <a:ext uri="{FF2B5EF4-FFF2-40B4-BE49-F238E27FC236}">
                  <a16:creationId xmlns:a16="http://schemas.microsoft.com/office/drawing/2014/main" id="{0583401A-C517-040A-BEDE-7E3C672A408F}"/>
                </a:ext>
              </a:extLst>
            </p:cNvPr>
            <p:cNvSpPr txBox="1"/>
            <p:nvPr/>
          </p:nvSpPr>
          <p:spPr>
            <a:xfrm>
              <a:off x="4731670" y="1384829"/>
              <a:ext cx="1444495" cy="350865"/>
            </a:xfrm>
            <a:prstGeom prst="rect">
              <a:avLst/>
            </a:prstGeom>
            <a:solidFill>
              <a:schemeClr val="bg1"/>
            </a:solidFill>
          </p:spPr>
          <p:txBody>
            <a:bodyPr wrap="square" lIns="118872" tIns="91440" rIns="118872" bIns="91440" rtlCol="0" anchor="ctr" anchorCtr="0">
              <a:spAutoFit/>
            </a:bodyPr>
            <a:lstStyle/>
            <a:p>
              <a:pPr algn="l">
                <a:lnSpc>
                  <a:spcPct val="90000"/>
                </a:lnSpc>
              </a:pPr>
              <a:r>
                <a:rPr lang="en-US" sz="1200" b="1" dirty="0"/>
                <a:t>  pre-production </a:t>
              </a:r>
            </a:p>
          </p:txBody>
        </p:sp>
        <p:sp>
          <p:nvSpPr>
            <p:cNvPr id="17" name="TextBox 16">
              <a:extLst>
                <a:ext uri="{FF2B5EF4-FFF2-40B4-BE49-F238E27FC236}">
                  <a16:creationId xmlns:a16="http://schemas.microsoft.com/office/drawing/2014/main" id="{E090028A-AD74-B5BA-F5FB-FD286F68232E}"/>
                </a:ext>
              </a:extLst>
            </p:cNvPr>
            <p:cNvSpPr txBox="1"/>
            <p:nvPr/>
          </p:nvSpPr>
          <p:spPr>
            <a:xfrm>
              <a:off x="6147396" y="1384829"/>
              <a:ext cx="1444495" cy="350865"/>
            </a:xfrm>
            <a:prstGeom prst="rect">
              <a:avLst/>
            </a:prstGeom>
            <a:solidFill>
              <a:schemeClr val="bg1"/>
            </a:solidFill>
          </p:spPr>
          <p:txBody>
            <a:bodyPr wrap="square" lIns="118872" tIns="91440" rIns="118872" bIns="91440" rtlCol="0" anchor="ctr" anchorCtr="0">
              <a:spAutoFit/>
            </a:bodyPr>
            <a:lstStyle/>
            <a:p>
              <a:pPr algn="l">
                <a:lnSpc>
                  <a:spcPct val="90000"/>
                </a:lnSpc>
              </a:pPr>
              <a:r>
                <a:rPr lang="en-US" sz="1200" b="1" dirty="0"/>
                <a:t>  production </a:t>
              </a:r>
            </a:p>
          </p:txBody>
        </p:sp>
        <p:sp>
          <p:nvSpPr>
            <p:cNvPr id="18" name="Oval 17">
              <a:extLst>
                <a:ext uri="{FF2B5EF4-FFF2-40B4-BE49-F238E27FC236}">
                  <a16:creationId xmlns:a16="http://schemas.microsoft.com/office/drawing/2014/main" id="{116738FC-13FF-F620-CAAB-758EE2397379}"/>
                </a:ext>
              </a:extLst>
            </p:cNvPr>
            <p:cNvSpPr/>
            <p:nvPr/>
          </p:nvSpPr>
          <p:spPr>
            <a:xfrm>
              <a:off x="4199352" y="1754900"/>
              <a:ext cx="278295" cy="265043"/>
            </a:xfrm>
            <a:prstGeom prst="ellipse">
              <a:avLst/>
            </a:prstGeom>
            <a:solidFill>
              <a:schemeClr val="accent3"/>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endParaRPr lang="en-US" sz="2000" dirty="0">
                <a:solidFill>
                  <a:schemeClr val="bg1"/>
                </a:solidFill>
              </a:endParaRPr>
            </a:p>
          </p:txBody>
        </p:sp>
        <p:sp>
          <p:nvSpPr>
            <p:cNvPr id="19" name="Oval 18">
              <a:extLst>
                <a:ext uri="{FF2B5EF4-FFF2-40B4-BE49-F238E27FC236}">
                  <a16:creationId xmlns:a16="http://schemas.microsoft.com/office/drawing/2014/main" id="{E9D7FE46-619B-6764-4651-54C91017DA7A}"/>
                </a:ext>
              </a:extLst>
            </p:cNvPr>
            <p:cNvSpPr/>
            <p:nvPr/>
          </p:nvSpPr>
          <p:spPr>
            <a:xfrm>
              <a:off x="3763625" y="2414571"/>
              <a:ext cx="278295" cy="265043"/>
            </a:xfrm>
            <a:prstGeom prst="ellipse">
              <a:avLst/>
            </a:prstGeom>
            <a:solidFill>
              <a:srgbClr val="C00000"/>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endParaRPr lang="en-US" sz="2000" dirty="0">
                <a:solidFill>
                  <a:schemeClr val="bg1"/>
                </a:solidFill>
              </a:endParaRPr>
            </a:p>
          </p:txBody>
        </p:sp>
        <p:cxnSp>
          <p:nvCxnSpPr>
            <p:cNvPr id="20" name="Straight Arrow Connector 19">
              <a:extLst>
                <a:ext uri="{FF2B5EF4-FFF2-40B4-BE49-F238E27FC236}">
                  <a16:creationId xmlns:a16="http://schemas.microsoft.com/office/drawing/2014/main" id="{426DF60F-8F39-937B-1D7A-E6BE593E4B04}"/>
                </a:ext>
              </a:extLst>
            </p:cNvPr>
            <p:cNvCxnSpPr>
              <a:cxnSpLocks/>
            </p:cNvCxnSpPr>
            <p:nvPr/>
          </p:nvCxnSpPr>
          <p:spPr>
            <a:xfrm flipH="1">
              <a:off x="4320975" y="2109769"/>
              <a:ext cx="5484" cy="1354205"/>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CFBA75FC-5D7E-4CDF-87F2-52B2ACA569F8}"/>
                </a:ext>
              </a:extLst>
            </p:cNvPr>
            <p:cNvCxnSpPr>
              <a:cxnSpLocks/>
            </p:cNvCxnSpPr>
            <p:nvPr/>
          </p:nvCxnSpPr>
          <p:spPr>
            <a:xfrm flipH="1">
              <a:off x="3929518" y="2095024"/>
              <a:ext cx="278294" cy="307798"/>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BE3B5BD2-F8D2-E30A-AD8A-802BC41F5AB3}"/>
                </a:ext>
              </a:extLst>
            </p:cNvPr>
            <p:cNvCxnSpPr>
              <a:cxnSpLocks/>
            </p:cNvCxnSpPr>
            <p:nvPr/>
          </p:nvCxnSpPr>
          <p:spPr>
            <a:xfrm>
              <a:off x="3856397" y="2740045"/>
              <a:ext cx="0" cy="251479"/>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3CAE3BDF-DC0B-8C8C-28E8-4A5F09AF4109}"/>
                </a:ext>
              </a:extLst>
            </p:cNvPr>
            <p:cNvSpPr txBox="1"/>
            <p:nvPr/>
          </p:nvSpPr>
          <p:spPr>
            <a:xfrm>
              <a:off x="3145815" y="2003275"/>
              <a:ext cx="872901" cy="350865"/>
            </a:xfrm>
            <a:prstGeom prst="rect">
              <a:avLst/>
            </a:prstGeom>
            <a:noFill/>
          </p:spPr>
          <p:txBody>
            <a:bodyPr wrap="square" lIns="118872" tIns="91440" rIns="118872" bIns="91440" rtlCol="0" anchor="ctr" anchorCtr="0">
              <a:spAutoFit/>
            </a:bodyPr>
            <a:lstStyle/>
            <a:p>
              <a:pPr algn="l">
                <a:lnSpc>
                  <a:spcPct val="90000"/>
                </a:lnSpc>
              </a:pPr>
              <a:r>
                <a:rPr lang="en-US" sz="1200" b="1" dirty="0"/>
                <a:t>  feature  </a:t>
              </a:r>
            </a:p>
          </p:txBody>
        </p:sp>
        <p:sp>
          <p:nvSpPr>
            <p:cNvPr id="24" name="Oval 23">
              <a:extLst>
                <a:ext uri="{FF2B5EF4-FFF2-40B4-BE49-F238E27FC236}">
                  <a16:creationId xmlns:a16="http://schemas.microsoft.com/office/drawing/2014/main" id="{9F4868C4-15EC-DBBA-3B38-B19C626DF039}"/>
                </a:ext>
              </a:extLst>
            </p:cNvPr>
            <p:cNvSpPr/>
            <p:nvPr/>
          </p:nvSpPr>
          <p:spPr>
            <a:xfrm>
              <a:off x="3740421" y="3029254"/>
              <a:ext cx="278295" cy="265043"/>
            </a:xfrm>
            <a:prstGeom prst="ellipse">
              <a:avLst/>
            </a:prstGeom>
            <a:solidFill>
              <a:srgbClr val="C00000"/>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endParaRPr lang="en-US" sz="2000" dirty="0">
                <a:solidFill>
                  <a:schemeClr val="bg1"/>
                </a:solidFill>
              </a:endParaRPr>
            </a:p>
          </p:txBody>
        </p:sp>
        <p:cxnSp>
          <p:nvCxnSpPr>
            <p:cNvPr id="25" name="Straight Arrow Connector 24">
              <a:extLst>
                <a:ext uri="{FF2B5EF4-FFF2-40B4-BE49-F238E27FC236}">
                  <a16:creationId xmlns:a16="http://schemas.microsoft.com/office/drawing/2014/main" id="{0A661F5F-95ED-CA03-33BC-56B7C49B916B}"/>
                </a:ext>
              </a:extLst>
            </p:cNvPr>
            <p:cNvCxnSpPr>
              <a:cxnSpLocks/>
            </p:cNvCxnSpPr>
            <p:nvPr/>
          </p:nvCxnSpPr>
          <p:spPr>
            <a:xfrm>
              <a:off x="4505736" y="2020951"/>
              <a:ext cx="846551" cy="719094"/>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A6E714F5-8052-2607-4374-27141E193DB7}"/>
                </a:ext>
              </a:extLst>
            </p:cNvPr>
            <p:cNvCxnSpPr>
              <a:cxnSpLocks/>
            </p:cNvCxnSpPr>
            <p:nvPr/>
          </p:nvCxnSpPr>
          <p:spPr>
            <a:xfrm>
              <a:off x="5491434" y="1792508"/>
              <a:ext cx="0" cy="887106"/>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7" name="Oval 26">
              <a:extLst>
                <a:ext uri="{FF2B5EF4-FFF2-40B4-BE49-F238E27FC236}">
                  <a16:creationId xmlns:a16="http://schemas.microsoft.com/office/drawing/2014/main" id="{67A4ECB0-64FF-59E5-C1EE-3369B67113DA}"/>
                </a:ext>
              </a:extLst>
            </p:cNvPr>
            <p:cNvSpPr/>
            <p:nvPr/>
          </p:nvSpPr>
          <p:spPr>
            <a:xfrm>
              <a:off x="5342911" y="2700746"/>
              <a:ext cx="278295" cy="265043"/>
            </a:xfrm>
            <a:prstGeom prst="ellipse">
              <a:avLst/>
            </a:prstGeom>
            <a:solidFill>
              <a:srgbClr val="0070C0"/>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endParaRPr lang="en-US" sz="2000" dirty="0">
                <a:solidFill>
                  <a:schemeClr val="bg1"/>
                </a:solidFill>
              </a:endParaRPr>
            </a:p>
          </p:txBody>
        </p:sp>
        <p:cxnSp>
          <p:nvCxnSpPr>
            <p:cNvPr id="28" name="Straight Arrow Connector 27">
              <a:extLst>
                <a:ext uri="{FF2B5EF4-FFF2-40B4-BE49-F238E27FC236}">
                  <a16:creationId xmlns:a16="http://schemas.microsoft.com/office/drawing/2014/main" id="{820A5513-45B9-6F0C-2C13-F36ED5139685}"/>
                </a:ext>
              </a:extLst>
            </p:cNvPr>
            <p:cNvCxnSpPr>
              <a:cxnSpLocks/>
            </p:cNvCxnSpPr>
            <p:nvPr/>
          </p:nvCxnSpPr>
          <p:spPr>
            <a:xfrm>
              <a:off x="6721707" y="1792508"/>
              <a:ext cx="0" cy="1462834"/>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2AA9786A-ACF8-5805-00A1-A68C63637BAF}"/>
                </a:ext>
              </a:extLst>
            </p:cNvPr>
            <p:cNvSpPr txBox="1"/>
            <p:nvPr/>
          </p:nvSpPr>
          <p:spPr>
            <a:xfrm rot="2404259">
              <a:off x="4620011" y="2101198"/>
              <a:ext cx="863636" cy="350865"/>
            </a:xfrm>
            <a:prstGeom prst="rect">
              <a:avLst/>
            </a:prstGeom>
            <a:noFill/>
          </p:spPr>
          <p:txBody>
            <a:bodyPr wrap="square" lIns="118872" tIns="91440" rIns="118872" bIns="91440" rtlCol="0" anchor="ctr" anchorCtr="0">
              <a:spAutoFit/>
            </a:bodyPr>
            <a:lstStyle/>
            <a:p>
              <a:pPr algn="l">
                <a:lnSpc>
                  <a:spcPct val="90000"/>
                </a:lnSpc>
              </a:pPr>
              <a:r>
                <a:rPr lang="en-US" sz="1200" b="1" dirty="0"/>
                <a:t> deploy</a:t>
              </a:r>
            </a:p>
          </p:txBody>
        </p:sp>
        <p:cxnSp>
          <p:nvCxnSpPr>
            <p:cNvPr id="30" name="Straight Arrow Connector 29">
              <a:extLst>
                <a:ext uri="{FF2B5EF4-FFF2-40B4-BE49-F238E27FC236}">
                  <a16:creationId xmlns:a16="http://schemas.microsoft.com/office/drawing/2014/main" id="{1CC27479-522A-CF7D-C22B-F4EB3911B038}"/>
                </a:ext>
              </a:extLst>
            </p:cNvPr>
            <p:cNvCxnSpPr>
              <a:cxnSpLocks/>
            </p:cNvCxnSpPr>
            <p:nvPr/>
          </p:nvCxnSpPr>
          <p:spPr>
            <a:xfrm>
              <a:off x="5687332" y="2927741"/>
              <a:ext cx="878373" cy="408137"/>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24D62A55-68EE-D8E6-3DE7-2CE90A73C770}"/>
                </a:ext>
              </a:extLst>
            </p:cNvPr>
            <p:cNvSpPr txBox="1"/>
            <p:nvPr/>
          </p:nvSpPr>
          <p:spPr>
            <a:xfrm rot="1373682">
              <a:off x="5779200" y="2816092"/>
              <a:ext cx="863636" cy="350865"/>
            </a:xfrm>
            <a:prstGeom prst="rect">
              <a:avLst/>
            </a:prstGeom>
            <a:noFill/>
          </p:spPr>
          <p:txBody>
            <a:bodyPr wrap="square" lIns="118872" tIns="91440" rIns="118872" bIns="91440" rtlCol="0" anchor="ctr" anchorCtr="0">
              <a:spAutoFit/>
            </a:bodyPr>
            <a:lstStyle/>
            <a:p>
              <a:pPr algn="l">
                <a:lnSpc>
                  <a:spcPct val="90000"/>
                </a:lnSpc>
              </a:pPr>
              <a:r>
                <a:rPr lang="en-US" sz="1200" b="1" dirty="0"/>
                <a:t> deploy</a:t>
              </a:r>
            </a:p>
          </p:txBody>
        </p:sp>
        <p:sp>
          <p:nvSpPr>
            <p:cNvPr id="32" name="Oval 31">
              <a:extLst>
                <a:ext uri="{FF2B5EF4-FFF2-40B4-BE49-F238E27FC236}">
                  <a16:creationId xmlns:a16="http://schemas.microsoft.com/office/drawing/2014/main" id="{3DD80B1C-8459-8B14-1F97-012B3F08AD01}"/>
                </a:ext>
              </a:extLst>
            </p:cNvPr>
            <p:cNvSpPr/>
            <p:nvPr/>
          </p:nvSpPr>
          <p:spPr>
            <a:xfrm>
              <a:off x="6582560" y="3289636"/>
              <a:ext cx="278295" cy="265043"/>
            </a:xfrm>
            <a:prstGeom prst="ellipse">
              <a:avLst/>
            </a:prstGeom>
            <a:solidFill>
              <a:srgbClr val="002060"/>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endParaRPr lang="en-US" sz="2000" dirty="0">
                <a:solidFill>
                  <a:schemeClr val="bg1"/>
                </a:solidFill>
              </a:endParaRPr>
            </a:p>
          </p:txBody>
        </p:sp>
        <p:cxnSp>
          <p:nvCxnSpPr>
            <p:cNvPr id="33" name="Straight Arrow Connector 32">
              <a:extLst>
                <a:ext uri="{FF2B5EF4-FFF2-40B4-BE49-F238E27FC236}">
                  <a16:creationId xmlns:a16="http://schemas.microsoft.com/office/drawing/2014/main" id="{BB09CDDD-899A-9DF4-D40D-B23B34D40983}"/>
                </a:ext>
              </a:extLst>
            </p:cNvPr>
            <p:cNvCxnSpPr>
              <a:cxnSpLocks/>
            </p:cNvCxnSpPr>
            <p:nvPr/>
          </p:nvCxnSpPr>
          <p:spPr>
            <a:xfrm>
              <a:off x="3978444" y="3357591"/>
              <a:ext cx="208724" cy="212767"/>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76A83600-E304-B9A0-E826-CBBEDD582CAB}"/>
                </a:ext>
              </a:extLst>
            </p:cNvPr>
            <p:cNvCxnSpPr>
              <a:cxnSpLocks/>
            </p:cNvCxnSpPr>
            <p:nvPr/>
          </p:nvCxnSpPr>
          <p:spPr>
            <a:xfrm flipH="1">
              <a:off x="5478698" y="3020001"/>
              <a:ext cx="12735" cy="130158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5" name="Oval 34">
              <a:extLst>
                <a:ext uri="{FF2B5EF4-FFF2-40B4-BE49-F238E27FC236}">
                  <a16:creationId xmlns:a16="http://schemas.microsoft.com/office/drawing/2014/main" id="{BC79EECA-F991-9125-B916-0BBC60DCFCBD}"/>
                </a:ext>
              </a:extLst>
            </p:cNvPr>
            <p:cNvSpPr/>
            <p:nvPr/>
          </p:nvSpPr>
          <p:spPr>
            <a:xfrm>
              <a:off x="5314769" y="4376994"/>
              <a:ext cx="278295" cy="265043"/>
            </a:xfrm>
            <a:prstGeom prst="ellipse">
              <a:avLst/>
            </a:prstGeom>
            <a:solidFill>
              <a:srgbClr val="0070C0"/>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endParaRPr lang="en-US" sz="2000" dirty="0">
                <a:solidFill>
                  <a:schemeClr val="bg1"/>
                </a:solidFill>
              </a:endParaRPr>
            </a:p>
          </p:txBody>
        </p:sp>
        <p:sp>
          <p:nvSpPr>
            <p:cNvPr id="36" name="TextBox 35">
              <a:extLst>
                <a:ext uri="{FF2B5EF4-FFF2-40B4-BE49-F238E27FC236}">
                  <a16:creationId xmlns:a16="http://schemas.microsoft.com/office/drawing/2014/main" id="{32B4702F-67C6-A1E7-31F7-4476D4ADCB2C}"/>
                </a:ext>
              </a:extLst>
            </p:cNvPr>
            <p:cNvSpPr txBox="1"/>
            <p:nvPr/>
          </p:nvSpPr>
          <p:spPr>
            <a:xfrm rot="2423000">
              <a:off x="4494169" y="3779246"/>
              <a:ext cx="863636" cy="350865"/>
            </a:xfrm>
            <a:prstGeom prst="rect">
              <a:avLst/>
            </a:prstGeom>
            <a:noFill/>
          </p:spPr>
          <p:txBody>
            <a:bodyPr wrap="square" lIns="118872" tIns="91440" rIns="118872" bIns="91440" rtlCol="0" anchor="ctr" anchorCtr="0">
              <a:spAutoFit/>
            </a:bodyPr>
            <a:lstStyle/>
            <a:p>
              <a:pPr algn="l">
                <a:lnSpc>
                  <a:spcPct val="90000"/>
                </a:lnSpc>
              </a:pPr>
              <a:r>
                <a:rPr lang="en-US" sz="1200" b="1" dirty="0"/>
                <a:t> deploy</a:t>
              </a:r>
            </a:p>
          </p:txBody>
        </p:sp>
        <p:cxnSp>
          <p:nvCxnSpPr>
            <p:cNvPr id="37" name="Straight Arrow Connector 36">
              <a:extLst>
                <a:ext uri="{FF2B5EF4-FFF2-40B4-BE49-F238E27FC236}">
                  <a16:creationId xmlns:a16="http://schemas.microsoft.com/office/drawing/2014/main" id="{4C511070-16E4-75FA-B992-6C55A62D0617}"/>
                </a:ext>
              </a:extLst>
            </p:cNvPr>
            <p:cNvCxnSpPr>
              <a:cxnSpLocks/>
            </p:cNvCxnSpPr>
            <p:nvPr/>
          </p:nvCxnSpPr>
          <p:spPr>
            <a:xfrm>
              <a:off x="4437761" y="3740871"/>
              <a:ext cx="856754" cy="721955"/>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332FC5F0-B2C6-8C33-EAEA-9B39FB542C23}"/>
                </a:ext>
              </a:extLst>
            </p:cNvPr>
            <p:cNvCxnSpPr>
              <a:cxnSpLocks/>
            </p:cNvCxnSpPr>
            <p:nvPr/>
          </p:nvCxnSpPr>
          <p:spPr>
            <a:xfrm>
              <a:off x="4323469" y="3849193"/>
              <a:ext cx="0" cy="53197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B15CC854-272D-D336-253F-994D73B95D3A}"/>
                </a:ext>
              </a:extLst>
            </p:cNvPr>
            <p:cNvCxnSpPr>
              <a:cxnSpLocks/>
            </p:cNvCxnSpPr>
            <p:nvPr/>
          </p:nvCxnSpPr>
          <p:spPr>
            <a:xfrm>
              <a:off x="5613318" y="4580158"/>
              <a:ext cx="953924" cy="324786"/>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0" name="TextBox 39">
              <a:extLst>
                <a:ext uri="{FF2B5EF4-FFF2-40B4-BE49-F238E27FC236}">
                  <a16:creationId xmlns:a16="http://schemas.microsoft.com/office/drawing/2014/main" id="{2AEBEA9A-D5F7-2D80-E188-F314806DF1EF}"/>
                </a:ext>
              </a:extLst>
            </p:cNvPr>
            <p:cNvSpPr txBox="1"/>
            <p:nvPr/>
          </p:nvSpPr>
          <p:spPr>
            <a:xfrm rot="1009219">
              <a:off x="5692969" y="4416395"/>
              <a:ext cx="863636" cy="350865"/>
            </a:xfrm>
            <a:prstGeom prst="rect">
              <a:avLst/>
            </a:prstGeom>
            <a:noFill/>
          </p:spPr>
          <p:txBody>
            <a:bodyPr wrap="square" lIns="118872" tIns="91440" rIns="118872" bIns="91440" rtlCol="0" anchor="ctr" anchorCtr="0">
              <a:spAutoFit/>
            </a:bodyPr>
            <a:lstStyle/>
            <a:p>
              <a:pPr algn="l">
                <a:lnSpc>
                  <a:spcPct val="90000"/>
                </a:lnSpc>
              </a:pPr>
              <a:r>
                <a:rPr lang="en-US" sz="1200" b="1" dirty="0"/>
                <a:t> deploy</a:t>
              </a:r>
            </a:p>
          </p:txBody>
        </p:sp>
        <p:sp>
          <p:nvSpPr>
            <p:cNvPr id="41" name="Oval 40">
              <a:extLst>
                <a:ext uri="{FF2B5EF4-FFF2-40B4-BE49-F238E27FC236}">
                  <a16:creationId xmlns:a16="http://schemas.microsoft.com/office/drawing/2014/main" id="{F5603991-0191-72EE-E0FE-2C4E88944213}"/>
                </a:ext>
              </a:extLst>
            </p:cNvPr>
            <p:cNvSpPr/>
            <p:nvPr/>
          </p:nvSpPr>
          <p:spPr>
            <a:xfrm>
              <a:off x="6582560" y="4742551"/>
              <a:ext cx="278295" cy="265043"/>
            </a:xfrm>
            <a:prstGeom prst="ellipse">
              <a:avLst/>
            </a:prstGeom>
            <a:solidFill>
              <a:srgbClr val="002060"/>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endParaRPr lang="en-US" sz="2000" dirty="0">
                <a:solidFill>
                  <a:schemeClr val="bg1"/>
                </a:solidFill>
              </a:endParaRPr>
            </a:p>
          </p:txBody>
        </p:sp>
        <p:sp>
          <p:nvSpPr>
            <p:cNvPr id="42" name="Oval 41">
              <a:extLst>
                <a:ext uri="{FF2B5EF4-FFF2-40B4-BE49-F238E27FC236}">
                  <a16:creationId xmlns:a16="http://schemas.microsoft.com/office/drawing/2014/main" id="{065D49D9-A6AE-A7FC-77EF-3408FB955EBC}"/>
                </a:ext>
              </a:extLst>
            </p:cNvPr>
            <p:cNvSpPr/>
            <p:nvPr/>
          </p:nvSpPr>
          <p:spPr>
            <a:xfrm>
              <a:off x="4184322" y="3487661"/>
              <a:ext cx="278295" cy="265043"/>
            </a:xfrm>
            <a:prstGeom prst="ellipse">
              <a:avLst/>
            </a:prstGeom>
            <a:solidFill>
              <a:schemeClr val="accent3"/>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endParaRPr lang="en-US" sz="2000" dirty="0">
                <a:solidFill>
                  <a:schemeClr val="bg1"/>
                </a:solidFill>
              </a:endParaRPr>
            </a:p>
          </p:txBody>
        </p:sp>
        <p:cxnSp>
          <p:nvCxnSpPr>
            <p:cNvPr id="43" name="Straight Arrow Connector 42">
              <a:extLst>
                <a:ext uri="{FF2B5EF4-FFF2-40B4-BE49-F238E27FC236}">
                  <a16:creationId xmlns:a16="http://schemas.microsoft.com/office/drawing/2014/main" id="{917E5358-0C31-1036-34A9-1C5B6FE199E1}"/>
                </a:ext>
              </a:extLst>
            </p:cNvPr>
            <p:cNvCxnSpPr>
              <a:cxnSpLocks/>
              <a:endCxn id="41" idx="0"/>
            </p:cNvCxnSpPr>
            <p:nvPr/>
          </p:nvCxnSpPr>
          <p:spPr>
            <a:xfrm>
              <a:off x="6721707" y="3683041"/>
              <a:ext cx="1" cy="105951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44" name="TextBox 43">
            <a:extLst>
              <a:ext uri="{FF2B5EF4-FFF2-40B4-BE49-F238E27FC236}">
                <a16:creationId xmlns:a16="http://schemas.microsoft.com/office/drawing/2014/main" id="{FB0F7255-209C-176E-180A-D170397A42F5}"/>
              </a:ext>
            </a:extLst>
          </p:cNvPr>
          <p:cNvSpPr txBox="1"/>
          <p:nvPr/>
        </p:nvSpPr>
        <p:spPr>
          <a:xfrm>
            <a:off x="1681843" y="6293314"/>
            <a:ext cx="10221684" cy="646331"/>
          </a:xfrm>
          <a:prstGeom prst="rect">
            <a:avLst/>
          </a:prstGeom>
          <a:noFill/>
        </p:spPr>
        <p:txBody>
          <a:bodyPr wrap="square">
            <a:spAutoFit/>
          </a:bodyPr>
          <a:lstStyle/>
          <a:p>
            <a:pPr>
              <a:spcBef>
                <a:spcPts val="400"/>
              </a:spcBef>
            </a:pPr>
            <a:r>
              <a:rPr lang="en-US" sz="1800" b="0" i="0" dirty="0">
                <a:solidFill>
                  <a:srgbClr val="111111"/>
                </a:solidFill>
                <a:effectLst/>
                <a:latin typeface="+mn-lt"/>
              </a:rPr>
              <a:t>David M. Rogers, </a:t>
            </a:r>
            <a:r>
              <a:rPr lang="en-US" dirty="0"/>
              <a:t>Collaborative Software Development in</a:t>
            </a:r>
            <a:r>
              <a:rPr lang="en-US" sz="1800" b="0" i="0" dirty="0">
                <a:solidFill>
                  <a:srgbClr val="111111"/>
                </a:solidFill>
                <a:effectLst/>
                <a:latin typeface="+mn-lt"/>
              </a:rPr>
              <a:t> Better Scientific Software tutorial, in ISC High Performance, Hamburg, Germany and online, 2023. DOI: </a:t>
            </a:r>
            <a:r>
              <a:rPr lang="en-US" sz="1800" b="0" i="0" u="sng" dirty="0">
                <a:solidFill>
                  <a:srgbClr val="111111"/>
                </a:solidFill>
                <a:effectLst/>
                <a:latin typeface="+mn-lt"/>
                <a:hlinkClick r:id="rId3"/>
              </a:rPr>
              <a:t>10.6084/m9.figshare.22790762</a:t>
            </a:r>
            <a:r>
              <a:rPr lang="en-US" sz="1800" b="0" i="0" dirty="0">
                <a:solidFill>
                  <a:srgbClr val="111111"/>
                </a:solidFill>
                <a:effectLst/>
                <a:latin typeface="+mn-lt"/>
              </a:rPr>
              <a:t>.</a:t>
            </a:r>
          </a:p>
        </p:txBody>
      </p:sp>
    </p:spTree>
    <p:extLst>
      <p:ext uri="{BB962C8B-B14F-4D97-AF65-F5344CB8AC3E}">
        <p14:creationId xmlns:p14="http://schemas.microsoft.com/office/powerpoint/2010/main" val="165342875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7D27055-0208-6174-D2E7-B794CF63CD3C}"/>
              </a:ext>
            </a:extLst>
          </p:cNvPr>
          <p:cNvSpPr>
            <a:spLocks noGrp="1"/>
          </p:cNvSpPr>
          <p:nvPr>
            <p:ph type="title"/>
          </p:nvPr>
        </p:nvSpPr>
        <p:spPr/>
        <p:txBody>
          <a:bodyPr/>
          <a:lstStyle/>
          <a:p>
            <a:r>
              <a:rPr lang="en-US" dirty="0"/>
              <a:t>Forks in Workflows</a:t>
            </a:r>
          </a:p>
        </p:txBody>
      </p:sp>
      <p:sp>
        <p:nvSpPr>
          <p:cNvPr id="2" name="Content Placeholder 1">
            <a:extLst>
              <a:ext uri="{FF2B5EF4-FFF2-40B4-BE49-F238E27FC236}">
                <a16:creationId xmlns:a16="http://schemas.microsoft.com/office/drawing/2014/main" id="{3A1AF5D4-44A7-D607-5553-C10216CFA524}"/>
              </a:ext>
            </a:extLst>
          </p:cNvPr>
          <p:cNvSpPr>
            <a:spLocks noGrp="1"/>
          </p:cNvSpPr>
          <p:nvPr>
            <p:ph idx="1"/>
          </p:nvPr>
        </p:nvSpPr>
        <p:spPr>
          <a:xfrm>
            <a:off x="838200" y="1825625"/>
            <a:ext cx="6569765" cy="4667250"/>
          </a:xfrm>
        </p:spPr>
        <p:txBody>
          <a:bodyPr>
            <a:normAutofit fontScale="92500"/>
          </a:bodyPr>
          <a:lstStyle/>
          <a:p>
            <a:r>
              <a:rPr lang="en-US" sz="2400" dirty="0"/>
              <a:t>So far we have assumed branches are created in the main repository- not feasible for some projects</a:t>
            </a:r>
          </a:p>
          <a:p>
            <a:r>
              <a:rPr lang="en-US" sz="2400" dirty="0"/>
              <a:t>Contributors:</a:t>
            </a:r>
          </a:p>
          <a:p>
            <a:pPr lvl="1"/>
            <a:r>
              <a:rPr lang="en-US" sz="2000" dirty="0"/>
              <a:t>Fork the repository and mainly interact with their fork</a:t>
            </a:r>
          </a:p>
          <a:p>
            <a:pPr lvl="1"/>
            <a:r>
              <a:rPr lang="en-US" sz="2000" dirty="0"/>
              <a:t>Create branches in fork and create a pull request from the fork to the original repository to merge changes</a:t>
            </a:r>
          </a:p>
          <a:p>
            <a:r>
              <a:rPr lang="en-US" sz="2400" dirty="0"/>
              <a:t>Anybody can propose contributions without asking for advance permission (to public projects)</a:t>
            </a:r>
          </a:p>
          <a:p>
            <a:r>
              <a:rPr lang="en-US" sz="2400" dirty="0"/>
              <a:t>Maintainer still has full control over what is merged</a:t>
            </a:r>
          </a:p>
          <a:p>
            <a:r>
              <a:rPr lang="en-US" sz="2400" dirty="0"/>
              <a:t>Challenge: contributors now have more than one remote to work with</a:t>
            </a:r>
          </a:p>
          <a:p>
            <a:r>
              <a:rPr lang="en-US" sz="2400" dirty="0"/>
              <a:t>This is used by almost all large (and small) open-source projects these days</a:t>
            </a:r>
          </a:p>
        </p:txBody>
      </p:sp>
      <p:pic>
        <p:nvPicPr>
          <p:cNvPr id="4" name="Graphic 3" descr="Diagram showing how forks are used in a git workflow. There is a central respository in the middle with arrows pointing to forks, and forks have bi-directional arrows pointing to clones (blue). The central repository has arrows pointing out towards clones, showing clones only updates from the central repository, but do not push to them.">
            <a:extLst>
              <a:ext uri="{FF2B5EF4-FFF2-40B4-BE49-F238E27FC236}">
                <a16:creationId xmlns:a16="http://schemas.microsoft.com/office/drawing/2014/main" id="{7ABADB9F-0746-02CD-515B-28FD7208775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731080" y="1489829"/>
            <a:ext cx="3928723" cy="4437146"/>
          </a:xfrm>
          <a:prstGeom prst="rect">
            <a:avLst/>
          </a:prstGeom>
        </p:spPr>
      </p:pic>
      <p:sp>
        <p:nvSpPr>
          <p:cNvPr id="5" name="TextBox 4">
            <a:extLst>
              <a:ext uri="{FF2B5EF4-FFF2-40B4-BE49-F238E27FC236}">
                <a16:creationId xmlns:a16="http://schemas.microsoft.com/office/drawing/2014/main" id="{7EF72900-F752-8A60-FBD7-B26C91315AD6}"/>
              </a:ext>
            </a:extLst>
          </p:cNvPr>
          <p:cNvSpPr txBox="1"/>
          <p:nvPr/>
        </p:nvSpPr>
        <p:spPr>
          <a:xfrm>
            <a:off x="4196413" y="6498214"/>
            <a:ext cx="7463390" cy="307777"/>
          </a:xfrm>
          <a:prstGeom prst="rect">
            <a:avLst/>
          </a:prstGeom>
          <a:noFill/>
        </p:spPr>
        <p:txBody>
          <a:bodyPr wrap="none" rtlCol="0">
            <a:spAutoFit/>
          </a:bodyPr>
          <a:lstStyle/>
          <a:p>
            <a:pPr algn="ctr"/>
            <a:r>
              <a:rPr lang="en-US" sz="1400" b="1" dirty="0"/>
              <a:t>Figure from Code Refinery: https://</a:t>
            </a:r>
            <a:r>
              <a:rPr lang="en-US" sz="1400" b="1" dirty="0" err="1"/>
              <a:t>coderefinery.github.io</a:t>
            </a:r>
            <a:r>
              <a:rPr lang="en-US" sz="1400" b="1" dirty="0"/>
              <a:t>/git-collaborative/distributed/</a:t>
            </a:r>
          </a:p>
        </p:txBody>
      </p:sp>
    </p:spTree>
    <p:extLst>
      <p:ext uri="{BB962C8B-B14F-4D97-AF65-F5344CB8AC3E}">
        <p14:creationId xmlns:p14="http://schemas.microsoft.com/office/powerpoint/2010/main" val="55940673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1C6CC6A-5ECD-C70F-63DC-BA44E654D2A3}"/>
              </a:ext>
            </a:extLst>
          </p:cNvPr>
          <p:cNvSpPr>
            <a:spLocks noGrp="1"/>
          </p:cNvSpPr>
          <p:nvPr>
            <p:ph type="title"/>
          </p:nvPr>
        </p:nvSpPr>
        <p:spPr/>
        <p:txBody>
          <a:bodyPr/>
          <a:lstStyle/>
          <a:p>
            <a:r>
              <a:rPr lang="en-US" dirty="0"/>
              <a:t>Tips for Using Forks</a:t>
            </a:r>
          </a:p>
        </p:txBody>
      </p:sp>
      <p:sp>
        <p:nvSpPr>
          <p:cNvPr id="2" name="Content Placeholder 1">
            <a:extLst>
              <a:ext uri="{FF2B5EF4-FFF2-40B4-BE49-F238E27FC236}">
                <a16:creationId xmlns:a16="http://schemas.microsoft.com/office/drawing/2014/main" id="{6A6A9ED7-02B5-EEEC-FBD2-5732300097D1}"/>
              </a:ext>
            </a:extLst>
          </p:cNvPr>
          <p:cNvSpPr>
            <a:spLocks noGrp="1"/>
          </p:cNvSpPr>
          <p:nvPr>
            <p:ph idx="1"/>
          </p:nvPr>
        </p:nvSpPr>
        <p:spPr/>
        <p:txBody>
          <a:bodyPr>
            <a:normAutofit fontScale="77500" lnSpcReduction="20000"/>
          </a:bodyPr>
          <a:lstStyle/>
          <a:p>
            <a:r>
              <a:rPr lang="en-US" dirty="0"/>
              <a:t>Set and name remotes to help keep track of original and forked repositories</a:t>
            </a:r>
          </a:p>
          <a:p>
            <a:endParaRPr lang="en-US" dirty="0"/>
          </a:p>
          <a:p>
            <a:endParaRPr lang="en-US" dirty="0"/>
          </a:p>
          <a:p>
            <a:r>
              <a:rPr lang="en-US" dirty="0"/>
              <a:t>View remotes with</a:t>
            </a:r>
          </a:p>
          <a:p>
            <a:endParaRPr lang="en-US" dirty="0"/>
          </a:p>
          <a:p>
            <a:r>
              <a:rPr lang="en-US" dirty="0"/>
              <a:t>Retrieve upstream changes with</a:t>
            </a:r>
          </a:p>
          <a:p>
            <a:endParaRPr lang="en-US" dirty="0"/>
          </a:p>
          <a:p>
            <a:r>
              <a:rPr lang="en-US" dirty="0"/>
              <a:t>Merge upstream changes into your fork’s main branch</a:t>
            </a:r>
          </a:p>
          <a:p>
            <a:endParaRPr lang="en-US" dirty="0"/>
          </a:p>
          <a:p>
            <a:endParaRPr lang="en-US" dirty="0"/>
          </a:p>
          <a:p>
            <a:r>
              <a:rPr lang="en-US" dirty="0"/>
              <a:t>Retrieve any upstream changes and merge into your main and feature branch frequently, especially before you create a Pull Request</a:t>
            </a:r>
          </a:p>
          <a:p>
            <a:endParaRPr lang="en-US" dirty="0"/>
          </a:p>
        </p:txBody>
      </p:sp>
      <p:sp>
        <p:nvSpPr>
          <p:cNvPr id="5" name="TextBox 4">
            <a:extLst>
              <a:ext uri="{FF2B5EF4-FFF2-40B4-BE49-F238E27FC236}">
                <a16:creationId xmlns:a16="http://schemas.microsoft.com/office/drawing/2014/main" id="{5FCCD8E2-7921-CA8F-9513-A20799BFCAAD}"/>
              </a:ext>
            </a:extLst>
          </p:cNvPr>
          <p:cNvSpPr txBox="1"/>
          <p:nvPr/>
        </p:nvSpPr>
        <p:spPr>
          <a:xfrm>
            <a:off x="1254037" y="2148980"/>
            <a:ext cx="9616440" cy="646331"/>
          </a:xfrm>
          <a:prstGeom prst="rect">
            <a:avLst/>
          </a:prstGeom>
          <a:noFill/>
        </p:spPr>
        <p:txBody>
          <a:bodyPr wrap="square">
            <a:spAutoFit/>
          </a:bodyPr>
          <a:lstStyle/>
          <a:p>
            <a:r>
              <a:rPr lang="en-US" b="0" dirty="0">
                <a:solidFill>
                  <a:srgbClr val="A0A07D"/>
                </a:solidFill>
                <a:effectLst/>
                <a:latin typeface="Menlo" panose="020B0609030804020204" pitchFamily="49" charset="0"/>
              </a:rPr>
              <a:t>git</a:t>
            </a:r>
            <a:r>
              <a:rPr lang="en-US" b="0" dirty="0">
                <a:solidFill>
                  <a:srgbClr val="D4D4D4"/>
                </a:solidFill>
                <a:effectLst/>
                <a:latin typeface="Menlo" panose="020B0609030804020204" pitchFamily="49" charset="0"/>
              </a:rPr>
              <a:t> </a:t>
            </a:r>
            <a:r>
              <a:rPr lang="en-US" b="0" dirty="0">
                <a:solidFill>
                  <a:srgbClr val="BC846B"/>
                </a:solidFill>
                <a:effectLst/>
                <a:latin typeface="Menlo" panose="020B0609030804020204" pitchFamily="49" charset="0"/>
              </a:rPr>
              <a:t>remote add upstream https://</a:t>
            </a:r>
            <a:r>
              <a:rPr lang="en-US" b="0" dirty="0" err="1">
                <a:solidFill>
                  <a:srgbClr val="BC846B"/>
                </a:solidFill>
                <a:effectLst/>
                <a:latin typeface="Menlo" panose="020B0609030804020204" pitchFamily="49" charset="0"/>
              </a:rPr>
              <a:t>github.com</a:t>
            </a:r>
            <a:r>
              <a:rPr lang="en-US" b="0" dirty="0">
                <a:solidFill>
                  <a:srgbClr val="BC846B"/>
                </a:solidFill>
                <a:effectLst/>
                <a:latin typeface="Menlo" panose="020B0609030804020204" pitchFamily="49" charset="0"/>
              </a:rPr>
              <a:t>/</a:t>
            </a:r>
            <a:r>
              <a:rPr lang="en-US" b="0" dirty="0" err="1">
                <a:solidFill>
                  <a:srgbClr val="BC846B"/>
                </a:solidFill>
                <a:effectLst/>
                <a:latin typeface="Menlo" panose="020B0609030804020204" pitchFamily="49" charset="0"/>
              </a:rPr>
              <a:t>project_team</a:t>
            </a:r>
            <a:r>
              <a:rPr lang="en-US" b="0" dirty="0">
                <a:solidFill>
                  <a:srgbClr val="BC846B"/>
                </a:solidFill>
                <a:effectLst/>
                <a:latin typeface="Menlo" panose="020B0609030804020204" pitchFamily="49" charset="0"/>
              </a:rPr>
              <a:t>/</a:t>
            </a:r>
            <a:r>
              <a:rPr lang="en-US" b="0" dirty="0" err="1">
                <a:solidFill>
                  <a:srgbClr val="BC846B"/>
                </a:solidFill>
                <a:effectLst/>
                <a:latin typeface="Menlo" panose="020B0609030804020204" pitchFamily="49" charset="0"/>
              </a:rPr>
              <a:t>project.git</a:t>
            </a:r>
            <a:endParaRPr lang="en-US" b="0" dirty="0">
              <a:solidFill>
                <a:srgbClr val="BC846B"/>
              </a:solidFill>
              <a:effectLst/>
              <a:latin typeface="Menlo" panose="020B0609030804020204" pitchFamily="49" charset="0"/>
            </a:endParaRPr>
          </a:p>
          <a:p>
            <a:r>
              <a:rPr lang="en-US" b="0" dirty="0">
                <a:solidFill>
                  <a:srgbClr val="A0A07D"/>
                </a:solidFill>
                <a:effectLst/>
                <a:latin typeface="Menlo" panose="020B0609030804020204" pitchFamily="49" charset="0"/>
              </a:rPr>
              <a:t>git</a:t>
            </a:r>
            <a:r>
              <a:rPr lang="en-US" b="0" dirty="0">
                <a:solidFill>
                  <a:srgbClr val="D4D4D4"/>
                </a:solidFill>
                <a:effectLst/>
                <a:latin typeface="Menlo" panose="020B0609030804020204" pitchFamily="49" charset="0"/>
              </a:rPr>
              <a:t> </a:t>
            </a:r>
            <a:r>
              <a:rPr lang="en-US" b="0" dirty="0">
                <a:solidFill>
                  <a:srgbClr val="BC846B"/>
                </a:solidFill>
                <a:effectLst/>
                <a:latin typeface="Menlo" panose="020B0609030804020204" pitchFamily="49" charset="0"/>
              </a:rPr>
              <a:t>remote add my-fork https://</a:t>
            </a:r>
            <a:r>
              <a:rPr lang="en-US" b="0" dirty="0" err="1">
                <a:solidFill>
                  <a:srgbClr val="BC846B"/>
                </a:solidFill>
                <a:effectLst/>
                <a:latin typeface="Menlo" panose="020B0609030804020204" pitchFamily="49" charset="0"/>
              </a:rPr>
              <a:t>github.com</a:t>
            </a:r>
            <a:r>
              <a:rPr lang="en-US" b="0" dirty="0">
                <a:solidFill>
                  <a:srgbClr val="BC846B"/>
                </a:solidFill>
                <a:effectLst/>
                <a:latin typeface="Menlo" panose="020B0609030804020204" pitchFamily="49" charset="0"/>
              </a:rPr>
              <a:t>/me/</a:t>
            </a:r>
            <a:r>
              <a:rPr lang="en-US" b="0" dirty="0" err="1">
                <a:solidFill>
                  <a:srgbClr val="BC846B"/>
                </a:solidFill>
                <a:effectLst/>
                <a:latin typeface="Menlo" panose="020B0609030804020204" pitchFamily="49" charset="0"/>
              </a:rPr>
              <a:t>project.git</a:t>
            </a:r>
            <a:endParaRPr lang="en-US" b="0" dirty="0">
              <a:solidFill>
                <a:srgbClr val="BC846B"/>
              </a:solidFill>
              <a:effectLst/>
              <a:latin typeface="Menlo" panose="020B0609030804020204" pitchFamily="49" charset="0"/>
            </a:endParaRPr>
          </a:p>
        </p:txBody>
      </p:sp>
      <p:sp>
        <p:nvSpPr>
          <p:cNvPr id="7" name="TextBox 6">
            <a:extLst>
              <a:ext uri="{FF2B5EF4-FFF2-40B4-BE49-F238E27FC236}">
                <a16:creationId xmlns:a16="http://schemas.microsoft.com/office/drawing/2014/main" id="{121D7117-1C07-6418-5C54-75534811D009}"/>
              </a:ext>
            </a:extLst>
          </p:cNvPr>
          <p:cNvSpPr txBox="1"/>
          <p:nvPr/>
        </p:nvSpPr>
        <p:spPr>
          <a:xfrm>
            <a:off x="1254037" y="3182248"/>
            <a:ext cx="6103620" cy="369332"/>
          </a:xfrm>
          <a:prstGeom prst="rect">
            <a:avLst/>
          </a:prstGeom>
          <a:noFill/>
        </p:spPr>
        <p:txBody>
          <a:bodyPr wrap="square">
            <a:spAutoFit/>
          </a:bodyPr>
          <a:lstStyle/>
          <a:p>
            <a:r>
              <a:rPr lang="en-US" b="0" dirty="0">
                <a:solidFill>
                  <a:srgbClr val="A0A07D"/>
                </a:solidFill>
                <a:effectLst/>
                <a:latin typeface="Menlo" panose="020B0609030804020204" pitchFamily="49" charset="0"/>
              </a:rPr>
              <a:t>git</a:t>
            </a:r>
            <a:r>
              <a:rPr lang="en-US" b="0" dirty="0">
                <a:solidFill>
                  <a:srgbClr val="CE9178"/>
                </a:solidFill>
                <a:effectLst/>
                <a:latin typeface="Menlo" panose="020B0609030804020204" pitchFamily="49" charset="0"/>
              </a:rPr>
              <a:t> remote </a:t>
            </a:r>
            <a:r>
              <a:rPr lang="en-US" b="0" dirty="0">
                <a:solidFill>
                  <a:srgbClr val="4D8BBF"/>
                </a:solidFill>
                <a:effectLst/>
                <a:latin typeface="Menlo" panose="020B0609030804020204" pitchFamily="49" charset="0"/>
              </a:rPr>
              <a:t>-v</a:t>
            </a:r>
          </a:p>
        </p:txBody>
      </p:sp>
      <p:sp>
        <p:nvSpPr>
          <p:cNvPr id="9" name="TextBox 8">
            <a:extLst>
              <a:ext uri="{FF2B5EF4-FFF2-40B4-BE49-F238E27FC236}">
                <a16:creationId xmlns:a16="http://schemas.microsoft.com/office/drawing/2014/main" id="{E587968B-E088-7097-9C19-8FA376612AD4}"/>
              </a:ext>
            </a:extLst>
          </p:cNvPr>
          <p:cNvSpPr txBox="1"/>
          <p:nvPr/>
        </p:nvSpPr>
        <p:spPr>
          <a:xfrm>
            <a:off x="1254037" y="3949276"/>
            <a:ext cx="6103620" cy="369332"/>
          </a:xfrm>
          <a:prstGeom prst="rect">
            <a:avLst/>
          </a:prstGeom>
          <a:noFill/>
        </p:spPr>
        <p:txBody>
          <a:bodyPr wrap="square">
            <a:spAutoFit/>
          </a:bodyPr>
          <a:lstStyle/>
          <a:p>
            <a:r>
              <a:rPr lang="en-US" b="0" dirty="0">
                <a:solidFill>
                  <a:srgbClr val="A0A07D"/>
                </a:solidFill>
                <a:effectLst/>
                <a:latin typeface="Menlo" panose="020B0609030804020204" pitchFamily="49" charset="0"/>
              </a:rPr>
              <a:t>git</a:t>
            </a:r>
            <a:r>
              <a:rPr lang="en-US" b="0" dirty="0">
                <a:solidFill>
                  <a:srgbClr val="CE9178"/>
                </a:solidFill>
                <a:effectLst/>
                <a:latin typeface="Menlo" panose="020B0609030804020204" pitchFamily="49" charset="0"/>
              </a:rPr>
              <a:t> fetch upstream</a:t>
            </a:r>
            <a:endParaRPr lang="en-US" b="0" dirty="0">
              <a:solidFill>
                <a:srgbClr val="CCCCCC"/>
              </a:solidFill>
              <a:effectLst/>
              <a:latin typeface="Menlo" panose="020B0609030804020204" pitchFamily="49" charset="0"/>
            </a:endParaRPr>
          </a:p>
        </p:txBody>
      </p:sp>
      <p:sp>
        <p:nvSpPr>
          <p:cNvPr id="11" name="TextBox 10">
            <a:extLst>
              <a:ext uri="{FF2B5EF4-FFF2-40B4-BE49-F238E27FC236}">
                <a16:creationId xmlns:a16="http://schemas.microsoft.com/office/drawing/2014/main" id="{3F60DE9E-E934-7E87-DE8D-02DBFB9B9300}"/>
              </a:ext>
            </a:extLst>
          </p:cNvPr>
          <p:cNvSpPr txBox="1"/>
          <p:nvPr/>
        </p:nvSpPr>
        <p:spPr>
          <a:xfrm>
            <a:off x="1254036" y="4705839"/>
            <a:ext cx="9855923" cy="646331"/>
          </a:xfrm>
          <a:prstGeom prst="rect">
            <a:avLst/>
          </a:prstGeom>
          <a:noFill/>
        </p:spPr>
        <p:txBody>
          <a:bodyPr wrap="square">
            <a:spAutoFit/>
          </a:bodyPr>
          <a:lstStyle/>
          <a:p>
            <a:r>
              <a:rPr lang="en-US" b="0" dirty="0">
                <a:solidFill>
                  <a:srgbClr val="A0A07D"/>
                </a:solidFill>
                <a:effectLst/>
                <a:latin typeface="Menlo" panose="020B0609030804020204" pitchFamily="49" charset="0"/>
              </a:rPr>
              <a:t>git</a:t>
            </a:r>
            <a:r>
              <a:rPr lang="en-US" b="0" dirty="0">
                <a:solidFill>
                  <a:srgbClr val="D4D4D4"/>
                </a:solidFill>
                <a:effectLst/>
                <a:latin typeface="Menlo" panose="020B0609030804020204" pitchFamily="49" charset="0"/>
              </a:rPr>
              <a:t> </a:t>
            </a:r>
            <a:r>
              <a:rPr lang="en-US" b="0" dirty="0">
                <a:solidFill>
                  <a:srgbClr val="BC846B"/>
                </a:solidFill>
                <a:effectLst/>
                <a:latin typeface="Menlo" panose="020B0609030804020204" pitchFamily="49" charset="0"/>
              </a:rPr>
              <a:t>checkout main </a:t>
            </a:r>
            <a:r>
              <a:rPr lang="en-US" b="0" dirty="0">
                <a:solidFill>
                  <a:srgbClr val="6A9955"/>
                </a:solidFill>
                <a:effectLst/>
                <a:latin typeface="Menlo" panose="020B0609030804020204" pitchFamily="49" charset="0"/>
              </a:rPr>
              <a:t># this is the main branch for your fork</a:t>
            </a:r>
            <a:endParaRPr lang="en-US" b="0" dirty="0">
              <a:solidFill>
                <a:srgbClr val="CCCCCC"/>
              </a:solidFill>
              <a:effectLst/>
              <a:latin typeface="Menlo" panose="020B0609030804020204" pitchFamily="49" charset="0"/>
            </a:endParaRPr>
          </a:p>
          <a:p>
            <a:r>
              <a:rPr lang="en-US" b="0" dirty="0">
                <a:solidFill>
                  <a:srgbClr val="A0A07D"/>
                </a:solidFill>
                <a:effectLst/>
                <a:latin typeface="Menlo" panose="020B0609030804020204" pitchFamily="49" charset="0"/>
              </a:rPr>
              <a:t>git</a:t>
            </a:r>
            <a:r>
              <a:rPr lang="en-US" b="0" dirty="0">
                <a:solidFill>
                  <a:srgbClr val="D4D4D4"/>
                </a:solidFill>
                <a:effectLst/>
                <a:latin typeface="Menlo" panose="020B0609030804020204" pitchFamily="49" charset="0"/>
              </a:rPr>
              <a:t> </a:t>
            </a:r>
            <a:r>
              <a:rPr lang="en-US" b="0" dirty="0">
                <a:solidFill>
                  <a:srgbClr val="BC846B"/>
                </a:solidFill>
                <a:effectLst/>
                <a:latin typeface="Menlo" panose="020B0609030804020204" pitchFamily="49" charset="0"/>
              </a:rPr>
              <a:t>merge upstream/main</a:t>
            </a:r>
          </a:p>
        </p:txBody>
      </p:sp>
    </p:spTree>
    <p:extLst>
      <p:ext uri="{BB962C8B-B14F-4D97-AF65-F5344CB8AC3E}">
        <p14:creationId xmlns:p14="http://schemas.microsoft.com/office/powerpoint/2010/main" val="56217237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1AD05A-6C93-8845-BA24-E011CCDF87C2}"/>
              </a:ext>
            </a:extLst>
          </p:cNvPr>
          <p:cNvSpPr>
            <a:spLocks noGrp="1"/>
          </p:cNvSpPr>
          <p:nvPr>
            <p:ph type="title"/>
          </p:nvPr>
        </p:nvSpPr>
        <p:spPr/>
        <p:txBody>
          <a:bodyPr>
            <a:normAutofit/>
          </a:bodyPr>
          <a:lstStyle/>
          <a:p>
            <a:r>
              <a:rPr lang="en-US" dirty="0"/>
              <a:t>Guidelines for establishing a Git Workflow</a:t>
            </a:r>
          </a:p>
        </p:txBody>
      </p:sp>
      <p:sp>
        <p:nvSpPr>
          <p:cNvPr id="3" name="Content Placeholder 2">
            <a:extLst>
              <a:ext uri="{FF2B5EF4-FFF2-40B4-BE49-F238E27FC236}">
                <a16:creationId xmlns:a16="http://schemas.microsoft.com/office/drawing/2014/main" id="{F2C1C2A6-F586-9A4C-B246-CEFD0831BBF5}"/>
              </a:ext>
            </a:extLst>
          </p:cNvPr>
          <p:cNvSpPr>
            <a:spLocks noGrp="1"/>
          </p:cNvSpPr>
          <p:nvPr>
            <p:ph idx="1"/>
          </p:nvPr>
        </p:nvSpPr>
        <p:spPr/>
        <p:txBody>
          <a:bodyPr>
            <a:normAutofit fontScale="70000" lnSpcReduction="20000"/>
          </a:bodyPr>
          <a:lstStyle/>
          <a:p>
            <a:pPr>
              <a:lnSpc>
                <a:spcPct val="100000"/>
              </a:lnSpc>
              <a:spcAft>
                <a:spcPts val="0"/>
              </a:spcAft>
            </a:pPr>
            <a:r>
              <a:rPr lang="en-US" dirty="0"/>
              <a:t>Communicating it to your collaborators</a:t>
            </a:r>
          </a:p>
          <a:p>
            <a:pPr lvl="1">
              <a:lnSpc>
                <a:spcPct val="100000"/>
              </a:lnSpc>
              <a:spcAft>
                <a:spcPts val="0"/>
              </a:spcAft>
            </a:pPr>
            <a:r>
              <a:rPr lang="en-US" sz="2600" dirty="0"/>
              <a:t>Include workflow in Contributing Guide</a:t>
            </a:r>
          </a:p>
          <a:p>
            <a:pPr lvl="1">
              <a:lnSpc>
                <a:spcPct val="100000"/>
              </a:lnSpc>
              <a:spcAft>
                <a:spcPts val="0"/>
              </a:spcAft>
            </a:pPr>
            <a:r>
              <a:rPr lang="en-US" sz="2600" dirty="0"/>
              <a:t>Establish conventions for branch naming (issues, major/minor versions)</a:t>
            </a:r>
          </a:p>
          <a:p>
            <a:pPr>
              <a:lnSpc>
                <a:spcPct val="100000"/>
              </a:lnSpc>
              <a:spcAft>
                <a:spcPts val="0"/>
              </a:spcAft>
            </a:pPr>
            <a:r>
              <a:rPr lang="en-US" dirty="0"/>
              <a:t>Enforce workflow</a:t>
            </a:r>
          </a:p>
          <a:p>
            <a:pPr lvl="1">
              <a:lnSpc>
                <a:spcPct val="100000"/>
              </a:lnSpc>
              <a:spcAft>
                <a:spcPts val="0"/>
              </a:spcAft>
            </a:pPr>
            <a:r>
              <a:rPr lang="en-US" sz="2600" dirty="0">
                <a:hlinkClick r:id="rId3"/>
              </a:rPr>
              <a:t>Branch protections</a:t>
            </a:r>
            <a:endParaRPr lang="en-US" sz="2600" dirty="0"/>
          </a:p>
          <a:p>
            <a:pPr lvl="1">
              <a:lnSpc>
                <a:spcPct val="100000"/>
              </a:lnSpc>
              <a:spcAft>
                <a:spcPts val="0"/>
              </a:spcAft>
            </a:pPr>
            <a:r>
              <a:rPr lang="en-US" sz="2600" dirty="0"/>
              <a:t>Limiting who can push/merge</a:t>
            </a:r>
          </a:p>
          <a:p>
            <a:pPr lvl="1">
              <a:lnSpc>
                <a:spcPct val="100000"/>
              </a:lnSpc>
              <a:spcAft>
                <a:spcPts val="0"/>
              </a:spcAft>
            </a:pPr>
            <a:r>
              <a:rPr lang="en-US" sz="2600" dirty="0"/>
              <a:t>Testing &amp; review requirements</a:t>
            </a:r>
          </a:p>
          <a:p>
            <a:pPr>
              <a:lnSpc>
                <a:spcPct val="100000"/>
              </a:lnSpc>
              <a:spcAft>
                <a:spcPts val="0"/>
              </a:spcAft>
            </a:pPr>
            <a:r>
              <a:rPr lang="en-US" dirty="0"/>
              <a:t>Adopt what is good for your team</a:t>
            </a:r>
          </a:p>
          <a:p>
            <a:pPr lvl="1">
              <a:lnSpc>
                <a:spcPct val="100000"/>
              </a:lnSpc>
              <a:spcAft>
                <a:spcPts val="0"/>
              </a:spcAft>
            </a:pPr>
            <a:r>
              <a:rPr lang="en-US" sz="2600" dirty="0"/>
              <a:t>Consider team culture and project challenges</a:t>
            </a:r>
          </a:p>
          <a:p>
            <a:pPr lvl="1">
              <a:lnSpc>
                <a:spcPct val="100000"/>
              </a:lnSpc>
              <a:spcAft>
                <a:spcPts val="0"/>
              </a:spcAft>
            </a:pPr>
            <a:r>
              <a:rPr lang="en-US" sz="2600" dirty="0"/>
              <a:t>Assess what is and isn’t feasible/acceptable</a:t>
            </a:r>
          </a:p>
          <a:p>
            <a:pPr lvl="1">
              <a:lnSpc>
                <a:spcPct val="100000"/>
              </a:lnSpc>
              <a:spcAft>
                <a:spcPts val="0"/>
              </a:spcAft>
            </a:pPr>
            <a:r>
              <a:rPr lang="en-US" sz="2600" dirty="0"/>
              <a:t>Start with simplest and add complexity where and when necessary</a:t>
            </a:r>
          </a:p>
          <a:p>
            <a:pPr>
              <a:lnSpc>
                <a:spcPct val="100000"/>
              </a:lnSpc>
              <a:spcAft>
                <a:spcPts val="0"/>
              </a:spcAft>
            </a:pPr>
            <a:r>
              <a:rPr lang="en-US" dirty="0"/>
              <a:t>Be careful in shared spaces</a:t>
            </a:r>
          </a:p>
          <a:p>
            <a:pPr lvl="1">
              <a:lnSpc>
                <a:spcPct val="100000"/>
              </a:lnSpc>
              <a:spcAft>
                <a:spcPts val="0"/>
              </a:spcAft>
            </a:pPr>
            <a:r>
              <a:rPr lang="en-US" sz="2600" dirty="0"/>
              <a:t>Each person should work within their own clone</a:t>
            </a:r>
          </a:p>
          <a:p>
            <a:pPr lvl="1">
              <a:lnSpc>
                <a:spcPct val="100000"/>
              </a:lnSpc>
              <a:spcAft>
                <a:spcPts val="0"/>
              </a:spcAft>
            </a:pPr>
            <a:r>
              <a:rPr lang="en-US" sz="2600" dirty="0"/>
              <a:t>Separate “production” clone for running</a:t>
            </a:r>
          </a:p>
        </p:txBody>
      </p:sp>
      <p:sp>
        <p:nvSpPr>
          <p:cNvPr id="4" name="TextBox 3">
            <a:extLst>
              <a:ext uri="{FF2B5EF4-FFF2-40B4-BE49-F238E27FC236}">
                <a16:creationId xmlns:a16="http://schemas.microsoft.com/office/drawing/2014/main" id="{4CC825A8-7EE9-4173-7E55-03501CB81AF0}"/>
              </a:ext>
            </a:extLst>
          </p:cNvPr>
          <p:cNvSpPr txBox="1"/>
          <p:nvPr/>
        </p:nvSpPr>
        <p:spPr>
          <a:xfrm>
            <a:off x="1681843" y="6293314"/>
            <a:ext cx="10221684" cy="646331"/>
          </a:xfrm>
          <a:prstGeom prst="rect">
            <a:avLst/>
          </a:prstGeom>
          <a:noFill/>
        </p:spPr>
        <p:txBody>
          <a:bodyPr wrap="square">
            <a:spAutoFit/>
          </a:bodyPr>
          <a:lstStyle/>
          <a:p>
            <a:pPr>
              <a:spcBef>
                <a:spcPts val="400"/>
              </a:spcBef>
            </a:pPr>
            <a:r>
              <a:rPr lang="en-US" sz="1800" b="0" i="0" dirty="0">
                <a:solidFill>
                  <a:srgbClr val="111111"/>
                </a:solidFill>
                <a:effectLst/>
                <a:latin typeface="+mn-lt"/>
              </a:rPr>
              <a:t>David M. Rogers, </a:t>
            </a:r>
            <a:r>
              <a:rPr lang="en-US" dirty="0"/>
              <a:t>Collaborative Software Development in</a:t>
            </a:r>
            <a:r>
              <a:rPr lang="en-US" sz="1800" b="0" i="0" dirty="0">
                <a:solidFill>
                  <a:srgbClr val="111111"/>
                </a:solidFill>
                <a:effectLst/>
                <a:latin typeface="+mn-lt"/>
              </a:rPr>
              <a:t> Better Scientific Software tutorial, in ISC High Performance, Hamburg, Germany and online, 2023. DOI: </a:t>
            </a:r>
            <a:r>
              <a:rPr lang="en-US" sz="1800" b="0" i="0" u="sng" dirty="0">
                <a:solidFill>
                  <a:srgbClr val="111111"/>
                </a:solidFill>
                <a:effectLst/>
                <a:latin typeface="+mn-lt"/>
                <a:hlinkClick r:id="rId4"/>
              </a:rPr>
              <a:t>10.6084/m9.figshare.22790762</a:t>
            </a:r>
            <a:r>
              <a:rPr lang="en-US" sz="1800" b="0" i="0" dirty="0">
                <a:solidFill>
                  <a:srgbClr val="111111"/>
                </a:solidFill>
                <a:effectLst/>
                <a:latin typeface="+mn-lt"/>
              </a:rPr>
              <a:t>.</a:t>
            </a:r>
          </a:p>
        </p:txBody>
      </p:sp>
    </p:spTree>
    <p:extLst>
      <p:ext uri="{BB962C8B-B14F-4D97-AF65-F5344CB8AC3E}">
        <p14:creationId xmlns:p14="http://schemas.microsoft.com/office/powerpoint/2010/main" val="57151778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28DB85B-875D-151D-F33D-4DC4CD7AF9DE}"/>
              </a:ext>
            </a:extLst>
          </p:cNvPr>
          <p:cNvSpPr>
            <a:spLocks noGrp="1"/>
          </p:cNvSpPr>
          <p:nvPr>
            <p:ph type="title"/>
          </p:nvPr>
        </p:nvSpPr>
        <p:spPr/>
        <p:txBody>
          <a:bodyPr/>
          <a:lstStyle/>
          <a:p>
            <a:r>
              <a:rPr lang="en-US" dirty="0"/>
              <a:t>Activity (10 mins)</a:t>
            </a:r>
          </a:p>
        </p:txBody>
      </p:sp>
      <p:sp>
        <p:nvSpPr>
          <p:cNvPr id="2" name="Content Placeholder 1">
            <a:extLst>
              <a:ext uri="{FF2B5EF4-FFF2-40B4-BE49-F238E27FC236}">
                <a16:creationId xmlns:a16="http://schemas.microsoft.com/office/drawing/2014/main" id="{9EDCE19C-812E-2DF0-63F9-155225F892A7}"/>
              </a:ext>
            </a:extLst>
          </p:cNvPr>
          <p:cNvSpPr>
            <a:spLocks noGrp="1"/>
          </p:cNvSpPr>
          <p:nvPr>
            <p:ph idx="1"/>
          </p:nvPr>
        </p:nvSpPr>
        <p:spPr/>
        <p:txBody>
          <a:bodyPr>
            <a:normAutofit/>
          </a:bodyPr>
          <a:lstStyle/>
          <a:p>
            <a:r>
              <a:rPr lang="en-US" b="0" i="0" dirty="0">
                <a:effectLst/>
                <a:highlight>
                  <a:srgbClr val="FFFFFF"/>
                </a:highlight>
              </a:rPr>
              <a:t>Discuss amongst your group which workflow </a:t>
            </a:r>
            <a:r>
              <a:rPr lang="en-US" dirty="0">
                <a:highlight>
                  <a:srgbClr val="FFFFFF"/>
                </a:highlight>
              </a:rPr>
              <a:t>will work best for your group</a:t>
            </a:r>
          </a:p>
          <a:p>
            <a:r>
              <a:rPr lang="en-US" b="0" i="0" dirty="0">
                <a:effectLst/>
                <a:highlight>
                  <a:srgbClr val="FFFFFF"/>
                </a:highlight>
              </a:rPr>
              <a:t>Set up </a:t>
            </a:r>
            <a:r>
              <a:rPr lang="en-US" dirty="0">
                <a:highlight>
                  <a:srgbClr val="FFFFFF"/>
                </a:highlight>
              </a:rPr>
              <a:t>your repository accordingly</a:t>
            </a:r>
          </a:p>
          <a:p>
            <a:r>
              <a:rPr lang="en-US" b="0" i="0" dirty="0">
                <a:effectLst/>
                <a:highlight>
                  <a:srgbClr val="FFFFFF"/>
                </a:highlight>
              </a:rPr>
              <a:t>Start a contributor g</a:t>
            </a:r>
            <a:r>
              <a:rPr lang="en-US" dirty="0">
                <a:highlight>
                  <a:srgbClr val="FFFFFF"/>
                </a:highlight>
              </a:rPr>
              <a:t>uide that explains the workflow and any rules for contributing</a:t>
            </a:r>
          </a:p>
          <a:p>
            <a:r>
              <a:rPr lang="en-US" dirty="0"/>
              <a:t>If time allows, discuss any projects that your group members work on collaboratively with others. Is there a specified workflow for this project? How do you contribute to the project?</a:t>
            </a:r>
          </a:p>
          <a:p>
            <a:endParaRPr lang="en-US" dirty="0"/>
          </a:p>
        </p:txBody>
      </p:sp>
    </p:spTree>
    <p:extLst>
      <p:ext uri="{BB962C8B-B14F-4D97-AF65-F5344CB8AC3E}">
        <p14:creationId xmlns:p14="http://schemas.microsoft.com/office/powerpoint/2010/main" val="6152463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9B9D56B-6426-AF76-8165-E5F986580CE2}"/>
              </a:ext>
            </a:extLst>
          </p:cNvPr>
          <p:cNvSpPr>
            <a:spLocks noGrp="1"/>
          </p:cNvSpPr>
          <p:nvPr>
            <p:ph sz="quarter" idx="10"/>
          </p:nvPr>
        </p:nvSpPr>
        <p:spPr/>
        <p:txBody>
          <a:bodyPr/>
          <a:lstStyle/>
          <a:p>
            <a:endParaRPr lang="en-US"/>
          </a:p>
        </p:txBody>
      </p:sp>
      <p:sp>
        <p:nvSpPr>
          <p:cNvPr id="3" name="Title 2">
            <a:extLst>
              <a:ext uri="{FF2B5EF4-FFF2-40B4-BE49-F238E27FC236}">
                <a16:creationId xmlns:a16="http://schemas.microsoft.com/office/drawing/2014/main" id="{DB33DD70-C76E-66E2-C473-C5E2C71C0DE6}"/>
              </a:ext>
            </a:extLst>
          </p:cNvPr>
          <p:cNvSpPr>
            <a:spLocks noGrp="1"/>
          </p:cNvSpPr>
          <p:nvPr>
            <p:ph type="title"/>
          </p:nvPr>
        </p:nvSpPr>
        <p:spPr/>
        <p:txBody>
          <a:bodyPr/>
          <a:lstStyle/>
          <a:p>
            <a:r>
              <a:rPr lang="en-US" dirty="0"/>
              <a:t>Backup</a:t>
            </a:r>
          </a:p>
        </p:txBody>
      </p:sp>
    </p:spTree>
    <p:extLst>
      <p:ext uri="{BB962C8B-B14F-4D97-AF65-F5344CB8AC3E}">
        <p14:creationId xmlns:p14="http://schemas.microsoft.com/office/powerpoint/2010/main" val="284235494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61C7ED-2A46-3949-B59E-F7D19B5D57B0}"/>
              </a:ext>
            </a:extLst>
          </p:cNvPr>
          <p:cNvSpPr>
            <a:spLocks noGrp="1"/>
          </p:cNvSpPr>
          <p:nvPr>
            <p:ph type="title"/>
          </p:nvPr>
        </p:nvSpPr>
        <p:spPr/>
        <p:txBody>
          <a:bodyPr/>
          <a:lstStyle/>
          <a:p>
            <a:r>
              <a:rPr lang="en-US" dirty="0"/>
              <a:t>Current Trilinos Workflow</a:t>
            </a:r>
          </a:p>
        </p:txBody>
      </p:sp>
      <p:sp>
        <p:nvSpPr>
          <p:cNvPr id="3" name="Content Placeholder 2">
            <a:extLst>
              <a:ext uri="{FF2B5EF4-FFF2-40B4-BE49-F238E27FC236}">
                <a16:creationId xmlns:a16="http://schemas.microsoft.com/office/drawing/2014/main" id="{15856FC1-CDDD-E94F-AD5E-D46650F9D13E}"/>
              </a:ext>
            </a:extLst>
          </p:cNvPr>
          <p:cNvSpPr>
            <a:spLocks noGrp="1"/>
          </p:cNvSpPr>
          <p:nvPr>
            <p:ph sz="half" idx="1"/>
          </p:nvPr>
        </p:nvSpPr>
        <p:spPr>
          <a:xfrm>
            <a:off x="838200" y="1825625"/>
            <a:ext cx="5181600" cy="2436039"/>
          </a:xfrm>
        </p:spPr>
        <p:txBody>
          <a:bodyPr>
            <a:normAutofit fontScale="62500" lnSpcReduction="20000"/>
          </a:bodyPr>
          <a:lstStyle/>
          <a:p>
            <a:r>
              <a:rPr lang="en-US" dirty="0"/>
              <a:t>Test-driven workflow</a:t>
            </a:r>
          </a:p>
          <a:p>
            <a:r>
              <a:rPr lang="en-US" dirty="0"/>
              <a:t>Feature branches start and end with develop</a:t>
            </a:r>
          </a:p>
          <a:p>
            <a:r>
              <a:rPr lang="en-US" dirty="0"/>
              <a:t>All changes to develop must come from GitHub pull requests</a:t>
            </a:r>
          </a:p>
          <a:p>
            <a:r>
              <a:rPr lang="en-US" dirty="0"/>
              <a:t>Feature branches are merged into develop only after passing pull request test suite</a:t>
            </a:r>
          </a:p>
          <a:p>
            <a:r>
              <a:rPr lang="en-US" dirty="0"/>
              <a:t>Change sets from develop are tested daily for integration into main</a:t>
            </a:r>
          </a:p>
          <a:p>
            <a:pPr marL="0" indent="0">
              <a:buNone/>
            </a:pPr>
            <a:endParaRPr lang="en-US" dirty="0"/>
          </a:p>
        </p:txBody>
      </p:sp>
      <p:sp>
        <p:nvSpPr>
          <p:cNvPr id="12" name="Content Placeholder 11">
            <a:extLst>
              <a:ext uri="{FF2B5EF4-FFF2-40B4-BE49-F238E27FC236}">
                <a16:creationId xmlns:a16="http://schemas.microsoft.com/office/drawing/2014/main" id="{4D5EC1A7-9AEE-76E2-642C-105AE981FED5}"/>
              </a:ext>
            </a:extLst>
          </p:cNvPr>
          <p:cNvSpPr>
            <a:spLocks noGrp="1"/>
          </p:cNvSpPr>
          <p:nvPr>
            <p:ph sz="half" idx="2"/>
          </p:nvPr>
        </p:nvSpPr>
        <p:spPr>
          <a:xfrm>
            <a:off x="6172200" y="1825625"/>
            <a:ext cx="5181600" cy="2436039"/>
          </a:xfrm>
        </p:spPr>
        <p:txBody>
          <a:bodyPr>
            <a:normAutofit fontScale="62500" lnSpcReduction="20000"/>
          </a:bodyPr>
          <a:lstStyle/>
          <a:p>
            <a:pPr>
              <a:lnSpc>
                <a:spcPct val="90000"/>
              </a:lnSpc>
              <a:spcBef>
                <a:spcPts val="1400"/>
              </a:spcBef>
            </a:pPr>
            <a:r>
              <a:rPr lang="en-US" sz="2800" dirty="0"/>
              <a:t>Workflow designed so that</a:t>
            </a:r>
          </a:p>
          <a:p>
            <a:pPr marL="742950" lvl="1" indent="-285750">
              <a:spcBef>
                <a:spcPts val="1400"/>
              </a:spcBef>
            </a:pPr>
            <a:r>
              <a:rPr lang="en-US" dirty="0"/>
              <a:t>All commits in main are in develop</a:t>
            </a:r>
          </a:p>
          <a:p>
            <a:pPr marL="742950" lvl="1" indent="-285750">
              <a:spcBef>
                <a:spcPts val="1400"/>
              </a:spcBef>
            </a:pPr>
            <a:r>
              <a:rPr lang="en-US" dirty="0"/>
              <a:t>Merge conflicts exposed when integrating into develop</a:t>
            </a:r>
          </a:p>
          <a:p>
            <a:pPr marL="742950" lvl="1" indent="-285750">
              <a:spcBef>
                <a:spcPts val="1400"/>
              </a:spcBef>
            </a:pPr>
            <a:r>
              <a:rPr lang="en-US" dirty="0"/>
              <a:t>Merge conflicts never occur when promoting to main</a:t>
            </a:r>
          </a:p>
        </p:txBody>
      </p:sp>
      <p:grpSp>
        <p:nvGrpSpPr>
          <p:cNvPr id="8" name="Group 7">
            <a:extLst>
              <a:ext uri="{FF2B5EF4-FFF2-40B4-BE49-F238E27FC236}">
                <a16:creationId xmlns:a16="http://schemas.microsoft.com/office/drawing/2014/main" id="{7158E031-B829-42BC-E294-C168203D8EAD}"/>
              </a:ext>
            </a:extLst>
          </p:cNvPr>
          <p:cNvGrpSpPr/>
          <p:nvPr/>
        </p:nvGrpSpPr>
        <p:grpSpPr>
          <a:xfrm>
            <a:off x="2320585" y="4125240"/>
            <a:ext cx="7398429" cy="2249719"/>
            <a:chOff x="1143000" y="4368065"/>
            <a:chExt cx="7398429" cy="2249719"/>
          </a:xfrm>
        </p:grpSpPr>
        <p:cxnSp>
          <p:nvCxnSpPr>
            <p:cNvPr id="7" name="Straight Arrow Connector 6">
              <a:extLst>
                <a:ext uri="{FF2B5EF4-FFF2-40B4-BE49-F238E27FC236}">
                  <a16:creationId xmlns:a16="http://schemas.microsoft.com/office/drawing/2014/main" id="{1D7C4B87-8570-8A42-AF8A-CA152401EEC4}"/>
                </a:ext>
              </a:extLst>
            </p:cNvPr>
            <p:cNvCxnSpPr>
              <a:cxnSpLocks/>
            </p:cNvCxnSpPr>
            <p:nvPr/>
          </p:nvCxnSpPr>
          <p:spPr>
            <a:xfrm>
              <a:off x="1143000" y="4819953"/>
              <a:ext cx="4953000" cy="0"/>
            </a:xfrm>
            <a:prstGeom prst="straightConnector1">
              <a:avLst/>
            </a:prstGeom>
            <a:ln w="3810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D9FC5928-3BC6-604D-9003-903AB8252569}"/>
                </a:ext>
              </a:extLst>
            </p:cNvPr>
            <p:cNvCxnSpPr>
              <a:cxnSpLocks/>
            </p:cNvCxnSpPr>
            <p:nvPr/>
          </p:nvCxnSpPr>
          <p:spPr>
            <a:xfrm>
              <a:off x="1143000" y="5476642"/>
              <a:ext cx="4953000" cy="0"/>
            </a:xfrm>
            <a:prstGeom prst="straightConnector1">
              <a:avLst/>
            </a:prstGeom>
            <a:ln w="38100">
              <a:solidFill>
                <a:srgbClr val="00B05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AEB99A0C-DE40-CA40-AAA0-AA4192C7B9AD}"/>
                </a:ext>
              </a:extLst>
            </p:cNvPr>
            <p:cNvSpPr txBox="1"/>
            <p:nvPr/>
          </p:nvSpPr>
          <p:spPr>
            <a:xfrm>
              <a:off x="1143001" y="4977624"/>
              <a:ext cx="1047979" cy="433965"/>
            </a:xfrm>
            <a:prstGeom prst="rect">
              <a:avLst/>
            </a:prstGeom>
            <a:noFill/>
          </p:spPr>
          <p:txBody>
            <a:bodyPr wrap="none" lIns="118872" tIns="91440" rIns="118872" bIns="91440" rtlCol="0" anchor="ctr" anchorCtr="0">
              <a:spAutoFit/>
            </a:bodyPr>
            <a:lstStyle/>
            <a:p>
              <a:pPr algn="l">
                <a:lnSpc>
                  <a:spcPct val="90000"/>
                </a:lnSpc>
              </a:pPr>
              <a:r>
                <a:rPr lang="en-US" dirty="0">
                  <a:solidFill>
                    <a:srgbClr val="00B050"/>
                  </a:solidFill>
                </a:rPr>
                <a:t>develop</a:t>
              </a:r>
            </a:p>
          </p:txBody>
        </p:sp>
        <p:sp>
          <p:nvSpPr>
            <p:cNvPr id="11" name="TextBox 10">
              <a:extLst>
                <a:ext uri="{FF2B5EF4-FFF2-40B4-BE49-F238E27FC236}">
                  <a16:creationId xmlns:a16="http://schemas.microsoft.com/office/drawing/2014/main" id="{2A66388E-2522-D94B-971D-EE362521B81F}"/>
                </a:ext>
              </a:extLst>
            </p:cNvPr>
            <p:cNvSpPr txBox="1"/>
            <p:nvPr/>
          </p:nvSpPr>
          <p:spPr>
            <a:xfrm>
              <a:off x="1147954" y="4368065"/>
              <a:ext cx="740203" cy="433965"/>
            </a:xfrm>
            <a:prstGeom prst="rect">
              <a:avLst/>
            </a:prstGeom>
            <a:noFill/>
          </p:spPr>
          <p:txBody>
            <a:bodyPr wrap="none" lIns="118872" tIns="91440" rIns="118872" bIns="91440" rtlCol="0" anchor="ctr" anchorCtr="0">
              <a:spAutoFit/>
            </a:bodyPr>
            <a:lstStyle/>
            <a:p>
              <a:pPr algn="l">
                <a:lnSpc>
                  <a:spcPct val="90000"/>
                </a:lnSpc>
              </a:pPr>
              <a:r>
                <a:rPr lang="en-US" dirty="0"/>
                <a:t>main</a:t>
              </a:r>
            </a:p>
          </p:txBody>
        </p:sp>
        <p:cxnSp>
          <p:nvCxnSpPr>
            <p:cNvPr id="13" name="Straight Connector 12">
              <a:extLst>
                <a:ext uri="{FF2B5EF4-FFF2-40B4-BE49-F238E27FC236}">
                  <a16:creationId xmlns:a16="http://schemas.microsoft.com/office/drawing/2014/main" id="{82F3E04A-F833-7045-8ABB-421A760306C5}"/>
                </a:ext>
              </a:extLst>
            </p:cNvPr>
            <p:cNvCxnSpPr>
              <a:cxnSpLocks/>
            </p:cNvCxnSpPr>
            <p:nvPr/>
          </p:nvCxnSpPr>
          <p:spPr>
            <a:xfrm>
              <a:off x="1409700" y="5476642"/>
              <a:ext cx="419100" cy="571500"/>
            </a:xfrm>
            <a:prstGeom prst="line">
              <a:avLst/>
            </a:prstGeom>
            <a:ln w="381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538EB2A2-9623-B340-9297-42A81AF5BF2E}"/>
                </a:ext>
              </a:extLst>
            </p:cNvPr>
            <p:cNvCxnSpPr>
              <a:cxnSpLocks/>
            </p:cNvCxnSpPr>
            <p:nvPr/>
          </p:nvCxnSpPr>
          <p:spPr>
            <a:xfrm>
              <a:off x="1829030" y="6048142"/>
              <a:ext cx="952271" cy="0"/>
            </a:xfrm>
            <a:prstGeom prst="line">
              <a:avLst/>
            </a:prstGeom>
            <a:ln w="381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399E5CEF-281D-CC45-8C7B-949846442D4B}"/>
                </a:ext>
              </a:extLst>
            </p:cNvPr>
            <p:cNvCxnSpPr>
              <a:cxnSpLocks/>
            </p:cNvCxnSpPr>
            <p:nvPr/>
          </p:nvCxnSpPr>
          <p:spPr>
            <a:xfrm>
              <a:off x="2781300" y="5476642"/>
              <a:ext cx="419100" cy="57150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4BD51E5B-22BC-3348-B0F4-1509E38998B4}"/>
                </a:ext>
              </a:extLst>
            </p:cNvPr>
            <p:cNvCxnSpPr>
              <a:cxnSpLocks/>
            </p:cNvCxnSpPr>
            <p:nvPr/>
          </p:nvCxnSpPr>
          <p:spPr>
            <a:xfrm>
              <a:off x="3200630" y="6048142"/>
              <a:ext cx="952271"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4285ECDF-63D2-E645-91B6-C0DE04E5DC01}"/>
                </a:ext>
              </a:extLst>
            </p:cNvPr>
            <p:cNvSpPr txBox="1"/>
            <p:nvPr/>
          </p:nvSpPr>
          <p:spPr>
            <a:xfrm>
              <a:off x="1817413" y="6183819"/>
              <a:ext cx="1104900" cy="433965"/>
            </a:xfrm>
            <a:prstGeom prst="rect">
              <a:avLst/>
            </a:prstGeom>
            <a:noFill/>
          </p:spPr>
          <p:txBody>
            <a:bodyPr wrap="square" lIns="118872" tIns="91440" rIns="118872" bIns="91440" rtlCol="0" anchor="ctr" anchorCtr="0">
              <a:spAutoFit/>
            </a:bodyPr>
            <a:lstStyle/>
            <a:p>
              <a:pPr algn="l">
                <a:lnSpc>
                  <a:spcPct val="90000"/>
                </a:lnSpc>
              </a:pPr>
              <a:r>
                <a:rPr lang="en-US" dirty="0">
                  <a:solidFill>
                    <a:schemeClr val="bg1">
                      <a:lumMod val="65000"/>
                    </a:schemeClr>
                  </a:solidFill>
                </a:rPr>
                <a:t>Issue 1</a:t>
              </a:r>
            </a:p>
          </p:txBody>
        </p:sp>
        <p:sp>
          <p:nvSpPr>
            <p:cNvPr id="27" name="TextBox 26">
              <a:extLst>
                <a:ext uri="{FF2B5EF4-FFF2-40B4-BE49-F238E27FC236}">
                  <a16:creationId xmlns:a16="http://schemas.microsoft.com/office/drawing/2014/main" id="{0EE41CE4-F60E-384E-B773-4426088BBE5D}"/>
                </a:ext>
              </a:extLst>
            </p:cNvPr>
            <p:cNvSpPr txBox="1"/>
            <p:nvPr/>
          </p:nvSpPr>
          <p:spPr>
            <a:xfrm>
              <a:off x="3204701" y="6183817"/>
              <a:ext cx="1104900" cy="433965"/>
            </a:xfrm>
            <a:prstGeom prst="rect">
              <a:avLst/>
            </a:prstGeom>
            <a:noFill/>
          </p:spPr>
          <p:txBody>
            <a:bodyPr wrap="square" lIns="118872" tIns="91440" rIns="118872" bIns="91440" rtlCol="0" anchor="ctr" anchorCtr="0">
              <a:spAutoFit/>
            </a:bodyPr>
            <a:lstStyle/>
            <a:p>
              <a:pPr algn="l">
                <a:lnSpc>
                  <a:spcPct val="90000"/>
                </a:lnSpc>
              </a:pPr>
              <a:r>
                <a:rPr lang="en-US" dirty="0">
                  <a:solidFill>
                    <a:srgbClr val="FF0000"/>
                  </a:solidFill>
                </a:rPr>
                <a:t>Issue 2</a:t>
              </a:r>
            </a:p>
          </p:txBody>
        </p:sp>
        <p:sp>
          <p:nvSpPr>
            <p:cNvPr id="28" name="TextBox 27">
              <a:extLst>
                <a:ext uri="{FF2B5EF4-FFF2-40B4-BE49-F238E27FC236}">
                  <a16:creationId xmlns:a16="http://schemas.microsoft.com/office/drawing/2014/main" id="{31560B04-5F9B-F341-B649-39BEE5653C29}"/>
                </a:ext>
              </a:extLst>
            </p:cNvPr>
            <p:cNvSpPr txBox="1"/>
            <p:nvPr/>
          </p:nvSpPr>
          <p:spPr>
            <a:xfrm>
              <a:off x="5600700" y="4977623"/>
              <a:ext cx="2940729" cy="433965"/>
            </a:xfrm>
            <a:prstGeom prst="rect">
              <a:avLst/>
            </a:prstGeom>
            <a:noFill/>
          </p:spPr>
          <p:txBody>
            <a:bodyPr wrap="square" lIns="118872" tIns="91440" rIns="118872" bIns="91440" rtlCol="0" anchor="ctr" anchorCtr="0">
              <a:spAutoFit/>
            </a:bodyPr>
            <a:lstStyle/>
            <a:p>
              <a:pPr algn="l">
                <a:lnSpc>
                  <a:spcPct val="90000"/>
                </a:lnSpc>
              </a:pPr>
              <a:r>
                <a:rPr lang="en-US" dirty="0">
                  <a:solidFill>
                    <a:schemeClr val="tx2">
                      <a:lumMod val="75000"/>
                    </a:schemeClr>
                  </a:solidFill>
                </a:rPr>
                <a:t>develop -&gt; main testing</a:t>
              </a:r>
            </a:p>
          </p:txBody>
        </p:sp>
        <p:sp>
          <p:nvSpPr>
            <p:cNvPr id="29" name="TextBox 28">
              <a:extLst>
                <a:ext uri="{FF2B5EF4-FFF2-40B4-BE49-F238E27FC236}">
                  <a16:creationId xmlns:a16="http://schemas.microsoft.com/office/drawing/2014/main" id="{66D693F1-5F6A-854F-9641-6AF3EA902FD9}"/>
                </a:ext>
              </a:extLst>
            </p:cNvPr>
            <p:cNvSpPr txBox="1"/>
            <p:nvPr/>
          </p:nvSpPr>
          <p:spPr>
            <a:xfrm>
              <a:off x="5600700" y="5629041"/>
              <a:ext cx="2940729" cy="433965"/>
            </a:xfrm>
            <a:prstGeom prst="rect">
              <a:avLst/>
            </a:prstGeom>
            <a:noFill/>
          </p:spPr>
          <p:txBody>
            <a:bodyPr wrap="square" lIns="118872" tIns="91440" rIns="118872" bIns="91440" rtlCol="0" anchor="ctr" anchorCtr="0">
              <a:spAutoFit/>
            </a:bodyPr>
            <a:lstStyle/>
            <a:p>
              <a:pPr algn="l">
                <a:lnSpc>
                  <a:spcPct val="90000"/>
                </a:lnSpc>
              </a:pPr>
              <a:r>
                <a:rPr lang="en-US" dirty="0">
                  <a:solidFill>
                    <a:schemeClr val="tx2">
                      <a:lumMod val="75000"/>
                    </a:schemeClr>
                  </a:solidFill>
                </a:rPr>
                <a:t>Pull request testing</a:t>
              </a:r>
            </a:p>
          </p:txBody>
        </p:sp>
        <p:cxnSp>
          <p:nvCxnSpPr>
            <p:cNvPr id="31" name="Straight Arrow Connector 30">
              <a:extLst>
                <a:ext uri="{FF2B5EF4-FFF2-40B4-BE49-F238E27FC236}">
                  <a16:creationId xmlns:a16="http://schemas.microsoft.com/office/drawing/2014/main" id="{C45F68CD-797A-6040-B616-ECAC8C712BEC}"/>
                </a:ext>
              </a:extLst>
            </p:cNvPr>
            <p:cNvCxnSpPr>
              <a:cxnSpLocks/>
            </p:cNvCxnSpPr>
            <p:nvPr/>
          </p:nvCxnSpPr>
          <p:spPr>
            <a:xfrm flipV="1">
              <a:off x="5070474" y="4884770"/>
              <a:ext cx="554357" cy="569577"/>
            </a:xfrm>
            <a:prstGeom prst="straightConnector1">
              <a:avLst/>
            </a:prstGeom>
            <a:ln w="31750">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C73C0051-C5C6-A041-899E-E914D60E2402}"/>
                </a:ext>
              </a:extLst>
            </p:cNvPr>
            <p:cNvCxnSpPr>
              <a:cxnSpLocks/>
            </p:cNvCxnSpPr>
            <p:nvPr/>
          </p:nvCxnSpPr>
          <p:spPr>
            <a:xfrm flipV="1">
              <a:off x="4153293" y="5506500"/>
              <a:ext cx="434978" cy="539782"/>
            </a:xfrm>
            <a:prstGeom prst="straightConnector1">
              <a:avLst/>
            </a:prstGeom>
            <a:ln w="317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6C74B2B2-470A-5648-8893-F829A49E0B09}"/>
                </a:ext>
              </a:extLst>
            </p:cNvPr>
            <p:cNvCxnSpPr>
              <a:cxnSpLocks/>
            </p:cNvCxnSpPr>
            <p:nvPr/>
          </p:nvCxnSpPr>
          <p:spPr>
            <a:xfrm flipV="1">
              <a:off x="2768430" y="5505740"/>
              <a:ext cx="434978" cy="540545"/>
            </a:xfrm>
            <a:prstGeom prst="straightConnector1">
              <a:avLst/>
            </a:prstGeom>
            <a:ln w="31750">
              <a:solidFill>
                <a:schemeClr val="bg1">
                  <a:lumMod val="6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45" name="Oval 44">
              <a:extLst>
                <a:ext uri="{FF2B5EF4-FFF2-40B4-BE49-F238E27FC236}">
                  <a16:creationId xmlns:a16="http://schemas.microsoft.com/office/drawing/2014/main" id="{3F74C51C-F3BB-A941-9437-1C1408FE15CC}"/>
                </a:ext>
              </a:extLst>
            </p:cNvPr>
            <p:cNvSpPr/>
            <p:nvPr/>
          </p:nvSpPr>
          <p:spPr>
            <a:xfrm>
              <a:off x="1378991" y="5421177"/>
              <a:ext cx="81280" cy="78742"/>
            </a:xfrm>
            <a:prstGeom prst="ellipse">
              <a:avLst/>
            </a:prstGeom>
            <a:solidFill>
              <a:schemeClr val="bg1">
                <a:lumMod val="65000"/>
              </a:schemeClr>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endParaRPr lang="en-US" sz="2000" dirty="0">
                <a:solidFill>
                  <a:schemeClr val="bg1">
                    <a:lumMod val="65000"/>
                  </a:schemeClr>
                </a:solidFill>
              </a:endParaRPr>
            </a:p>
          </p:txBody>
        </p:sp>
        <p:sp>
          <p:nvSpPr>
            <p:cNvPr id="46" name="Oval 45">
              <a:extLst>
                <a:ext uri="{FF2B5EF4-FFF2-40B4-BE49-F238E27FC236}">
                  <a16:creationId xmlns:a16="http://schemas.microsoft.com/office/drawing/2014/main" id="{BD1D11F2-3EF4-A84B-B188-79CB63A40A9C}"/>
                </a:ext>
              </a:extLst>
            </p:cNvPr>
            <p:cNvSpPr/>
            <p:nvPr/>
          </p:nvSpPr>
          <p:spPr>
            <a:xfrm>
              <a:off x="3179278" y="5431500"/>
              <a:ext cx="81280" cy="78742"/>
            </a:xfrm>
            <a:prstGeom prst="ellipse">
              <a:avLst/>
            </a:prstGeom>
            <a:solidFill>
              <a:schemeClr val="bg1">
                <a:lumMod val="65000"/>
              </a:schemeClr>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endParaRPr lang="en-US" sz="2000" dirty="0">
                <a:solidFill>
                  <a:schemeClr val="bg1">
                    <a:lumMod val="65000"/>
                  </a:schemeClr>
                </a:solidFill>
              </a:endParaRPr>
            </a:p>
          </p:txBody>
        </p:sp>
        <p:sp>
          <p:nvSpPr>
            <p:cNvPr id="47" name="Oval 46">
              <a:extLst>
                <a:ext uri="{FF2B5EF4-FFF2-40B4-BE49-F238E27FC236}">
                  <a16:creationId xmlns:a16="http://schemas.microsoft.com/office/drawing/2014/main" id="{6D273ADD-638B-174D-B0D4-C932872B7BB1}"/>
                </a:ext>
              </a:extLst>
            </p:cNvPr>
            <p:cNvSpPr/>
            <p:nvPr/>
          </p:nvSpPr>
          <p:spPr>
            <a:xfrm>
              <a:off x="2750591" y="5437219"/>
              <a:ext cx="81280" cy="78742"/>
            </a:xfrm>
            <a:prstGeom prst="ellipse">
              <a:avLst/>
            </a:prstGeom>
            <a:solidFill>
              <a:srgbClr val="FF0000"/>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endParaRPr lang="en-US" sz="2000" dirty="0">
                <a:solidFill>
                  <a:srgbClr val="FF0000"/>
                </a:solidFill>
              </a:endParaRPr>
            </a:p>
          </p:txBody>
        </p:sp>
        <p:sp>
          <p:nvSpPr>
            <p:cNvPr id="48" name="Oval 47">
              <a:extLst>
                <a:ext uri="{FF2B5EF4-FFF2-40B4-BE49-F238E27FC236}">
                  <a16:creationId xmlns:a16="http://schemas.microsoft.com/office/drawing/2014/main" id="{DE156C6E-3C60-604E-9F58-44EBA49DA3C4}"/>
                </a:ext>
              </a:extLst>
            </p:cNvPr>
            <p:cNvSpPr/>
            <p:nvPr/>
          </p:nvSpPr>
          <p:spPr>
            <a:xfrm>
              <a:off x="4563912" y="5435950"/>
              <a:ext cx="81280" cy="78742"/>
            </a:xfrm>
            <a:prstGeom prst="ellipse">
              <a:avLst/>
            </a:prstGeom>
            <a:solidFill>
              <a:srgbClr val="FF0000"/>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endParaRPr lang="en-US" sz="2000" dirty="0">
                <a:solidFill>
                  <a:srgbClr val="FF0000"/>
                </a:solidFill>
              </a:endParaRPr>
            </a:p>
          </p:txBody>
        </p:sp>
        <p:sp>
          <p:nvSpPr>
            <p:cNvPr id="49" name="Oval 48">
              <a:extLst>
                <a:ext uri="{FF2B5EF4-FFF2-40B4-BE49-F238E27FC236}">
                  <a16:creationId xmlns:a16="http://schemas.microsoft.com/office/drawing/2014/main" id="{80D9B3C6-7F22-CD4E-8A72-485D44D3EF5F}"/>
                </a:ext>
              </a:extLst>
            </p:cNvPr>
            <p:cNvSpPr/>
            <p:nvPr/>
          </p:nvSpPr>
          <p:spPr>
            <a:xfrm>
              <a:off x="5009348" y="5435950"/>
              <a:ext cx="81280" cy="78742"/>
            </a:xfrm>
            <a:prstGeom prst="ellipse">
              <a:avLst/>
            </a:prstGeom>
            <a:solidFill>
              <a:schemeClr val="tx2">
                <a:lumMod val="75000"/>
              </a:schemeClr>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endParaRPr lang="en-US" sz="2000" dirty="0">
                <a:solidFill>
                  <a:srgbClr val="FF0000"/>
                </a:solidFill>
              </a:endParaRPr>
            </a:p>
          </p:txBody>
        </p:sp>
        <p:sp>
          <p:nvSpPr>
            <p:cNvPr id="50" name="Oval 49">
              <a:extLst>
                <a:ext uri="{FF2B5EF4-FFF2-40B4-BE49-F238E27FC236}">
                  <a16:creationId xmlns:a16="http://schemas.microsoft.com/office/drawing/2014/main" id="{4E589F2D-E93E-E248-846C-9EDB96EE0B5A}"/>
                </a:ext>
              </a:extLst>
            </p:cNvPr>
            <p:cNvSpPr/>
            <p:nvPr/>
          </p:nvSpPr>
          <p:spPr>
            <a:xfrm>
              <a:off x="5600699" y="4793703"/>
              <a:ext cx="81280" cy="78742"/>
            </a:xfrm>
            <a:prstGeom prst="ellipse">
              <a:avLst/>
            </a:prstGeom>
            <a:solidFill>
              <a:schemeClr val="tx2">
                <a:lumMod val="75000"/>
              </a:schemeClr>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endParaRPr lang="en-US" sz="2000" dirty="0">
                <a:solidFill>
                  <a:srgbClr val="FF0000"/>
                </a:solidFill>
              </a:endParaRPr>
            </a:p>
          </p:txBody>
        </p:sp>
      </p:grpSp>
      <p:sp>
        <p:nvSpPr>
          <p:cNvPr id="5" name="TextBox 4">
            <a:extLst>
              <a:ext uri="{FF2B5EF4-FFF2-40B4-BE49-F238E27FC236}">
                <a16:creationId xmlns:a16="http://schemas.microsoft.com/office/drawing/2014/main" id="{F6B77418-C007-4747-BEC3-8B196AB8F62D}"/>
              </a:ext>
            </a:extLst>
          </p:cNvPr>
          <p:cNvSpPr txBox="1"/>
          <p:nvPr/>
        </p:nvSpPr>
        <p:spPr>
          <a:xfrm>
            <a:off x="9586229" y="5866880"/>
            <a:ext cx="2599686" cy="683264"/>
          </a:xfrm>
          <a:prstGeom prst="rect">
            <a:avLst/>
          </a:prstGeom>
          <a:noFill/>
        </p:spPr>
        <p:txBody>
          <a:bodyPr wrap="none" lIns="118872" tIns="91440" rIns="118872" bIns="91440" rtlCol="0" anchor="ctr" anchorCtr="0">
            <a:spAutoFit/>
          </a:bodyPr>
          <a:lstStyle/>
          <a:p>
            <a:pPr>
              <a:lnSpc>
                <a:spcPct val="90000"/>
              </a:lnSpc>
            </a:pPr>
            <a:r>
              <a:rPr lang="en-US" dirty="0">
                <a:hlinkClick r:id="rId3"/>
              </a:rPr>
              <a:t>https://trilinos.github.io/</a:t>
            </a:r>
            <a:endParaRPr lang="en-US" dirty="0"/>
          </a:p>
          <a:p>
            <a:pPr>
              <a:lnSpc>
                <a:spcPct val="90000"/>
              </a:lnSpc>
            </a:pPr>
            <a:endParaRPr lang="en-US" dirty="0"/>
          </a:p>
        </p:txBody>
      </p:sp>
      <p:sp>
        <p:nvSpPr>
          <p:cNvPr id="6" name="TextBox 5">
            <a:extLst>
              <a:ext uri="{FF2B5EF4-FFF2-40B4-BE49-F238E27FC236}">
                <a16:creationId xmlns:a16="http://schemas.microsoft.com/office/drawing/2014/main" id="{5322C137-6FBC-ABC6-FEAD-5C18D8275DC8}"/>
              </a:ext>
            </a:extLst>
          </p:cNvPr>
          <p:cNvSpPr txBox="1"/>
          <p:nvPr/>
        </p:nvSpPr>
        <p:spPr>
          <a:xfrm>
            <a:off x="1681843" y="6293314"/>
            <a:ext cx="10221684" cy="646331"/>
          </a:xfrm>
          <a:prstGeom prst="rect">
            <a:avLst/>
          </a:prstGeom>
          <a:noFill/>
        </p:spPr>
        <p:txBody>
          <a:bodyPr wrap="square">
            <a:spAutoFit/>
          </a:bodyPr>
          <a:lstStyle/>
          <a:p>
            <a:pPr>
              <a:spcBef>
                <a:spcPts val="400"/>
              </a:spcBef>
            </a:pPr>
            <a:r>
              <a:rPr lang="en-US" sz="1800" b="0" i="0" dirty="0">
                <a:solidFill>
                  <a:srgbClr val="111111"/>
                </a:solidFill>
                <a:effectLst/>
                <a:latin typeface="+mn-lt"/>
              </a:rPr>
              <a:t>David M. Rogers, </a:t>
            </a:r>
            <a:r>
              <a:rPr lang="en-US" dirty="0"/>
              <a:t>Collaborative Software Development in</a:t>
            </a:r>
            <a:r>
              <a:rPr lang="en-US" sz="1800" b="0" i="0" dirty="0">
                <a:solidFill>
                  <a:srgbClr val="111111"/>
                </a:solidFill>
                <a:effectLst/>
                <a:latin typeface="+mn-lt"/>
              </a:rPr>
              <a:t> Better Scientific Software tutorial, in ISC High Performance, Hamburg, Germany and online, 2023. DOI: </a:t>
            </a:r>
            <a:r>
              <a:rPr lang="en-US" sz="1800" b="0" i="0" u="sng" dirty="0">
                <a:solidFill>
                  <a:srgbClr val="111111"/>
                </a:solidFill>
                <a:effectLst/>
                <a:latin typeface="+mn-lt"/>
                <a:hlinkClick r:id="rId4"/>
              </a:rPr>
              <a:t>10.6084/m9.figshare.22790762</a:t>
            </a:r>
            <a:r>
              <a:rPr lang="en-US" sz="1800" b="0" i="0" dirty="0">
                <a:solidFill>
                  <a:srgbClr val="111111"/>
                </a:solidFill>
                <a:effectLst/>
                <a:latin typeface="+mn-lt"/>
              </a:rPr>
              <a:t>.</a:t>
            </a:r>
          </a:p>
        </p:txBody>
      </p:sp>
    </p:spTree>
    <p:extLst>
      <p:ext uri="{BB962C8B-B14F-4D97-AF65-F5344CB8AC3E}">
        <p14:creationId xmlns:p14="http://schemas.microsoft.com/office/powerpoint/2010/main" val="157989349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61C7ED-2A46-3949-B59E-F7D19B5D57B0}"/>
              </a:ext>
            </a:extLst>
          </p:cNvPr>
          <p:cNvSpPr>
            <a:spLocks noGrp="1"/>
          </p:cNvSpPr>
          <p:nvPr>
            <p:ph type="title"/>
          </p:nvPr>
        </p:nvSpPr>
        <p:spPr/>
        <p:txBody>
          <a:bodyPr>
            <a:normAutofit/>
          </a:bodyPr>
          <a:lstStyle/>
          <a:p>
            <a:r>
              <a:rPr lang="en-US" dirty="0"/>
              <a:t>Current Open MPI Workflow</a:t>
            </a:r>
            <a:br>
              <a:rPr lang="en-US" dirty="0"/>
            </a:br>
            <a:endParaRPr lang="en-US" sz="2000" b="0" dirty="0"/>
          </a:p>
        </p:txBody>
      </p:sp>
      <p:sp>
        <p:nvSpPr>
          <p:cNvPr id="15" name="Content Placeholder 14">
            <a:extLst>
              <a:ext uri="{FF2B5EF4-FFF2-40B4-BE49-F238E27FC236}">
                <a16:creationId xmlns:a16="http://schemas.microsoft.com/office/drawing/2014/main" id="{1C33023D-877A-8821-0CBE-FD8B52F84756}"/>
              </a:ext>
            </a:extLst>
          </p:cNvPr>
          <p:cNvSpPr>
            <a:spLocks noGrp="1"/>
          </p:cNvSpPr>
          <p:nvPr>
            <p:ph idx="1"/>
          </p:nvPr>
        </p:nvSpPr>
        <p:spPr>
          <a:xfrm>
            <a:off x="838200" y="1825625"/>
            <a:ext cx="5493191" cy="4351338"/>
          </a:xfrm>
        </p:spPr>
        <p:txBody>
          <a:bodyPr>
            <a:normAutofit fontScale="92500" lnSpcReduction="10000"/>
          </a:bodyPr>
          <a:lstStyle/>
          <a:p>
            <a:pPr>
              <a:spcBef>
                <a:spcPts val="800"/>
              </a:spcBef>
            </a:pPr>
            <a:r>
              <a:rPr lang="en-US" sz="2400" dirty="0"/>
              <a:t>Workflow designed so that</a:t>
            </a:r>
          </a:p>
          <a:p>
            <a:pPr marL="742950" lvl="1" indent="-285750">
              <a:spcBef>
                <a:spcPts val="800"/>
              </a:spcBef>
            </a:pPr>
            <a:r>
              <a:rPr lang="en-US" sz="1800" dirty="0"/>
              <a:t>Support two most recent releases</a:t>
            </a:r>
          </a:p>
          <a:p>
            <a:pPr marL="742950" lvl="1" indent="-285750">
              <a:spcBef>
                <a:spcPts val="800"/>
              </a:spcBef>
            </a:pPr>
            <a:r>
              <a:rPr lang="en-US" sz="1800" dirty="0"/>
              <a:t>Issues are addressed on all applicable branches</a:t>
            </a:r>
          </a:p>
          <a:p>
            <a:pPr marL="742950" lvl="1" indent="-285750">
              <a:spcBef>
                <a:spcPts val="800"/>
              </a:spcBef>
            </a:pPr>
            <a:r>
              <a:rPr lang="en-US" sz="1800" dirty="0"/>
              <a:t>All PR’s reviewed by at least one core developer</a:t>
            </a:r>
          </a:p>
          <a:p>
            <a:pPr marL="742950" lvl="1" indent="-285750">
              <a:spcBef>
                <a:spcPts val="800"/>
              </a:spcBef>
            </a:pPr>
            <a:r>
              <a:rPr lang="en-US" sz="1800" dirty="0"/>
              <a:t>Main and supported branches work at all times</a:t>
            </a:r>
          </a:p>
          <a:p>
            <a:pPr marL="742950" lvl="1" indent="-285750">
              <a:spcBef>
                <a:spcPts val="800"/>
              </a:spcBef>
            </a:pPr>
            <a:r>
              <a:rPr lang="en-US" sz="1800" dirty="0"/>
              <a:t>Developers work on main or feature branches depending on complexity of the changes</a:t>
            </a:r>
          </a:p>
          <a:p>
            <a:pPr>
              <a:spcBef>
                <a:spcPts val="800"/>
              </a:spcBef>
            </a:pPr>
            <a:r>
              <a:rPr lang="en-US" sz="2400" dirty="0"/>
              <a:t>Testing</a:t>
            </a:r>
          </a:p>
          <a:p>
            <a:pPr marL="742950" lvl="1" indent="-285750">
              <a:spcBef>
                <a:spcPts val="800"/>
              </a:spcBef>
            </a:pPr>
            <a:r>
              <a:rPr lang="en-US" sz="1800" dirty="0"/>
              <a:t>CI testing on PR’s for any branch using Jenkins (limited set of compilers,  hardware, tests)</a:t>
            </a:r>
          </a:p>
          <a:p>
            <a:pPr marL="742950" lvl="1" indent="-285750">
              <a:spcBef>
                <a:spcPts val="800"/>
              </a:spcBef>
            </a:pPr>
            <a:r>
              <a:rPr lang="en-US" sz="1800" dirty="0"/>
              <a:t>Nightly testing on all branches using community-built MTT framework (more complex set of compilers, hardware, tests)</a:t>
            </a:r>
          </a:p>
          <a:p>
            <a:pPr marL="742950" lvl="1" indent="-285750">
              <a:spcBef>
                <a:spcPts val="800"/>
              </a:spcBef>
            </a:pPr>
            <a:r>
              <a:rPr lang="en-US" sz="1800" dirty="0"/>
              <a:t>Additional testing for release candidates</a:t>
            </a:r>
          </a:p>
        </p:txBody>
      </p:sp>
      <p:sp>
        <p:nvSpPr>
          <p:cNvPr id="34" name="Title 1">
            <a:extLst>
              <a:ext uri="{FF2B5EF4-FFF2-40B4-BE49-F238E27FC236}">
                <a16:creationId xmlns:a16="http://schemas.microsoft.com/office/drawing/2014/main" id="{2E105F85-320F-434E-AB49-14019F5FC0D3}"/>
              </a:ext>
            </a:extLst>
          </p:cNvPr>
          <p:cNvSpPr txBox="1">
            <a:spLocks/>
          </p:cNvSpPr>
          <p:nvPr/>
        </p:nvSpPr>
        <p:spPr bwMode="auto">
          <a:xfrm>
            <a:off x="5873238" y="5959726"/>
            <a:ext cx="4069207" cy="484820"/>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Autofit/>
          </a:bodyPr>
          <a:lstStyle>
            <a:lvl1pPr marL="0" indent="0" algn="l" rtl="0" eaLnBrk="1" fontAlgn="base" hangingPunct="1">
              <a:lnSpc>
                <a:spcPct val="85000"/>
              </a:lnSpc>
              <a:spcBef>
                <a:spcPct val="0"/>
              </a:spcBef>
              <a:spcAft>
                <a:spcPct val="0"/>
              </a:spcAft>
              <a:defRPr sz="2800" b="1" kern="1200" baseline="0">
                <a:solidFill>
                  <a:schemeClr val="tx1"/>
                </a:solidFill>
                <a:latin typeface="+mn-lt"/>
                <a:ea typeface="+mj-ea"/>
                <a:cs typeface="+mj-cs"/>
              </a:defRPr>
            </a:lvl1pPr>
            <a:lvl2pPr algn="l" rtl="0" eaLnBrk="1" fontAlgn="base" hangingPunct="1">
              <a:lnSpc>
                <a:spcPct val="85000"/>
              </a:lnSpc>
              <a:spcBef>
                <a:spcPct val="0"/>
              </a:spcBef>
              <a:spcAft>
                <a:spcPct val="0"/>
              </a:spcAft>
              <a:defRPr sz="3000">
                <a:solidFill>
                  <a:srgbClr val="006C3A"/>
                </a:solidFill>
                <a:latin typeface="Arial Black" pitchFamily="34" charset="0"/>
              </a:defRPr>
            </a:lvl2pPr>
            <a:lvl3pPr algn="l" rtl="0" eaLnBrk="1" fontAlgn="base" hangingPunct="1">
              <a:lnSpc>
                <a:spcPct val="85000"/>
              </a:lnSpc>
              <a:spcBef>
                <a:spcPct val="0"/>
              </a:spcBef>
              <a:spcAft>
                <a:spcPct val="0"/>
              </a:spcAft>
              <a:defRPr sz="3000">
                <a:solidFill>
                  <a:srgbClr val="006C3A"/>
                </a:solidFill>
                <a:latin typeface="Arial Black" pitchFamily="34" charset="0"/>
              </a:defRPr>
            </a:lvl3pPr>
            <a:lvl4pPr algn="l" rtl="0" eaLnBrk="1" fontAlgn="base" hangingPunct="1">
              <a:lnSpc>
                <a:spcPct val="85000"/>
              </a:lnSpc>
              <a:spcBef>
                <a:spcPct val="0"/>
              </a:spcBef>
              <a:spcAft>
                <a:spcPct val="0"/>
              </a:spcAft>
              <a:defRPr sz="3000">
                <a:solidFill>
                  <a:srgbClr val="006C3A"/>
                </a:solidFill>
                <a:latin typeface="Arial Black" pitchFamily="34" charset="0"/>
              </a:defRPr>
            </a:lvl4pPr>
            <a:lvl5pPr algn="l" rtl="0" eaLnBrk="1" fontAlgn="base" hangingPunct="1">
              <a:lnSpc>
                <a:spcPct val="85000"/>
              </a:lnSpc>
              <a:spcBef>
                <a:spcPct val="0"/>
              </a:spcBef>
              <a:spcAft>
                <a:spcPct val="0"/>
              </a:spcAft>
              <a:defRPr sz="3000">
                <a:solidFill>
                  <a:srgbClr val="006C3A"/>
                </a:solidFill>
                <a:latin typeface="Arial Black" pitchFamily="34" charset="0"/>
              </a:defRPr>
            </a:lvl5pPr>
            <a:lvl6pPr marL="457200" algn="l" rtl="0" eaLnBrk="1" fontAlgn="base" hangingPunct="1">
              <a:lnSpc>
                <a:spcPct val="85000"/>
              </a:lnSpc>
              <a:spcBef>
                <a:spcPct val="0"/>
              </a:spcBef>
              <a:spcAft>
                <a:spcPct val="0"/>
              </a:spcAft>
              <a:defRPr sz="3000">
                <a:solidFill>
                  <a:srgbClr val="006C3A"/>
                </a:solidFill>
                <a:latin typeface="Arial Black" pitchFamily="34" charset="0"/>
              </a:defRPr>
            </a:lvl6pPr>
            <a:lvl7pPr marL="914400" algn="l" rtl="0" eaLnBrk="1" fontAlgn="base" hangingPunct="1">
              <a:lnSpc>
                <a:spcPct val="85000"/>
              </a:lnSpc>
              <a:spcBef>
                <a:spcPct val="0"/>
              </a:spcBef>
              <a:spcAft>
                <a:spcPct val="0"/>
              </a:spcAft>
              <a:defRPr sz="3000">
                <a:solidFill>
                  <a:srgbClr val="006C3A"/>
                </a:solidFill>
                <a:latin typeface="Arial Black" pitchFamily="34" charset="0"/>
              </a:defRPr>
            </a:lvl7pPr>
            <a:lvl8pPr marL="1371600" algn="l" rtl="0" eaLnBrk="1" fontAlgn="base" hangingPunct="1">
              <a:lnSpc>
                <a:spcPct val="85000"/>
              </a:lnSpc>
              <a:spcBef>
                <a:spcPct val="0"/>
              </a:spcBef>
              <a:spcAft>
                <a:spcPct val="0"/>
              </a:spcAft>
              <a:defRPr sz="3000">
                <a:solidFill>
                  <a:srgbClr val="006C3A"/>
                </a:solidFill>
                <a:latin typeface="Arial Black" pitchFamily="34" charset="0"/>
              </a:defRPr>
            </a:lvl8pPr>
            <a:lvl9pPr marL="1828800" algn="l" rtl="0" eaLnBrk="1" fontAlgn="base" hangingPunct="1">
              <a:lnSpc>
                <a:spcPct val="85000"/>
              </a:lnSpc>
              <a:spcBef>
                <a:spcPct val="0"/>
              </a:spcBef>
              <a:spcAft>
                <a:spcPct val="0"/>
              </a:spcAft>
              <a:defRPr sz="3000">
                <a:solidFill>
                  <a:srgbClr val="006C3A"/>
                </a:solidFill>
                <a:latin typeface="Arial Black" pitchFamily="34" charset="0"/>
              </a:defRPr>
            </a:lvl9pPr>
          </a:lstStyle>
          <a:p>
            <a:r>
              <a:rPr lang="en-US" sz="2000" b="0" dirty="0">
                <a:hlinkClick r:id="rId3"/>
              </a:rPr>
              <a:t>https://www.open-mpi.org</a:t>
            </a:r>
            <a:endParaRPr lang="en-US" sz="2000" b="0" dirty="0"/>
          </a:p>
        </p:txBody>
      </p:sp>
      <p:sp>
        <p:nvSpPr>
          <p:cNvPr id="6" name="TextBox 5">
            <a:extLst>
              <a:ext uri="{FF2B5EF4-FFF2-40B4-BE49-F238E27FC236}">
                <a16:creationId xmlns:a16="http://schemas.microsoft.com/office/drawing/2014/main" id="{30BC99F2-4174-68E8-494E-8AF37568F5E0}"/>
              </a:ext>
            </a:extLst>
          </p:cNvPr>
          <p:cNvSpPr txBox="1"/>
          <p:nvPr/>
        </p:nvSpPr>
        <p:spPr>
          <a:xfrm>
            <a:off x="1681843" y="6293314"/>
            <a:ext cx="10221684" cy="646331"/>
          </a:xfrm>
          <a:prstGeom prst="rect">
            <a:avLst/>
          </a:prstGeom>
          <a:noFill/>
        </p:spPr>
        <p:txBody>
          <a:bodyPr wrap="square">
            <a:spAutoFit/>
          </a:bodyPr>
          <a:lstStyle/>
          <a:p>
            <a:pPr>
              <a:spcBef>
                <a:spcPts val="400"/>
              </a:spcBef>
            </a:pPr>
            <a:r>
              <a:rPr lang="en-US" sz="1800" b="0" i="0" dirty="0">
                <a:solidFill>
                  <a:srgbClr val="111111"/>
                </a:solidFill>
                <a:effectLst/>
                <a:latin typeface="+mn-lt"/>
              </a:rPr>
              <a:t>David M. Rogers, </a:t>
            </a:r>
            <a:r>
              <a:rPr lang="en-US" dirty="0"/>
              <a:t>Collaborative Software Development in</a:t>
            </a:r>
            <a:r>
              <a:rPr lang="en-US" sz="1800" b="0" i="0" dirty="0">
                <a:solidFill>
                  <a:srgbClr val="111111"/>
                </a:solidFill>
                <a:effectLst/>
                <a:latin typeface="+mn-lt"/>
              </a:rPr>
              <a:t> Better Scientific Software tutorial, in ISC High Performance, Hamburg, Germany and online, 2023. DOI: </a:t>
            </a:r>
            <a:r>
              <a:rPr lang="en-US" sz="1800" b="0" i="0" u="sng" dirty="0">
                <a:solidFill>
                  <a:srgbClr val="111111"/>
                </a:solidFill>
                <a:effectLst/>
                <a:latin typeface="+mn-lt"/>
                <a:hlinkClick r:id="rId4"/>
              </a:rPr>
              <a:t>10.6084/m9.figshare.22790762</a:t>
            </a:r>
            <a:r>
              <a:rPr lang="en-US" sz="1800" b="0" i="0" dirty="0">
                <a:solidFill>
                  <a:srgbClr val="111111"/>
                </a:solidFill>
                <a:effectLst/>
                <a:latin typeface="+mn-lt"/>
              </a:rPr>
              <a:t>.</a:t>
            </a:r>
          </a:p>
        </p:txBody>
      </p:sp>
      <p:sp>
        <p:nvSpPr>
          <p:cNvPr id="17" name="Title 1">
            <a:extLst>
              <a:ext uri="{FF2B5EF4-FFF2-40B4-BE49-F238E27FC236}">
                <a16:creationId xmlns:a16="http://schemas.microsoft.com/office/drawing/2014/main" id="{389ED03A-AD04-117D-EA80-36E5F432A8A0}"/>
              </a:ext>
            </a:extLst>
          </p:cNvPr>
          <p:cNvSpPr txBox="1">
            <a:spLocks/>
          </p:cNvSpPr>
          <p:nvPr/>
        </p:nvSpPr>
        <p:spPr bwMode="auto">
          <a:xfrm>
            <a:off x="6303823" y="5959726"/>
            <a:ext cx="4069207" cy="484820"/>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Autofit/>
          </a:bodyPr>
          <a:lstStyle>
            <a:lvl1pPr marL="0" indent="0" algn="l" rtl="0" eaLnBrk="1" fontAlgn="base" hangingPunct="1">
              <a:lnSpc>
                <a:spcPct val="85000"/>
              </a:lnSpc>
              <a:spcBef>
                <a:spcPct val="0"/>
              </a:spcBef>
              <a:spcAft>
                <a:spcPct val="0"/>
              </a:spcAft>
              <a:defRPr sz="2800" b="1" kern="1200" baseline="0">
                <a:solidFill>
                  <a:schemeClr val="tx1"/>
                </a:solidFill>
                <a:latin typeface="+mn-lt"/>
                <a:ea typeface="+mj-ea"/>
                <a:cs typeface="+mj-cs"/>
              </a:defRPr>
            </a:lvl1pPr>
            <a:lvl2pPr algn="l" rtl="0" eaLnBrk="1" fontAlgn="base" hangingPunct="1">
              <a:lnSpc>
                <a:spcPct val="85000"/>
              </a:lnSpc>
              <a:spcBef>
                <a:spcPct val="0"/>
              </a:spcBef>
              <a:spcAft>
                <a:spcPct val="0"/>
              </a:spcAft>
              <a:defRPr sz="3000">
                <a:solidFill>
                  <a:srgbClr val="006C3A"/>
                </a:solidFill>
                <a:latin typeface="Arial Black" pitchFamily="34" charset="0"/>
              </a:defRPr>
            </a:lvl2pPr>
            <a:lvl3pPr algn="l" rtl="0" eaLnBrk="1" fontAlgn="base" hangingPunct="1">
              <a:lnSpc>
                <a:spcPct val="85000"/>
              </a:lnSpc>
              <a:spcBef>
                <a:spcPct val="0"/>
              </a:spcBef>
              <a:spcAft>
                <a:spcPct val="0"/>
              </a:spcAft>
              <a:defRPr sz="3000">
                <a:solidFill>
                  <a:srgbClr val="006C3A"/>
                </a:solidFill>
                <a:latin typeface="Arial Black" pitchFamily="34" charset="0"/>
              </a:defRPr>
            </a:lvl3pPr>
            <a:lvl4pPr algn="l" rtl="0" eaLnBrk="1" fontAlgn="base" hangingPunct="1">
              <a:lnSpc>
                <a:spcPct val="85000"/>
              </a:lnSpc>
              <a:spcBef>
                <a:spcPct val="0"/>
              </a:spcBef>
              <a:spcAft>
                <a:spcPct val="0"/>
              </a:spcAft>
              <a:defRPr sz="3000">
                <a:solidFill>
                  <a:srgbClr val="006C3A"/>
                </a:solidFill>
                <a:latin typeface="Arial Black" pitchFamily="34" charset="0"/>
              </a:defRPr>
            </a:lvl4pPr>
            <a:lvl5pPr algn="l" rtl="0" eaLnBrk="1" fontAlgn="base" hangingPunct="1">
              <a:lnSpc>
                <a:spcPct val="85000"/>
              </a:lnSpc>
              <a:spcBef>
                <a:spcPct val="0"/>
              </a:spcBef>
              <a:spcAft>
                <a:spcPct val="0"/>
              </a:spcAft>
              <a:defRPr sz="3000">
                <a:solidFill>
                  <a:srgbClr val="006C3A"/>
                </a:solidFill>
                <a:latin typeface="Arial Black" pitchFamily="34" charset="0"/>
              </a:defRPr>
            </a:lvl5pPr>
            <a:lvl6pPr marL="457200" algn="l" rtl="0" eaLnBrk="1" fontAlgn="base" hangingPunct="1">
              <a:lnSpc>
                <a:spcPct val="85000"/>
              </a:lnSpc>
              <a:spcBef>
                <a:spcPct val="0"/>
              </a:spcBef>
              <a:spcAft>
                <a:spcPct val="0"/>
              </a:spcAft>
              <a:defRPr sz="3000">
                <a:solidFill>
                  <a:srgbClr val="006C3A"/>
                </a:solidFill>
                <a:latin typeface="Arial Black" pitchFamily="34" charset="0"/>
              </a:defRPr>
            </a:lvl6pPr>
            <a:lvl7pPr marL="914400" algn="l" rtl="0" eaLnBrk="1" fontAlgn="base" hangingPunct="1">
              <a:lnSpc>
                <a:spcPct val="85000"/>
              </a:lnSpc>
              <a:spcBef>
                <a:spcPct val="0"/>
              </a:spcBef>
              <a:spcAft>
                <a:spcPct val="0"/>
              </a:spcAft>
              <a:defRPr sz="3000">
                <a:solidFill>
                  <a:srgbClr val="006C3A"/>
                </a:solidFill>
                <a:latin typeface="Arial Black" pitchFamily="34" charset="0"/>
              </a:defRPr>
            </a:lvl7pPr>
            <a:lvl8pPr marL="1371600" algn="l" rtl="0" eaLnBrk="1" fontAlgn="base" hangingPunct="1">
              <a:lnSpc>
                <a:spcPct val="85000"/>
              </a:lnSpc>
              <a:spcBef>
                <a:spcPct val="0"/>
              </a:spcBef>
              <a:spcAft>
                <a:spcPct val="0"/>
              </a:spcAft>
              <a:defRPr sz="3000">
                <a:solidFill>
                  <a:srgbClr val="006C3A"/>
                </a:solidFill>
                <a:latin typeface="Arial Black" pitchFamily="34" charset="0"/>
              </a:defRPr>
            </a:lvl8pPr>
            <a:lvl9pPr marL="1828800" algn="l" rtl="0" eaLnBrk="1" fontAlgn="base" hangingPunct="1">
              <a:lnSpc>
                <a:spcPct val="85000"/>
              </a:lnSpc>
              <a:spcBef>
                <a:spcPct val="0"/>
              </a:spcBef>
              <a:spcAft>
                <a:spcPct val="0"/>
              </a:spcAft>
              <a:defRPr sz="3000">
                <a:solidFill>
                  <a:srgbClr val="006C3A"/>
                </a:solidFill>
                <a:latin typeface="Arial Black" pitchFamily="34" charset="0"/>
              </a:defRPr>
            </a:lvl9pPr>
          </a:lstStyle>
          <a:p>
            <a:r>
              <a:rPr lang="en-US" sz="2000" b="0" dirty="0">
                <a:hlinkClick r:id="rId3"/>
              </a:rPr>
              <a:t>https://www.open-mpi.org</a:t>
            </a:r>
            <a:endParaRPr lang="en-US" sz="2000" b="0" dirty="0"/>
          </a:p>
        </p:txBody>
      </p:sp>
      <p:grpSp>
        <p:nvGrpSpPr>
          <p:cNvPr id="18" name="Group 17">
            <a:extLst>
              <a:ext uri="{FF2B5EF4-FFF2-40B4-BE49-F238E27FC236}">
                <a16:creationId xmlns:a16="http://schemas.microsoft.com/office/drawing/2014/main" id="{B6EB7DD9-1E25-E9DF-CA76-77B2F4A4FB59}"/>
              </a:ext>
            </a:extLst>
          </p:cNvPr>
          <p:cNvGrpSpPr/>
          <p:nvPr/>
        </p:nvGrpSpPr>
        <p:grpSpPr>
          <a:xfrm>
            <a:off x="6303823" y="2710455"/>
            <a:ext cx="5661105" cy="3156625"/>
            <a:chOff x="342922" y="2857416"/>
            <a:chExt cx="5661105" cy="3156625"/>
          </a:xfrm>
        </p:grpSpPr>
        <p:sp>
          <p:nvSpPr>
            <p:cNvPr id="19" name="TextBox 18">
              <a:extLst>
                <a:ext uri="{FF2B5EF4-FFF2-40B4-BE49-F238E27FC236}">
                  <a16:creationId xmlns:a16="http://schemas.microsoft.com/office/drawing/2014/main" id="{2D1FF74F-FACB-26FF-C6CA-1F91C683F437}"/>
                </a:ext>
              </a:extLst>
            </p:cNvPr>
            <p:cNvSpPr txBox="1"/>
            <p:nvPr/>
          </p:nvSpPr>
          <p:spPr>
            <a:xfrm>
              <a:off x="1307296" y="5562848"/>
              <a:ext cx="1104900" cy="433965"/>
            </a:xfrm>
            <a:prstGeom prst="rect">
              <a:avLst/>
            </a:prstGeom>
            <a:noFill/>
          </p:spPr>
          <p:txBody>
            <a:bodyPr wrap="square" lIns="118872" tIns="91440" rIns="118872" bIns="91440" rtlCol="0" anchor="ctr" anchorCtr="0">
              <a:spAutoFit/>
            </a:bodyPr>
            <a:lstStyle/>
            <a:p>
              <a:pPr algn="l">
                <a:lnSpc>
                  <a:spcPct val="90000"/>
                </a:lnSpc>
              </a:pPr>
              <a:r>
                <a:rPr lang="en-US" dirty="0">
                  <a:solidFill>
                    <a:schemeClr val="bg1">
                      <a:lumMod val="65000"/>
                    </a:schemeClr>
                  </a:solidFill>
                </a:rPr>
                <a:t>Issue 1</a:t>
              </a:r>
            </a:p>
          </p:txBody>
        </p:sp>
        <p:sp>
          <p:nvSpPr>
            <p:cNvPr id="20" name="TextBox 19">
              <a:extLst>
                <a:ext uri="{FF2B5EF4-FFF2-40B4-BE49-F238E27FC236}">
                  <a16:creationId xmlns:a16="http://schemas.microsoft.com/office/drawing/2014/main" id="{0703F5E3-DC49-22AB-75E3-EDF71AA58573}"/>
                </a:ext>
              </a:extLst>
            </p:cNvPr>
            <p:cNvSpPr txBox="1"/>
            <p:nvPr/>
          </p:nvSpPr>
          <p:spPr>
            <a:xfrm>
              <a:off x="3912740" y="5580076"/>
              <a:ext cx="1104900" cy="433965"/>
            </a:xfrm>
            <a:prstGeom prst="rect">
              <a:avLst/>
            </a:prstGeom>
            <a:noFill/>
          </p:spPr>
          <p:txBody>
            <a:bodyPr wrap="square" lIns="118872" tIns="91440" rIns="118872" bIns="91440" rtlCol="0" anchor="ctr" anchorCtr="0">
              <a:spAutoFit/>
            </a:bodyPr>
            <a:lstStyle/>
            <a:p>
              <a:pPr algn="l">
                <a:lnSpc>
                  <a:spcPct val="90000"/>
                </a:lnSpc>
              </a:pPr>
              <a:r>
                <a:rPr lang="en-US" dirty="0">
                  <a:solidFill>
                    <a:srgbClr val="FF0000"/>
                  </a:solidFill>
                </a:rPr>
                <a:t>Issue 2</a:t>
              </a:r>
            </a:p>
          </p:txBody>
        </p:sp>
        <p:grpSp>
          <p:nvGrpSpPr>
            <p:cNvPr id="23" name="Group 22">
              <a:extLst>
                <a:ext uri="{FF2B5EF4-FFF2-40B4-BE49-F238E27FC236}">
                  <a16:creationId xmlns:a16="http://schemas.microsoft.com/office/drawing/2014/main" id="{2487079A-5028-BDEF-66D1-B2D7F5B816ED}"/>
                </a:ext>
              </a:extLst>
            </p:cNvPr>
            <p:cNvGrpSpPr/>
            <p:nvPr/>
          </p:nvGrpSpPr>
          <p:grpSpPr>
            <a:xfrm>
              <a:off x="342922" y="2857416"/>
              <a:ext cx="5661105" cy="3099857"/>
              <a:chOff x="342922" y="3151338"/>
              <a:chExt cx="5661105" cy="3099857"/>
            </a:xfrm>
          </p:grpSpPr>
          <p:cxnSp>
            <p:nvCxnSpPr>
              <p:cNvPr id="24" name="Straight Arrow Connector 23">
                <a:extLst>
                  <a:ext uri="{FF2B5EF4-FFF2-40B4-BE49-F238E27FC236}">
                    <a16:creationId xmlns:a16="http://schemas.microsoft.com/office/drawing/2014/main" id="{03342270-FE6F-97D7-30A0-F923BEA0FDCA}"/>
                  </a:ext>
                </a:extLst>
              </p:cNvPr>
              <p:cNvCxnSpPr>
                <a:cxnSpLocks/>
              </p:cNvCxnSpPr>
              <p:nvPr/>
            </p:nvCxnSpPr>
            <p:spPr>
              <a:xfrm>
                <a:off x="362196" y="3641380"/>
                <a:ext cx="5520690" cy="0"/>
              </a:xfrm>
              <a:prstGeom prst="straightConnector1">
                <a:avLst/>
              </a:prstGeom>
              <a:ln w="3810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B2BE95BC-B735-7115-342D-7A85415E9D8B}"/>
                  </a:ext>
                </a:extLst>
              </p:cNvPr>
              <p:cNvCxnSpPr>
                <a:cxnSpLocks/>
              </p:cNvCxnSpPr>
              <p:nvPr/>
            </p:nvCxnSpPr>
            <p:spPr>
              <a:xfrm>
                <a:off x="342922" y="4700248"/>
                <a:ext cx="5539965" cy="44849"/>
              </a:xfrm>
              <a:prstGeom prst="straightConnector1">
                <a:avLst/>
              </a:prstGeom>
              <a:ln w="38100">
                <a:solidFill>
                  <a:srgbClr val="00B05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C0D317DA-9263-456E-96B0-9C525FDF6FA0}"/>
                  </a:ext>
                </a:extLst>
              </p:cNvPr>
              <p:cNvSpPr txBox="1"/>
              <p:nvPr/>
            </p:nvSpPr>
            <p:spPr>
              <a:xfrm>
                <a:off x="365746" y="4273158"/>
                <a:ext cx="2779222" cy="433965"/>
              </a:xfrm>
              <a:prstGeom prst="rect">
                <a:avLst/>
              </a:prstGeom>
              <a:noFill/>
            </p:spPr>
            <p:txBody>
              <a:bodyPr wrap="none" lIns="118872" tIns="91440" rIns="118872" bIns="91440" rtlCol="0" anchor="ctr" anchorCtr="0">
                <a:spAutoFit/>
              </a:bodyPr>
              <a:lstStyle/>
              <a:p>
                <a:pPr algn="l">
                  <a:lnSpc>
                    <a:spcPct val="90000"/>
                  </a:lnSpc>
                </a:pPr>
                <a:r>
                  <a:rPr lang="en-US" dirty="0">
                    <a:solidFill>
                      <a:srgbClr val="00B050"/>
                    </a:solidFill>
                  </a:rPr>
                  <a:t>Latest supported release</a:t>
                </a:r>
              </a:p>
            </p:txBody>
          </p:sp>
          <p:sp>
            <p:nvSpPr>
              <p:cNvPr id="29" name="TextBox 28">
                <a:extLst>
                  <a:ext uri="{FF2B5EF4-FFF2-40B4-BE49-F238E27FC236}">
                    <a16:creationId xmlns:a16="http://schemas.microsoft.com/office/drawing/2014/main" id="{3A4DD68B-CDB8-6FC6-5323-4E092E596881}"/>
                  </a:ext>
                </a:extLst>
              </p:cNvPr>
              <p:cNvSpPr txBox="1"/>
              <p:nvPr/>
            </p:nvSpPr>
            <p:spPr>
              <a:xfrm>
                <a:off x="414897" y="3151338"/>
                <a:ext cx="740203" cy="433965"/>
              </a:xfrm>
              <a:prstGeom prst="rect">
                <a:avLst/>
              </a:prstGeom>
              <a:noFill/>
            </p:spPr>
            <p:txBody>
              <a:bodyPr wrap="none" lIns="118872" tIns="91440" rIns="118872" bIns="91440" rtlCol="0" anchor="ctr" anchorCtr="0">
                <a:spAutoFit/>
              </a:bodyPr>
              <a:lstStyle/>
              <a:p>
                <a:pPr algn="l">
                  <a:lnSpc>
                    <a:spcPct val="90000"/>
                  </a:lnSpc>
                </a:pPr>
                <a:r>
                  <a:rPr lang="en-US" dirty="0"/>
                  <a:t>main</a:t>
                </a:r>
              </a:p>
            </p:txBody>
          </p:sp>
          <p:cxnSp>
            <p:nvCxnSpPr>
              <p:cNvPr id="31" name="Straight Connector 30">
                <a:extLst>
                  <a:ext uri="{FF2B5EF4-FFF2-40B4-BE49-F238E27FC236}">
                    <a16:creationId xmlns:a16="http://schemas.microsoft.com/office/drawing/2014/main" id="{73B2A8AC-E17B-98D3-30F1-A4E2C61D02A0}"/>
                  </a:ext>
                </a:extLst>
              </p:cNvPr>
              <p:cNvCxnSpPr>
                <a:cxnSpLocks/>
              </p:cNvCxnSpPr>
              <p:nvPr/>
            </p:nvCxnSpPr>
            <p:spPr>
              <a:xfrm>
                <a:off x="1022082" y="5188519"/>
                <a:ext cx="402463" cy="565607"/>
              </a:xfrm>
              <a:prstGeom prst="line">
                <a:avLst/>
              </a:prstGeom>
              <a:ln w="38100">
                <a:solidFill>
                  <a:schemeClr val="bg1">
                    <a:lumMod val="65000"/>
                  </a:schemeClr>
                </a:solidFill>
                <a:headEnd type="ova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828311F9-B769-36AD-8474-662E2E56BC04}"/>
                  </a:ext>
                </a:extLst>
              </p:cNvPr>
              <p:cNvCxnSpPr>
                <a:cxnSpLocks/>
              </p:cNvCxnSpPr>
              <p:nvPr/>
            </p:nvCxnSpPr>
            <p:spPr>
              <a:xfrm>
                <a:off x="1390411" y="5740664"/>
                <a:ext cx="1008870" cy="0"/>
              </a:xfrm>
              <a:prstGeom prst="line">
                <a:avLst/>
              </a:prstGeom>
              <a:ln w="381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2647BD02-F374-C257-055D-75D81EE1026A}"/>
                  </a:ext>
                </a:extLst>
              </p:cNvPr>
              <p:cNvCxnSpPr>
                <a:cxnSpLocks/>
              </p:cNvCxnSpPr>
              <p:nvPr/>
            </p:nvCxnSpPr>
            <p:spPr>
              <a:xfrm>
                <a:off x="3597841" y="3659624"/>
                <a:ext cx="439736" cy="2071043"/>
              </a:xfrm>
              <a:prstGeom prst="line">
                <a:avLst/>
              </a:prstGeom>
              <a:ln w="38100">
                <a:solidFill>
                  <a:srgbClr val="FF0000"/>
                </a:solidFill>
                <a:headEnd type="oval"/>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984A18AB-37EA-3987-C0E4-1066AF24D88D}"/>
                  </a:ext>
                </a:extLst>
              </p:cNvPr>
              <p:cNvCxnSpPr>
                <a:cxnSpLocks/>
              </p:cNvCxnSpPr>
              <p:nvPr/>
            </p:nvCxnSpPr>
            <p:spPr>
              <a:xfrm>
                <a:off x="4037578" y="5726900"/>
                <a:ext cx="857379" cy="13765"/>
              </a:xfrm>
              <a:prstGeom prst="line">
                <a:avLst/>
              </a:prstGeom>
              <a:ln w="38100">
                <a:solidFill>
                  <a:srgbClr val="FF0000"/>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Arrow Connector 42">
                <a:extLst>
                  <a:ext uri="{FF2B5EF4-FFF2-40B4-BE49-F238E27FC236}">
                    <a16:creationId xmlns:a16="http://schemas.microsoft.com/office/drawing/2014/main" id="{070FED13-0233-6310-0998-0FA3841BB8B6}"/>
                  </a:ext>
                </a:extLst>
              </p:cNvPr>
              <p:cNvCxnSpPr>
                <a:cxnSpLocks/>
              </p:cNvCxnSpPr>
              <p:nvPr/>
            </p:nvCxnSpPr>
            <p:spPr>
              <a:xfrm>
                <a:off x="379708" y="4220114"/>
                <a:ext cx="5503179" cy="35553"/>
              </a:xfrm>
              <a:prstGeom prst="straightConnector1">
                <a:avLst/>
              </a:prstGeom>
              <a:ln w="38100">
                <a:solidFill>
                  <a:srgbClr val="7030A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5" name="TextBox 44">
                <a:extLst>
                  <a:ext uri="{FF2B5EF4-FFF2-40B4-BE49-F238E27FC236}">
                    <a16:creationId xmlns:a16="http://schemas.microsoft.com/office/drawing/2014/main" id="{9110BFE4-6903-FCFF-B405-8ADA0CF9F008}"/>
                  </a:ext>
                </a:extLst>
              </p:cNvPr>
              <p:cNvSpPr txBox="1"/>
              <p:nvPr/>
            </p:nvSpPr>
            <p:spPr>
              <a:xfrm>
                <a:off x="370491" y="3733307"/>
                <a:ext cx="5633536" cy="433965"/>
              </a:xfrm>
              <a:prstGeom prst="rect">
                <a:avLst/>
              </a:prstGeom>
              <a:noFill/>
            </p:spPr>
            <p:txBody>
              <a:bodyPr wrap="square" lIns="118872" tIns="91440" rIns="118872" bIns="91440" rtlCol="0" anchor="ctr" anchorCtr="0">
                <a:spAutoFit/>
              </a:bodyPr>
              <a:lstStyle/>
              <a:p>
                <a:pPr algn="l">
                  <a:lnSpc>
                    <a:spcPct val="90000"/>
                  </a:lnSpc>
                </a:pPr>
                <a:r>
                  <a:rPr lang="en-US" dirty="0">
                    <a:solidFill>
                      <a:srgbClr val="7030A0"/>
                    </a:solidFill>
                  </a:rPr>
                  <a:t>Upcoming release (if exists)</a:t>
                </a:r>
              </a:p>
            </p:txBody>
          </p:sp>
          <p:cxnSp>
            <p:nvCxnSpPr>
              <p:cNvPr id="46" name="Straight Arrow Connector 45">
                <a:extLst>
                  <a:ext uri="{FF2B5EF4-FFF2-40B4-BE49-F238E27FC236}">
                    <a16:creationId xmlns:a16="http://schemas.microsoft.com/office/drawing/2014/main" id="{9125D10F-6D82-673D-3952-47BFF9144D56}"/>
                  </a:ext>
                </a:extLst>
              </p:cNvPr>
              <p:cNvCxnSpPr>
                <a:cxnSpLocks/>
              </p:cNvCxnSpPr>
              <p:nvPr/>
            </p:nvCxnSpPr>
            <p:spPr>
              <a:xfrm>
                <a:off x="414896" y="5172983"/>
                <a:ext cx="5520690" cy="31073"/>
              </a:xfrm>
              <a:prstGeom prst="straightConnector1">
                <a:avLst/>
              </a:prstGeom>
              <a:ln w="38100">
                <a:solidFill>
                  <a:srgbClr val="00B0F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7" name="TextBox 46">
                <a:extLst>
                  <a:ext uri="{FF2B5EF4-FFF2-40B4-BE49-F238E27FC236}">
                    <a16:creationId xmlns:a16="http://schemas.microsoft.com/office/drawing/2014/main" id="{79595A74-D07D-2BB4-07CE-E2A650E6EA88}"/>
                  </a:ext>
                </a:extLst>
              </p:cNvPr>
              <p:cNvSpPr txBox="1"/>
              <p:nvPr/>
            </p:nvSpPr>
            <p:spPr>
              <a:xfrm>
                <a:off x="375756" y="4686375"/>
                <a:ext cx="3048527" cy="433965"/>
              </a:xfrm>
              <a:prstGeom prst="rect">
                <a:avLst/>
              </a:prstGeom>
              <a:noFill/>
            </p:spPr>
            <p:txBody>
              <a:bodyPr wrap="none" lIns="118872" tIns="91440" rIns="118872" bIns="91440" rtlCol="0" anchor="ctr" anchorCtr="0">
                <a:spAutoFit/>
              </a:bodyPr>
              <a:lstStyle/>
              <a:p>
                <a:pPr algn="l">
                  <a:lnSpc>
                    <a:spcPct val="90000"/>
                  </a:lnSpc>
                </a:pPr>
                <a:r>
                  <a:rPr lang="en-US" dirty="0">
                    <a:solidFill>
                      <a:schemeClr val="accent3"/>
                    </a:solidFill>
                  </a:rPr>
                  <a:t>Previous supported release</a:t>
                </a:r>
              </a:p>
            </p:txBody>
          </p:sp>
          <p:cxnSp>
            <p:nvCxnSpPr>
              <p:cNvPr id="48" name="Straight Arrow Connector 47">
                <a:extLst>
                  <a:ext uri="{FF2B5EF4-FFF2-40B4-BE49-F238E27FC236}">
                    <a16:creationId xmlns:a16="http://schemas.microsoft.com/office/drawing/2014/main" id="{CB91B67D-8D51-2E3A-6942-68C023B50011}"/>
                  </a:ext>
                </a:extLst>
              </p:cNvPr>
              <p:cNvCxnSpPr>
                <a:cxnSpLocks/>
              </p:cNvCxnSpPr>
              <p:nvPr/>
            </p:nvCxnSpPr>
            <p:spPr>
              <a:xfrm flipV="1">
                <a:off x="2388286" y="5197640"/>
                <a:ext cx="1139782" cy="543025"/>
              </a:xfrm>
              <a:prstGeom prst="straightConnector1">
                <a:avLst/>
              </a:prstGeom>
              <a:ln w="31750">
                <a:solidFill>
                  <a:schemeClr val="bg1">
                    <a:lumMod val="6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9" name="Straight Arrow Connector 48">
                <a:extLst>
                  <a:ext uri="{FF2B5EF4-FFF2-40B4-BE49-F238E27FC236}">
                    <a16:creationId xmlns:a16="http://schemas.microsoft.com/office/drawing/2014/main" id="{B0C9E67C-0E8B-F263-58C2-1710E0CEEEF0}"/>
                  </a:ext>
                </a:extLst>
              </p:cNvPr>
              <p:cNvCxnSpPr>
                <a:cxnSpLocks/>
                <a:endCxn id="59" idx="4"/>
              </p:cNvCxnSpPr>
              <p:nvPr/>
            </p:nvCxnSpPr>
            <p:spPr>
              <a:xfrm flipV="1">
                <a:off x="2399282" y="4740130"/>
                <a:ext cx="1051139" cy="1000534"/>
              </a:xfrm>
              <a:prstGeom prst="straightConnector1">
                <a:avLst/>
              </a:prstGeom>
              <a:ln w="31750">
                <a:solidFill>
                  <a:schemeClr val="bg1">
                    <a:lumMod val="6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0" name="Straight Arrow Connector 49">
                <a:extLst>
                  <a:ext uri="{FF2B5EF4-FFF2-40B4-BE49-F238E27FC236}">
                    <a16:creationId xmlns:a16="http://schemas.microsoft.com/office/drawing/2014/main" id="{B020A6A7-9BE9-D286-FE9C-85B434064834}"/>
                  </a:ext>
                </a:extLst>
              </p:cNvPr>
              <p:cNvCxnSpPr>
                <a:cxnSpLocks/>
                <a:endCxn id="58" idx="3"/>
              </p:cNvCxnSpPr>
              <p:nvPr/>
            </p:nvCxnSpPr>
            <p:spPr>
              <a:xfrm flipV="1">
                <a:off x="4894956" y="3675714"/>
                <a:ext cx="662382" cy="2054953"/>
              </a:xfrm>
              <a:prstGeom prst="straightConnector1">
                <a:avLst/>
              </a:prstGeom>
              <a:ln w="31750">
                <a:solidFill>
                  <a:srgbClr val="FF0000"/>
                </a:solidFill>
                <a:tailEnd type="triangle" w="med" len="med"/>
              </a:ln>
            </p:spPr>
            <p:style>
              <a:lnRef idx="1">
                <a:schemeClr val="accent1"/>
              </a:lnRef>
              <a:fillRef idx="0">
                <a:schemeClr val="accent1"/>
              </a:fillRef>
              <a:effectRef idx="0">
                <a:schemeClr val="accent1"/>
              </a:effectRef>
              <a:fontRef idx="minor">
                <a:schemeClr val="tx1"/>
              </a:fontRef>
            </p:style>
          </p:cxnSp>
          <p:cxnSp>
            <p:nvCxnSpPr>
              <p:cNvPr id="51" name="Straight Arrow Connector 50">
                <a:extLst>
                  <a:ext uri="{FF2B5EF4-FFF2-40B4-BE49-F238E27FC236}">
                    <a16:creationId xmlns:a16="http://schemas.microsoft.com/office/drawing/2014/main" id="{E79190FB-0FCB-AD94-83EE-EE83887CA8C8}"/>
                  </a:ext>
                </a:extLst>
              </p:cNvPr>
              <p:cNvCxnSpPr>
                <a:cxnSpLocks/>
                <a:endCxn id="57" idx="3"/>
              </p:cNvCxnSpPr>
              <p:nvPr/>
            </p:nvCxnSpPr>
            <p:spPr>
              <a:xfrm flipV="1">
                <a:off x="4894956" y="4309586"/>
                <a:ext cx="718668" cy="1431079"/>
              </a:xfrm>
              <a:prstGeom prst="straightConnector1">
                <a:avLst/>
              </a:prstGeom>
              <a:ln w="31750">
                <a:solidFill>
                  <a:srgbClr val="FF0000"/>
                </a:solidFill>
                <a:tailEnd type="triangle" w="med" len="med"/>
              </a:ln>
            </p:spPr>
            <p:style>
              <a:lnRef idx="1">
                <a:schemeClr val="accent1"/>
              </a:lnRef>
              <a:fillRef idx="0">
                <a:schemeClr val="accent1"/>
              </a:fillRef>
              <a:effectRef idx="0">
                <a:schemeClr val="accent1"/>
              </a:effectRef>
              <a:fontRef idx="minor">
                <a:schemeClr val="tx1"/>
              </a:fontRef>
            </p:style>
          </p:cxnSp>
          <p:sp>
            <p:nvSpPr>
              <p:cNvPr id="53" name="TextBox 52">
                <a:extLst>
                  <a:ext uri="{FF2B5EF4-FFF2-40B4-BE49-F238E27FC236}">
                    <a16:creationId xmlns:a16="http://schemas.microsoft.com/office/drawing/2014/main" id="{5FDD6266-1C8E-604F-CC5E-F3E093C9BE99}"/>
                  </a:ext>
                </a:extLst>
              </p:cNvPr>
              <p:cNvSpPr txBox="1"/>
              <p:nvPr/>
            </p:nvSpPr>
            <p:spPr>
              <a:xfrm>
                <a:off x="755853" y="5817230"/>
                <a:ext cx="54150" cy="433965"/>
              </a:xfrm>
              <a:prstGeom prst="rect">
                <a:avLst/>
              </a:prstGeom>
              <a:noFill/>
            </p:spPr>
            <p:txBody>
              <a:bodyPr wrap="square" lIns="118872" tIns="91440" rIns="118872" bIns="91440" rtlCol="0" anchor="ctr" anchorCtr="0">
                <a:spAutoFit/>
              </a:bodyPr>
              <a:lstStyle/>
              <a:p>
                <a:pPr algn="l">
                  <a:lnSpc>
                    <a:spcPct val="90000"/>
                  </a:lnSpc>
                </a:pPr>
                <a:endParaRPr lang="en-US" dirty="0"/>
              </a:p>
            </p:txBody>
          </p:sp>
          <p:sp>
            <p:nvSpPr>
              <p:cNvPr id="54" name="Oval 53">
                <a:extLst>
                  <a:ext uri="{FF2B5EF4-FFF2-40B4-BE49-F238E27FC236}">
                    <a16:creationId xmlns:a16="http://schemas.microsoft.com/office/drawing/2014/main" id="{D67DF6CC-49DB-FC05-4B71-D650B32EC9E2}"/>
                  </a:ext>
                </a:extLst>
              </p:cNvPr>
              <p:cNvSpPr/>
              <p:nvPr/>
            </p:nvSpPr>
            <p:spPr>
              <a:xfrm flipH="1">
                <a:off x="3429239" y="5126393"/>
                <a:ext cx="96745" cy="71247"/>
              </a:xfrm>
              <a:prstGeom prst="ellipse">
                <a:avLst/>
              </a:prstGeom>
              <a:solidFill>
                <a:schemeClr val="bg1">
                  <a:lumMod val="65000"/>
                </a:schemeClr>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endParaRPr lang="en-US" sz="2000" dirty="0">
                  <a:solidFill>
                    <a:schemeClr val="bg1">
                      <a:lumMod val="65000"/>
                    </a:schemeClr>
                  </a:solidFill>
                </a:endParaRPr>
              </a:p>
            </p:txBody>
          </p:sp>
          <p:sp>
            <p:nvSpPr>
              <p:cNvPr id="57" name="Oval 56">
                <a:extLst>
                  <a:ext uri="{FF2B5EF4-FFF2-40B4-BE49-F238E27FC236}">
                    <a16:creationId xmlns:a16="http://schemas.microsoft.com/office/drawing/2014/main" id="{F331A15D-A811-3074-1468-464FE15A4EA4}"/>
                  </a:ext>
                </a:extLst>
              </p:cNvPr>
              <p:cNvSpPr/>
              <p:nvPr/>
            </p:nvSpPr>
            <p:spPr>
              <a:xfrm>
                <a:off x="5601721" y="4242374"/>
                <a:ext cx="81280" cy="78742"/>
              </a:xfrm>
              <a:prstGeom prst="ellipse">
                <a:avLst/>
              </a:prstGeom>
              <a:solidFill>
                <a:srgbClr val="FF0000"/>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endParaRPr lang="en-US" sz="2000" dirty="0">
                  <a:solidFill>
                    <a:srgbClr val="FF0000"/>
                  </a:solidFill>
                </a:endParaRPr>
              </a:p>
            </p:txBody>
          </p:sp>
          <p:sp>
            <p:nvSpPr>
              <p:cNvPr id="58" name="Oval 57">
                <a:extLst>
                  <a:ext uri="{FF2B5EF4-FFF2-40B4-BE49-F238E27FC236}">
                    <a16:creationId xmlns:a16="http://schemas.microsoft.com/office/drawing/2014/main" id="{3889BC1A-409F-5397-EEF4-7036FE969309}"/>
                  </a:ext>
                </a:extLst>
              </p:cNvPr>
              <p:cNvSpPr/>
              <p:nvPr/>
            </p:nvSpPr>
            <p:spPr>
              <a:xfrm>
                <a:off x="5545435" y="3608502"/>
                <a:ext cx="81280" cy="78742"/>
              </a:xfrm>
              <a:prstGeom prst="ellipse">
                <a:avLst/>
              </a:prstGeom>
              <a:solidFill>
                <a:srgbClr val="FF0000"/>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endParaRPr lang="en-US" sz="2000" dirty="0">
                  <a:solidFill>
                    <a:srgbClr val="FF0000"/>
                  </a:solidFill>
                </a:endParaRPr>
              </a:p>
            </p:txBody>
          </p:sp>
          <p:sp>
            <p:nvSpPr>
              <p:cNvPr id="59" name="Oval 58">
                <a:extLst>
                  <a:ext uri="{FF2B5EF4-FFF2-40B4-BE49-F238E27FC236}">
                    <a16:creationId xmlns:a16="http://schemas.microsoft.com/office/drawing/2014/main" id="{68824403-29D2-8541-6469-E70B0EDF85A7}"/>
                  </a:ext>
                </a:extLst>
              </p:cNvPr>
              <p:cNvSpPr/>
              <p:nvPr/>
            </p:nvSpPr>
            <p:spPr>
              <a:xfrm flipH="1">
                <a:off x="3402049" y="4668884"/>
                <a:ext cx="96745" cy="71247"/>
              </a:xfrm>
              <a:prstGeom prst="ellipse">
                <a:avLst/>
              </a:prstGeom>
              <a:solidFill>
                <a:schemeClr val="bg1">
                  <a:lumMod val="65000"/>
                </a:schemeClr>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endParaRPr lang="en-US" sz="2000" dirty="0">
                  <a:solidFill>
                    <a:schemeClr val="bg1">
                      <a:lumMod val="65000"/>
                    </a:schemeClr>
                  </a:solidFill>
                </a:endParaRPr>
              </a:p>
            </p:txBody>
          </p:sp>
        </p:grpSp>
      </p:grpSp>
      <p:sp>
        <p:nvSpPr>
          <p:cNvPr id="60" name="TextBox 59">
            <a:extLst>
              <a:ext uri="{FF2B5EF4-FFF2-40B4-BE49-F238E27FC236}">
                <a16:creationId xmlns:a16="http://schemas.microsoft.com/office/drawing/2014/main" id="{D74561C9-60D6-54B1-74F5-1407F3C9B936}"/>
              </a:ext>
            </a:extLst>
          </p:cNvPr>
          <p:cNvSpPr txBox="1"/>
          <p:nvPr/>
        </p:nvSpPr>
        <p:spPr>
          <a:xfrm>
            <a:off x="7505586" y="1804877"/>
            <a:ext cx="3709605" cy="1477328"/>
          </a:xfrm>
          <a:prstGeom prst="rect">
            <a:avLst/>
          </a:prstGeom>
          <a:noFill/>
        </p:spPr>
        <p:txBody>
          <a:bodyPr wrap="none" rtlCol="0">
            <a:spAutoFit/>
          </a:bodyPr>
          <a:lstStyle/>
          <a:p>
            <a:pPr marL="0" indent="0">
              <a:buNone/>
            </a:pPr>
            <a:r>
              <a:rPr lang="en-US" dirty="0"/>
              <a:t>Versioning:</a:t>
            </a:r>
          </a:p>
          <a:p>
            <a:pPr marL="0" indent="0">
              <a:buNone/>
            </a:pPr>
            <a:r>
              <a:rPr lang="en-US" dirty="0"/>
              <a:t>Major versions - break compatibility</a:t>
            </a:r>
          </a:p>
          <a:p>
            <a:pPr marL="0" indent="0">
              <a:buNone/>
            </a:pPr>
            <a:r>
              <a:rPr lang="en-US" dirty="0"/>
              <a:t>Minor versions – visible</a:t>
            </a:r>
          </a:p>
          <a:p>
            <a:pPr marL="0" indent="0">
              <a:buNone/>
            </a:pPr>
            <a:r>
              <a:rPr lang="en-US" dirty="0"/>
              <a:t>Releases correct issues</a:t>
            </a:r>
          </a:p>
          <a:p>
            <a:endParaRPr lang="en-US" dirty="0"/>
          </a:p>
        </p:txBody>
      </p:sp>
    </p:spTree>
    <p:extLst>
      <p:ext uri="{BB962C8B-B14F-4D97-AF65-F5344CB8AC3E}">
        <p14:creationId xmlns:p14="http://schemas.microsoft.com/office/powerpoint/2010/main" val="98860922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61C7ED-2A46-3949-B59E-F7D19B5D57B0}"/>
              </a:ext>
            </a:extLst>
          </p:cNvPr>
          <p:cNvSpPr>
            <a:spLocks noGrp="1"/>
          </p:cNvSpPr>
          <p:nvPr>
            <p:ph type="title"/>
          </p:nvPr>
        </p:nvSpPr>
        <p:spPr/>
        <p:txBody>
          <a:bodyPr/>
          <a:lstStyle/>
          <a:p>
            <a:r>
              <a:rPr lang="en-US" dirty="0"/>
              <a:t>Current </a:t>
            </a:r>
            <a:r>
              <a:rPr lang="en-US" dirty="0" err="1"/>
              <a:t>FleCSI</a:t>
            </a:r>
            <a:r>
              <a:rPr lang="en-US" dirty="0"/>
              <a:t> Workflow</a:t>
            </a:r>
          </a:p>
        </p:txBody>
      </p:sp>
      <p:sp>
        <p:nvSpPr>
          <p:cNvPr id="5" name="Content Placeholder 4">
            <a:extLst>
              <a:ext uri="{FF2B5EF4-FFF2-40B4-BE49-F238E27FC236}">
                <a16:creationId xmlns:a16="http://schemas.microsoft.com/office/drawing/2014/main" id="{6AD03319-4B2C-1444-D872-3FC104E45ABD}"/>
              </a:ext>
            </a:extLst>
          </p:cNvPr>
          <p:cNvSpPr>
            <a:spLocks noGrp="1"/>
          </p:cNvSpPr>
          <p:nvPr>
            <p:ph idx="1"/>
          </p:nvPr>
        </p:nvSpPr>
        <p:spPr>
          <a:xfrm>
            <a:off x="838200" y="1825625"/>
            <a:ext cx="8756374" cy="4351338"/>
          </a:xfrm>
        </p:spPr>
        <p:txBody>
          <a:bodyPr>
            <a:normAutofit fontScale="85000" lnSpcReduction="20000"/>
          </a:bodyPr>
          <a:lstStyle/>
          <a:p>
            <a:pPr>
              <a:lnSpc>
                <a:spcPct val="90000"/>
              </a:lnSpc>
              <a:spcBef>
                <a:spcPts val="1400"/>
              </a:spcBef>
            </a:pPr>
            <a:r>
              <a:rPr lang="en-US" sz="2800" dirty="0"/>
              <a:t>Workflow designed so that</a:t>
            </a:r>
          </a:p>
          <a:p>
            <a:pPr marL="742950" lvl="1" indent="-285750">
              <a:spcBef>
                <a:spcPts val="1400"/>
              </a:spcBef>
            </a:pPr>
            <a:r>
              <a:rPr lang="en-US" dirty="0"/>
              <a:t>All supported branches work at all times</a:t>
            </a:r>
          </a:p>
          <a:p>
            <a:pPr marL="742950" lvl="1" indent="-285750">
              <a:spcBef>
                <a:spcPts val="1400"/>
              </a:spcBef>
            </a:pPr>
            <a:r>
              <a:rPr lang="en-US" dirty="0"/>
              <a:t>Merge Requests are tested and reviewed</a:t>
            </a:r>
          </a:p>
          <a:p>
            <a:pPr>
              <a:lnSpc>
                <a:spcPct val="90000"/>
              </a:lnSpc>
              <a:spcBef>
                <a:spcPts val="1400"/>
              </a:spcBef>
            </a:pPr>
            <a:r>
              <a:rPr lang="en-US" sz="2800" dirty="0"/>
              <a:t>Testing</a:t>
            </a:r>
          </a:p>
          <a:p>
            <a:pPr marL="742950" lvl="1" indent="-285750">
              <a:spcBef>
                <a:spcPts val="1400"/>
              </a:spcBef>
            </a:pPr>
            <a:r>
              <a:rPr lang="en-US" dirty="0"/>
              <a:t>Customized unit-testing framework based on Google Test</a:t>
            </a:r>
          </a:p>
          <a:p>
            <a:pPr marL="742950" lvl="1" indent="-285750">
              <a:spcBef>
                <a:spcPts val="1400"/>
              </a:spcBef>
            </a:pPr>
            <a:r>
              <a:rPr lang="en-US" dirty="0"/>
              <a:t>Special</a:t>
            </a:r>
            <a:r>
              <a:rPr lang="en-US" i="1" dirty="0"/>
              <a:t> </a:t>
            </a:r>
            <a:r>
              <a:rPr lang="en-US" i="1" dirty="0" err="1"/>
              <a:t>gitlab</a:t>
            </a:r>
            <a:r>
              <a:rPr lang="en-US" i="1" dirty="0"/>
              <a:t>-ci</a:t>
            </a:r>
            <a:r>
              <a:rPr lang="en-US" dirty="0"/>
              <a:t> branch - images and configuration files</a:t>
            </a:r>
          </a:p>
          <a:p>
            <a:pPr marL="285750" indent="-285750">
              <a:spcBef>
                <a:spcPts val="1400"/>
              </a:spcBef>
            </a:pPr>
            <a:r>
              <a:rPr lang="en-US" dirty="0"/>
              <a:t>Versioning:</a:t>
            </a:r>
          </a:p>
          <a:p>
            <a:pPr marL="742950" lvl="1" indent="-285750">
              <a:spcBef>
                <a:spcPts val="1400"/>
              </a:spcBef>
            </a:pPr>
            <a:r>
              <a:rPr lang="en-US" dirty="0"/>
              <a:t>Incompatible - devel branch breaks compatibility with previous versions</a:t>
            </a:r>
          </a:p>
          <a:p>
            <a:pPr marL="742950" lvl="1" indent="-285750">
              <a:spcBef>
                <a:spcPts val="1400"/>
              </a:spcBef>
            </a:pPr>
            <a:r>
              <a:rPr lang="en-US" dirty="0"/>
              <a:t>Feature  (1, 2 …) named for major version </a:t>
            </a:r>
          </a:p>
          <a:p>
            <a:pPr marL="742950" lvl="1" indent="-285750">
              <a:spcBef>
                <a:spcPts val="1400"/>
              </a:spcBef>
            </a:pPr>
            <a:r>
              <a:rPr lang="en-US" dirty="0"/>
              <a:t>Release - (1.x, 2.x …) named for </a:t>
            </a:r>
            <a:r>
              <a:rPr lang="en-US" dirty="0" err="1"/>
              <a:t>major.minor</a:t>
            </a:r>
            <a:r>
              <a:rPr lang="en-US" dirty="0"/>
              <a:t> version, correct issues, tags used for bug fixes.</a:t>
            </a:r>
          </a:p>
          <a:p>
            <a:pPr marL="742950" lvl="1" indent="-285750">
              <a:spcBef>
                <a:spcPts val="1400"/>
              </a:spcBef>
            </a:pPr>
            <a:endParaRPr lang="en-US" dirty="0"/>
          </a:p>
          <a:p>
            <a:pPr marL="742950" lvl="1" indent="-285750">
              <a:spcBef>
                <a:spcPts val="1400"/>
              </a:spcBef>
            </a:pPr>
            <a:endParaRPr lang="en-US" dirty="0"/>
          </a:p>
        </p:txBody>
      </p:sp>
      <p:sp>
        <p:nvSpPr>
          <p:cNvPr id="3" name="TextBox 2">
            <a:extLst>
              <a:ext uri="{FF2B5EF4-FFF2-40B4-BE49-F238E27FC236}">
                <a16:creationId xmlns:a16="http://schemas.microsoft.com/office/drawing/2014/main" id="{23B63847-125D-B34C-9EF8-A534C3A462EC}"/>
              </a:ext>
            </a:extLst>
          </p:cNvPr>
          <p:cNvSpPr txBox="1"/>
          <p:nvPr/>
        </p:nvSpPr>
        <p:spPr>
          <a:xfrm>
            <a:off x="8077728" y="537867"/>
            <a:ext cx="2984407" cy="683264"/>
          </a:xfrm>
          <a:prstGeom prst="rect">
            <a:avLst/>
          </a:prstGeom>
          <a:noFill/>
        </p:spPr>
        <p:txBody>
          <a:bodyPr wrap="none" lIns="118872" tIns="91440" rIns="118872" bIns="91440" rtlCol="0" anchor="ctr" anchorCtr="0">
            <a:spAutoFit/>
          </a:bodyPr>
          <a:lstStyle/>
          <a:p>
            <a:pPr>
              <a:lnSpc>
                <a:spcPct val="90000"/>
              </a:lnSpc>
            </a:pPr>
            <a:r>
              <a:rPr lang="en-US" dirty="0">
                <a:hlinkClick r:id="rId3"/>
              </a:rPr>
              <a:t>https://flecsi.github.io/flecsi</a:t>
            </a:r>
            <a:endParaRPr lang="en-US" dirty="0"/>
          </a:p>
          <a:p>
            <a:pPr>
              <a:lnSpc>
                <a:spcPct val="90000"/>
              </a:lnSpc>
            </a:pPr>
            <a:endParaRPr lang="en-US" dirty="0"/>
          </a:p>
        </p:txBody>
      </p:sp>
      <p:pic>
        <p:nvPicPr>
          <p:cNvPr id="1026" name="Picture 2">
            <a:extLst>
              <a:ext uri="{FF2B5EF4-FFF2-40B4-BE49-F238E27FC236}">
                <a16:creationId xmlns:a16="http://schemas.microsoft.com/office/drawing/2014/main" id="{02FBD5DB-813A-8343-814F-DC29A6A31B59}"/>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554" r="82" b="9990"/>
          <a:stretch/>
        </p:blipFill>
        <p:spPr bwMode="auto">
          <a:xfrm>
            <a:off x="9761415" y="1124531"/>
            <a:ext cx="1738218" cy="5110608"/>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3F707BAC-46B1-9908-C05A-5ABA999B0A71}"/>
              </a:ext>
            </a:extLst>
          </p:cNvPr>
          <p:cNvSpPr txBox="1"/>
          <p:nvPr/>
        </p:nvSpPr>
        <p:spPr>
          <a:xfrm>
            <a:off x="1681843" y="6293314"/>
            <a:ext cx="10221684" cy="646331"/>
          </a:xfrm>
          <a:prstGeom prst="rect">
            <a:avLst/>
          </a:prstGeom>
          <a:noFill/>
        </p:spPr>
        <p:txBody>
          <a:bodyPr wrap="square">
            <a:spAutoFit/>
          </a:bodyPr>
          <a:lstStyle/>
          <a:p>
            <a:pPr>
              <a:spcBef>
                <a:spcPts val="400"/>
              </a:spcBef>
            </a:pPr>
            <a:r>
              <a:rPr lang="en-US" sz="1800" b="0" i="0" dirty="0">
                <a:solidFill>
                  <a:srgbClr val="111111"/>
                </a:solidFill>
                <a:effectLst/>
                <a:latin typeface="+mn-lt"/>
              </a:rPr>
              <a:t>David M. Rogers, </a:t>
            </a:r>
            <a:r>
              <a:rPr lang="en-US" dirty="0"/>
              <a:t>Collaborative Software Development in</a:t>
            </a:r>
            <a:r>
              <a:rPr lang="en-US" sz="1800" b="0" i="0" dirty="0">
                <a:solidFill>
                  <a:srgbClr val="111111"/>
                </a:solidFill>
                <a:effectLst/>
                <a:latin typeface="+mn-lt"/>
              </a:rPr>
              <a:t> Better Scientific Software tutorial, in ISC High Performance, Hamburg, Germany and online, 2023. DOI: </a:t>
            </a:r>
            <a:r>
              <a:rPr lang="en-US" sz="1800" b="0" i="0" u="sng" dirty="0">
                <a:solidFill>
                  <a:srgbClr val="111111"/>
                </a:solidFill>
                <a:effectLst/>
                <a:latin typeface="+mn-lt"/>
                <a:hlinkClick r:id="rId5"/>
              </a:rPr>
              <a:t>10.6084/m9.figshare.22790762</a:t>
            </a:r>
            <a:r>
              <a:rPr lang="en-US" sz="1800" b="0" i="0" dirty="0">
                <a:solidFill>
                  <a:srgbClr val="111111"/>
                </a:solidFill>
                <a:effectLst/>
                <a:latin typeface="+mn-lt"/>
              </a:rPr>
              <a:t>.</a:t>
            </a:r>
          </a:p>
        </p:txBody>
      </p:sp>
    </p:spTree>
    <p:extLst>
      <p:ext uri="{BB962C8B-B14F-4D97-AF65-F5344CB8AC3E}">
        <p14:creationId xmlns:p14="http://schemas.microsoft.com/office/powerpoint/2010/main" val="107892792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44030</TotalTime>
  <Words>8771</Words>
  <Application>Microsoft Macintosh PowerPoint</Application>
  <PresentationFormat>Widescreen</PresentationFormat>
  <Paragraphs>751</Paragraphs>
  <Slides>43</Slides>
  <Notes>37</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43</vt:i4>
      </vt:variant>
    </vt:vector>
  </HeadingPairs>
  <TitlesOfParts>
    <vt:vector size="50" baseType="lpstr">
      <vt:lpstr>Aptos</vt:lpstr>
      <vt:lpstr>Aptos Display</vt:lpstr>
      <vt:lpstr>Arial</vt:lpstr>
      <vt:lpstr>Calibri</vt:lpstr>
      <vt:lpstr>Consolas</vt:lpstr>
      <vt:lpstr>Menlo</vt:lpstr>
      <vt:lpstr>Office Theme</vt:lpstr>
      <vt:lpstr>Collaborative Git</vt:lpstr>
      <vt:lpstr>Outline</vt:lpstr>
      <vt:lpstr>Challenges of Collaborative Development</vt:lpstr>
      <vt:lpstr>Challenges of Collaborative Development</vt:lpstr>
      <vt:lpstr>Review</vt:lpstr>
      <vt:lpstr>Review</vt:lpstr>
      <vt:lpstr>Activity (10 mins)</vt:lpstr>
      <vt:lpstr>Outline</vt:lpstr>
      <vt:lpstr>Branches</vt:lpstr>
      <vt:lpstr>Creating Branches</vt:lpstr>
      <vt:lpstr>Creating Branches</vt:lpstr>
      <vt:lpstr>Creating Branches</vt:lpstr>
      <vt:lpstr>Changing Branches</vt:lpstr>
      <vt:lpstr>Merging Branches</vt:lpstr>
      <vt:lpstr>Merging Branches</vt:lpstr>
      <vt:lpstr>Merge Conflicts</vt:lpstr>
      <vt:lpstr>Merge vs Rebase</vt:lpstr>
      <vt:lpstr>Activity (15 mins)</vt:lpstr>
      <vt:lpstr>Outline</vt:lpstr>
      <vt:lpstr>Pull Requests</vt:lpstr>
      <vt:lpstr>Creating a Pull Request</vt:lpstr>
      <vt:lpstr>Creating a Pull Request</vt:lpstr>
      <vt:lpstr>Anatomy of a Pull Request</vt:lpstr>
      <vt:lpstr>Anatomy of a Pull Request</vt:lpstr>
      <vt:lpstr>Anatomy of a Pull Request</vt:lpstr>
      <vt:lpstr>Updating a Pull Request</vt:lpstr>
      <vt:lpstr>Accepting and Merging a Pull Request</vt:lpstr>
      <vt:lpstr>Accepting and Merging a Pull Request</vt:lpstr>
      <vt:lpstr>Activity (15 mins)</vt:lpstr>
      <vt:lpstr>Outline</vt:lpstr>
      <vt:lpstr>Git Workflows</vt:lpstr>
      <vt:lpstr>Centralized or Trunk-Based Workflow</vt:lpstr>
      <vt:lpstr>GitHub Flow</vt:lpstr>
      <vt:lpstr>Git Flow</vt:lpstr>
      <vt:lpstr>GitLab Flow</vt:lpstr>
      <vt:lpstr>Forks in Workflows</vt:lpstr>
      <vt:lpstr>Tips for Using Forks</vt:lpstr>
      <vt:lpstr>Guidelines for establishing a Git Workflow</vt:lpstr>
      <vt:lpstr>Activity (10 mins)</vt:lpstr>
      <vt:lpstr>Backup</vt:lpstr>
      <vt:lpstr>Current Trilinos Workflow</vt:lpstr>
      <vt:lpstr>Current Open MPI Workflow </vt:lpstr>
      <vt:lpstr>Current FleCSI Workflow</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Collaborative Git</dc:title>
  <dc:creator>Lauren E Milechin</dc:creator>
  <cp:lastModifiedBy>Lauren Milechin</cp:lastModifiedBy>
  <cp:revision>73</cp:revision>
  <dcterms:created xsi:type="dcterms:W3CDTF">2023-07-07T14:04:33Z</dcterms:created>
  <dcterms:modified xsi:type="dcterms:W3CDTF">2026-07-12T14:35:24Z</dcterms:modified>
</cp:coreProperties>
</file>